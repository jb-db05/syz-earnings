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Sandoz Q3 2026: margins up, sales miss at a full valuation</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Text 5"/>
          <p:cNvSpPr txBox="1"/>
          <p:nvPr/>
        </p:nvSpPr>
        <p:spPr>
          <a:xfrm>
            <a:off x="539496" y="1602994"/>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spun off from Novartis in October 2023, sells generic medicines and biosimilars, copies of biologic drugs. Biosimilars are 34% of sales and Europe 53%. Nine-month 2026 sales USD 8.7bn; SIX-listed, market value around CHF 34bn.</a:t>
            </a:r>
            <a:endParaRPr lang="en-US" sz="870" dirty="0"/>
          </a:p>
        </p:txBody>
      </p:sp>
      <p:sp>
        <p:nvSpPr>
          <p:cNvPr id="10" name="Text 6"/>
          <p:cNvSpPr txBox="1"/>
          <p:nvPr/>
        </p:nvSpPr>
        <p:spPr>
          <a:xfrm>
            <a:off x="539496" y="205394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1" name="Text 7"/>
          <p:cNvSpPr txBox="1"/>
          <p:nvPr/>
        </p:nvSpPr>
        <p:spPr>
          <a:xfrm>
            <a:off x="539496" y="231455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2" name="Text 8"/>
          <p:cNvSpPr txBox="1"/>
          <p:nvPr/>
        </p:nvSpPr>
        <p:spPr>
          <a:xfrm>
            <a:off x="1133856" y="229169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of USD 2.94bn grew 5% at constant currencies, 1.8% below consensus.</a:t>
            </a:r>
            <a:endParaRPr lang="en-US" sz="870" dirty="0"/>
          </a:p>
        </p:txBody>
      </p:sp>
      <p:sp>
        <p:nvSpPr>
          <p:cNvPr id="13" name="Text 9"/>
          <p:cNvSpPr txBox="1"/>
          <p:nvPr/>
        </p:nvSpPr>
        <p:spPr>
          <a:xfrm>
            <a:off x="539496" y="2517165"/>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4" name="Text 10"/>
          <p:cNvSpPr txBox="1"/>
          <p:nvPr/>
        </p:nvSpPr>
        <p:spPr>
          <a:xfrm>
            <a:off x="1133856" y="249430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fell 4.0% on 28 October from a record close, after a 42% gain this year.</a:t>
            </a:r>
            <a:endParaRPr lang="en-US" sz="870" dirty="0"/>
          </a:p>
        </p:txBody>
      </p:sp>
      <p:sp>
        <p:nvSpPr>
          <p:cNvPr id="15" name="Text 11"/>
          <p:cNvSpPr txBox="1"/>
          <p:nvPr/>
        </p:nvSpPr>
        <p:spPr>
          <a:xfrm>
            <a:off x="539496" y="271978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69692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Core EBITDA margin guide raised to 23.0–23.5% from about 22.7%; sales growth narrowed to 5–6%.</a:t>
            </a:r>
            <a:endParaRPr lang="en-US" sz="870" dirty="0"/>
          </a:p>
        </p:txBody>
      </p:sp>
      <p:sp>
        <p:nvSpPr>
          <p:cNvPr id="17" name="Text 13"/>
          <p:cNvSpPr txBox="1"/>
          <p:nvPr/>
        </p:nvSpPr>
        <p:spPr>
          <a:xfrm>
            <a:off x="539496" y="292239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18" name="Text 14"/>
          <p:cNvSpPr txBox="1"/>
          <p:nvPr/>
        </p:nvSpPr>
        <p:spPr>
          <a:xfrm>
            <a:off x="1133856" y="289953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23.3x forward earnings, 38% above the average since the 2023 listing, after a 23% rise since August.</a:t>
            </a:r>
            <a:endParaRPr lang="en-US" sz="870" dirty="0"/>
          </a:p>
        </p:txBody>
      </p:sp>
      <p:sp>
        <p:nvSpPr>
          <p:cNvPr id="19" name="Shape 15"/>
          <p:cNvSpPr/>
          <p:nvPr/>
        </p:nvSpPr>
        <p:spPr>
          <a:xfrm>
            <a:off x="539496" y="3184449"/>
            <a:ext cx="6483096" cy="640080"/>
          </a:xfrm>
          <a:prstGeom prst="rect">
            <a:avLst/>
          </a:prstGeom>
          <a:solidFill>
            <a:srgbClr val="FFFFFF"/>
          </a:solidFill>
          <a:ln w="16510">
            <a:solidFill>
              <a:srgbClr val="202945"/>
            </a:solidFill>
            <a:prstDash val="solid"/>
          </a:ln>
        </p:spPr>
      </p:sp>
      <p:sp>
        <p:nvSpPr>
          <p:cNvPr id="20" name="Text 16"/>
          <p:cNvSpPr txBox="1"/>
          <p:nvPr/>
        </p:nvSpPr>
        <p:spPr>
          <a:xfrm>
            <a:off x="649224"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Net sales</a:t>
            </a:r>
            <a:endParaRPr lang="en-US" sz="700" dirty="0"/>
          </a:p>
        </p:txBody>
      </p:sp>
      <p:sp>
        <p:nvSpPr>
          <p:cNvPr id="21" name="Text 17"/>
          <p:cNvSpPr txBox="1"/>
          <p:nvPr/>
        </p:nvSpPr>
        <p:spPr>
          <a:xfrm>
            <a:off x="649224"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2.94bn</a:t>
            </a:r>
            <a:endParaRPr lang="en-US" sz="1100" dirty="0"/>
          </a:p>
        </p:txBody>
      </p:sp>
      <p:sp>
        <p:nvSpPr>
          <p:cNvPr id="22" name="Text 18"/>
          <p:cNvSpPr txBox="1"/>
          <p:nvPr/>
        </p:nvSpPr>
        <p:spPr>
          <a:xfrm>
            <a:off x="649224"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-1.8% vs. consensus</a:t>
            </a:r>
            <a:endParaRPr lang="en-US" sz="700" dirty="0"/>
          </a:p>
        </p:txBody>
      </p:sp>
      <p:sp>
        <p:nvSpPr>
          <p:cNvPr id="23" name="Shape 19"/>
          <p:cNvSpPr/>
          <p:nvPr/>
        </p:nvSpPr>
        <p:spPr>
          <a:xfrm>
            <a:off x="2160270" y="3184449"/>
            <a:ext cx="0" cy="640080"/>
          </a:xfrm>
          <a:prstGeom prst="line">
            <a:avLst/>
          </a:prstGeom>
          <a:noFill/>
          <a:ln w="7620">
            <a:solidFill>
              <a:srgbClr val="D6D9DE"/>
            </a:solidFill>
            <a:prstDash val="solid"/>
          </a:ln>
        </p:spPr>
      </p:sp>
      <p:sp>
        <p:nvSpPr>
          <p:cNvPr id="24" name="Text 20"/>
          <p:cNvSpPr txBox="1"/>
          <p:nvPr/>
        </p:nvSpPr>
        <p:spPr>
          <a:xfrm>
            <a:off x="2269998"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Biosimilars</a:t>
            </a:r>
            <a:endParaRPr lang="en-US" sz="700" dirty="0"/>
          </a:p>
        </p:txBody>
      </p:sp>
      <p:sp>
        <p:nvSpPr>
          <p:cNvPr id="25" name="Text 21"/>
          <p:cNvSpPr txBox="1"/>
          <p:nvPr/>
        </p:nvSpPr>
        <p:spPr>
          <a:xfrm>
            <a:off x="2269998"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998m</a:t>
            </a:r>
            <a:endParaRPr lang="en-US" sz="1100" dirty="0"/>
          </a:p>
        </p:txBody>
      </p:sp>
      <p:sp>
        <p:nvSpPr>
          <p:cNvPr id="26" name="Text 22"/>
          <p:cNvSpPr txBox="1"/>
          <p:nvPr/>
        </p:nvSpPr>
        <p:spPr>
          <a:xfrm>
            <a:off x="2269998"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 vs. consensus</a:t>
            </a:r>
            <a:endParaRPr lang="en-US" sz="700" dirty="0"/>
          </a:p>
        </p:txBody>
      </p:sp>
      <p:sp>
        <p:nvSpPr>
          <p:cNvPr id="27" name="Shape 23"/>
          <p:cNvSpPr/>
          <p:nvPr/>
        </p:nvSpPr>
        <p:spPr>
          <a:xfrm>
            <a:off x="3781044" y="3184449"/>
            <a:ext cx="0" cy="640080"/>
          </a:xfrm>
          <a:prstGeom prst="line">
            <a:avLst/>
          </a:prstGeom>
          <a:noFill/>
          <a:ln w="7620">
            <a:solidFill>
              <a:srgbClr val="D6D9DE"/>
            </a:solidFill>
            <a:prstDash val="solid"/>
          </a:ln>
        </p:spPr>
      </p:sp>
      <p:sp>
        <p:nvSpPr>
          <p:cNvPr id="28" name="Text 24"/>
          <p:cNvSpPr txBox="1"/>
          <p:nvPr/>
        </p:nvSpPr>
        <p:spPr>
          <a:xfrm>
            <a:off x="3890772"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sales growth guide</a:t>
            </a:r>
            <a:endParaRPr lang="en-US" sz="700" dirty="0"/>
          </a:p>
        </p:txBody>
      </p:sp>
      <p:sp>
        <p:nvSpPr>
          <p:cNvPr id="29" name="Text 25"/>
          <p:cNvSpPr txBox="1"/>
          <p:nvPr/>
        </p:nvSpPr>
        <p:spPr>
          <a:xfrm>
            <a:off x="3890772"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5–6% CC</a:t>
            </a:r>
            <a:endParaRPr lang="en-US" sz="1100" dirty="0"/>
          </a:p>
        </p:txBody>
      </p:sp>
      <p:sp>
        <p:nvSpPr>
          <p:cNvPr id="30" name="Text 26"/>
          <p:cNvSpPr txBox="1"/>
          <p:nvPr/>
        </p:nvSpPr>
        <p:spPr>
          <a:xfrm>
            <a:off x="3890772"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Narrowed, lower end</a:t>
            </a:r>
            <a:endParaRPr lang="en-US" sz="700" dirty="0"/>
          </a:p>
        </p:txBody>
      </p:sp>
      <p:sp>
        <p:nvSpPr>
          <p:cNvPr id="31" name="Shape 27"/>
          <p:cNvSpPr/>
          <p:nvPr/>
        </p:nvSpPr>
        <p:spPr>
          <a:xfrm>
            <a:off x="5401818" y="3184449"/>
            <a:ext cx="0" cy="640080"/>
          </a:xfrm>
          <a:prstGeom prst="line">
            <a:avLst/>
          </a:prstGeom>
          <a:noFill/>
          <a:ln w="7620">
            <a:solidFill>
              <a:srgbClr val="D6D9DE"/>
            </a:solidFill>
            <a:prstDash val="solid"/>
          </a:ln>
        </p:spPr>
      </p:sp>
      <p:sp>
        <p:nvSpPr>
          <p:cNvPr id="32" name="Text 28"/>
          <p:cNvSpPr txBox="1"/>
          <p:nvPr/>
        </p:nvSpPr>
        <p:spPr>
          <a:xfrm>
            <a:off x="5511546"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core EBITDA margin</a:t>
            </a:r>
            <a:endParaRPr lang="en-US" sz="700" dirty="0"/>
          </a:p>
        </p:txBody>
      </p:sp>
      <p:sp>
        <p:nvSpPr>
          <p:cNvPr id="33" name="Text 29"/>
          <p:cNvSpPr txBox="1"/>
          <p:nvPr/>
        </p:nvSpPr>
        <p:spPr>
          <a:xfrm>
            <a:off x="5511546"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23.0–23.5%</a:t>
            </a:r>
            <a:endParaRPr lang="en-US" sz="1100" dirty="0"/>
          </a:p>
        </p:txBody>
      </p:sp>
      <p:sp>
        <p:nvSpPr>
          <p:cNvPr id="34" name="Text 30"/>
          <p:cNvSpPr txBox="1"/>
          <p:nvPr/>
        </p:nvSpPr>
        <p:spPr>
          <a:xfrm>
            <a:off x="5511546" y="3605073"/>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+55bp vs. prior guide</a:t>
            </a:r>
            <a:endParaRPr lang="en-US" sz="700" dirty="0"/>
          </a:p>
        </p:txBody>
      </p:sp>
      <p:sp>
        <p:nvSpPr>
          <p:cNvPr id="35" name="Text 31"/>
          <p:cNvSpPr txBox="1"/>
          <p:nvPr/>
        </p:nvSpPr>
        <p:spPr>
          <a:xfrm>
            <a:off x="539496" y="394340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A margin upgrade meets a full valuation</a:t>
            </a:r>
            <a:endParaRPr lang="en-US" sz="1100" dirty="0"/>
          </a:p>
        </p:txBody>
      </p:sp>
      <p:sp>
        <p:nvSpPr>
          <p:cNvPr id="36" name="Text 32"/>
          <p:cNvSpPr txBox="1"/>
          <p:nvPr/>
        </p:nvSpPr>
        <p:spPr>
          <a:xfrm>
            <a:off x="539496" y="419028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missed consensus by 1.8%, Sandoz narrowed its 2026 growth guide to the low end of its range, and the shares fell 4.0% on 28 October. The fall is large for the size of the miss, since the higher margin guide points to earnings estimates 1% to 3% higher. The stock entered the release at a record 24.3x forward earnings.</a:t>
            </a:r>
            <a:endParaRPr lang="en-US" sz="870" dirty="0"/>
          </a:p>
        </p:txBody>
      </p:sp>
      <p:sp>
        <p:nvSpPr>
          <p:cNvPr id="37" name="Text 33"/>
          <p:cNvSpPr txBox="1"/>
          <p:nvPr/>
        </p:nvSpPr>
        <p:spPr>
          <a:xfrm>
            <a:off x="539496" y="4758817"/>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SDZ: Q3 2026 sales growth by business and region</a:t>
            </a:r>
            <a:endParaRPr lang="en-US" sz="870" dirty="0"/>
          </a:p>
        </p:txBody>
      </p:sp>
      <p:sp>
        <p:nvSpPr>
          <p:cNvPr id="38" name="Text 34"/>
          <p:cNvSpPr txBox="1"/>
          <p:nvPr/>
        </p:nvSpPr>
        <p:spPr>
          <a:xfrm>
            <a:off x="539496" y="4932553"/>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Net sales growth at constant currencies, % · group ex B2B excludes the anti-infective active ingredient headwind · company figures</a:t>
            </a:r>
            <a:endParaRPr lang="en-US" sz="700" dirty="0"/>
          </a:p>
        </p:txBody>
      </p:sp>
      <p:pic>
        <p:nvPicPr>
          <p:cNvPr id="39" name="Image 2" descr="/home/claude/sdz/c1_crop.png">    </p:cNvPr>
          <p:cNvPicPr>
            <a:picLocks noChangeAspect="1"/>
          </p:cNvPicPr>
          <p:nvPr/>
        </p:nvPicPr>
        <p:blipFill>
          <a:blip r:embed="rId3"/>
          <a:stretch>
            <a:fillRect/>
          </a:stretch>
        </p:blipFill>
        <p:spPr>
          <a:xfrm>
            <a:off x="1511960" y="5093843"/>
            <a:ext cx="4538167" cy="1415908"/>
          </a:xfrm>
          <a:prstGeom prst="rect">
            <a:avLst/>
          </a:prstGeom>
        </p:spPr>
      </p:pic>
      <p:sp>
        <p:nvSpPr>
          <p:cNvPr id="40" name="Text 35"/>
          <p:cNvSpPr txBox="1"/>
          <p:nvPr/>
        </p:nvSpPr>
        <p:spPr>
          <a:xfrm>
            <a:off x="539496" y="656461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Biosimilars grew 17% and now make up 34% of sales, carried by Wyost and Jubbonti in North America, where sales rose 20%. Generics were flat, held back by lower penicillin ingredient prices; excluding that B2B headwind, group growth was 7%. Europe grew 1%, slowed by biosimilar supply tightness and a difficult German market.</a:t>
            </a:r>
            <a:endParaRPr lang="en-US" sz="870" dirty="0"/>
          </a:p>
        </p:txBody>
      </p:sp>
      <p:sp>
        <p:nvSpPr>
          <p:cNvPr id="41" name="Text 36"/>
          <p:cNvSpPr txBox="1"/>
          <p:nvPr/>
        </p:nvSpPr>
        <p:spPr>
          <a:xfrm>
            <a:off x="539496" y="716971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2" name="Text 37"/>
          <p:cNvSpPr txBox="1"/>
          <p:nvPr/>
        </p:nvSpPr>
        <p:spPr>
          <a:xfrm>
            <a:off x="539496" y="741660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Sandoz and keep the position. We underwrite consensus forward EPS of USD 4.08, 27% above a year ago, carried by the biosimilar mix and the higher margin guide. The debate has moved from growth to supply: biosimilar capacity stays tight until 2027 and the German market is unsettled. At 23.3x, the valuation leaves little room for further sales misses, and we expect the shares to follow earnings upgrades from here. The next test is the full-year results in March 2027, with the first 2027 guidance.</a:t>
            </a:r>
            <a:endParaRPr lang="en-US" sz="870" dirty="0"/>
          </a:p>
        </p:txBody>
      </p:sp>
      <p:sp>
        <p:nvSpPr>
          <p:cNvPr id="43" name="Shape 38"/>
          <p:cNvSpPr/>
          <p:nvPr/>
        </p:nvSpPr>
        <p:spPr>
          <a:xfrm>
            <a:off x="3781044" y="8335503"/>
            <a:ext cx="0" cy="828751"/>
          </a:xfrm>
          <a:prstGeom prst="line">
            <a:avLst/>
          </a:prstGeom>
          <a:noFill/>
          <a:ln w="7620">
            <a:solidFill>
              <a:srgbClr val="D6D9DE"/>
            </a:solidFill>
            <a:prstDash val="solid"/>
          </a:ln>
        </p:spPr>
      </p:sp>
      <p:sp>
        <p:nvSpPr>
          <p:cNvPr id="44" name="Text 39"/>
          <p:cNvSpPr txBox="1"/>
          <p:nvPr/>
        </p:nvSpPr>
        <p:spPr>
          <a:xfrm>
            <a:off x="539496" y="833550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5" name="Text 40"/>
          <p:cNvSpPr txBox="1"/>
          <p:nvPr/>
        </p:nvSpPr>
        <p:spPr>
          <a:xfrm>
            <a:off x="539496" y="8527527"/>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 supply restored ahead of the 2027 target, with European growth back above 5%; the anti-infective headwind gone in Q4 as guided; a 2027 core EBITDA margin guide above 24%, helped by generic semaglutide launches.</a:t>
            </a:r>
            <a:endParaRPr lang="en-US" sz="870" dirty="0"/>
          </a:p>
        </p:txBody>
      </p:sp>
      <p:sp>
        <p:nvSpPr>
          <p:cNvPr id="46" name="Text 41"/>
          <p:cNvSpPr txBox="1"/>
          <p:nvPr/>
        </p:nvSpPr>
        <p:spPr>
          <a:xfrm>
            <a:off x="3963924" y="833550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47" name="Text 42"/>
          <p:cNvSpPr txBox="1"/>
          <p:nvPr/>
        </p:nvSpPr>
        <p:spPr>
          <a:xfrm>
            <a:off x="3963924" y="8527527"/>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sales growth below 4% at constant currencies, leaving 2026 under the new 5% floor; supply limits lasting into the second half of 2027; further German price cuts or tender losses that keep European growth near zero.</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biosimilars grew, generics stalled</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Net sales rose 4% in dollars and 5% at constant currencies to USD 2.94bn. Biosimilars grew 17% at constant currencies to USD 998m, supported by Wyost and Jubbonti in the US, with shares of 56% and 49% of their biosimilar markets, and by the European launch of Afqlir, at 73% share across 22 markets. Generics were flat at USD 1.94bn: lower prices for penicillin active ingredients, after Chinese suppliers cut prices following US tariffs, weighed on the anti-infective B2B business. Excluding that effect, generics grew 2% and the group 7%. Over nine months, sales rose 5% to USD 8.70bn, with volumes up 10% and prices down 5%.</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were 1.8% below consensus, with biosimilars 2% short and generics 1.8% short, and the shares fell 4.0% on 28 October. The move is large for a sales miss of this size combined with a higher margin guide, so surprise and reaction diverge in degree. The confirmed drivers are the narrowed sales guide, now at the lower end of the earlier range, and the shortfall in European biosimilar supply. We think positioning explains the rest: the shares closed at a record CHF 82.36 two days before the release, up 23% since the H1 results, on 24.5x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margin guide up, sales range narrowed</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now expects 2026 sales growth of 5% to 6% at constant currencies, against mid-to-high single digits before, and a core EBITDA margin of 23.0% to 23.5%, against an earlier target of about 22.7% and 21.7% in 2025. With a first-half margin of 20.9%, the new range implies a second-half margin of about 25% on our estimates. Management expects the anti-infective headwind to become immaterial from Q4 and the biosimilar supply constraints to ease by 2027 as partners add capacity. Generic semaglutide shipped to Brazil and won approval in Canada; it adds nothing material in 2026 and becomes a growth driver in 2027.</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ran ahead of earnings</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SDZ: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SDZ SW Equity, daily data resampled to weekly, from October 2023 · BEst 12m-forward consensus, EPS converted to CHF as price divided by P/E · 40-week simple MA · log scale · P/E shaded above (orange) / below (blue) its average since October 2023 · last price as of 28 October, the release day</a:t>
            </a:r>
            <a:endParaRPr lang="en-US" sz="700" dirty="0"/>
          </a:p>
        </p:txBody>
      </p:sp>
      <p:pic>
        <p:nvPicPr>
          <p:cNvPr id="15" name="Image 2" descr="/home/claude/sdz/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rose 58% while consensus forward EPS rose 27% in dollars, so most of the gain came from the multiple. Since the H1 results on 5 August the price is up 23% and EPS in francs 4%, taking the forward P/E from 19.8x to a record 24.5x on 26 October. It now stands at 23.3x, 38% above the 16.9x average since the 2023 listing and above the 21.0x one-year average. The price is 17% above its 40-week average of CHF 67.5. A 10% upgrade at today’s price would bring the multiple to 21.2x.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Sandoz results release of 28 October 2026, Finanz und Wirtschaft and AWP of 28 October 2026, analyst research notes of 16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Sandoz Q3 2026: margins up, sales miss at a full valuation</dc:title>
  <dc:subject>PptxGenJS Presentation</dc:subject>
  <dc:creator>Syz Research</dc:creator>
  <cp:lastModifiedBy>Syz Research</cp:lastModifiedBy>
  <cp:revision>1</cp:revision>
  <dcterms:created xsi:type="dcterms:W3CDTF">2026-10-28T09:40:56Z</dcterms:created>
  <dcterms:modified xsi:type="dcterms:W3CDTF">2026-10-28T09:40:56Z</dcterms:modified>
</cp:coreProperties>
</file>