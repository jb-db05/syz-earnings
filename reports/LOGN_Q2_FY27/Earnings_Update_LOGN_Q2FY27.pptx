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Logitech Q2 FY27: margin beat, then a margin reset</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“We can’t expect the company to continue to post gross margin rates of the tune of 45%. This is simply not reality, right?”</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Matteo Anversa, Chief Financial Officer, Q2 FY27 earnings call, 27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Logitech designs mice, keyboards, gaming gear and video-conferencing equipment for consumers and companies, and serves 71% of the Fortune 500. Second-quarter sales were USD 1.22bn. Listed on SIX Swiss Exchange and Nasdaq.</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EPS USD 1.51, 15% above consensus; gross margin 45.2% against a guide of about 44%.</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down 10.5% in early trading on 28 October: the Q3 margin guide outweighed the beat.</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gross margin guided at 41% to 42%, about 200bp lower year on year, on freight and components.</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17.5x forward earnings after the fall, 16% below the 2015 to 2026 average of 20.8x.</a:t>
            </a:r>
            <a:endParaRPr lang="en-US" sz="870" dirty="0"/>
          </a:p>
        </p:txBody>
      </p:sp>
      <p:sp>
        <p:nvSpPr>
          <p:cNvPr id="22" name="Shape 18"/>
          <p:cNvSpPr/>
          <p:nvPr/>
        </p:nvSpPr>
        <p:spPr>
          <a:xfrm>
            <a:off x="539496" y="3839388"/>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Adjusted EPS</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1.51</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+15.3%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Sales</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1.22bn</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+0.6%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45.2%</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About +120bp vs. guide</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Q3 gross margin guide</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41–42%</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About 370bp below Q2</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per share beat consensus by 15% and sales by 0.6%, yet the shares fell 10.5% in early trading on 28 October. The guide is the news: third-quarter sales are guided 6% above consensus, but gross margin falls to 41% to 42% from 45.2%, and management expects cost pressure to last through the fourth quarter.</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LOGN: Q2 FY27 results and Q3 guide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Surprise in % · guide = midpoint of the range · Q3 operating income vs. consensus from analyst first takes</a:t>
            </a:r>
            <a:endParaRPr lang="en-US" sz="700" dirty="0"/>
          </a:p>
        </p:txBody>
      </p:sp>
      <p:pic>
        <p:nvPicPr>
          <p:cNvPr id="42" name="Image 2" descr="/home/claude/logn/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Chart 1 shows why a clean beat did not carry the day. The second-quarter surprises are large, and the third-quarter sales guide is 6% above consensus because the supplier hit shrank to USD 70m to 80m. Yet the operating income guide sits 0.7% below consensus: higher sales at a lower margin earn nothing extra.</a:t>
            </a:r>
            <a:endParaRPr lang="en-US" sz="870" dirty="0"/>
          </a:p>
        </p:txBody>
      </p:sp>
      <p:sp>
        <p:nvSpPr>
          <p:cNvPr id="44" name="Text 39"/>
          <p:cNvSpPr txBox="1"/>
          <p:nvPr/>
        </p:nvSpPr>
        <p:spPr>
          <a:xfrm>
            <a:off x="539496" y="774374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799063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frustrating quarter: operationally very strong, with share gains and a gross margin well ahead of guidance despite weak PC and European markets, yet overshadowed by an outlook clouded by inflation. We remain constructive, but the fundamental case is exposed to exogenous factors. If freight and component inflation persists into fiscal 2028, it would cap the potential for the Swiss-based company. Conversely, any easing in inflation would benefit Logitech through logistics and component costs. We would wait for that signal before adding; the next test is the January release.</a:t>
            </a:r>
            <a:endParaRPr lang="en-US" sz="870" dirty="0"/>
          </a:p>
        </p:txBody>
      </p:sp>
      <p:sp>
        <p:nvSpPr>
          <p:cNvPr id="46" name="Shape 41"/>
          <p:cNvSpPr/>
          <p:nvPr/>
        </p:nvSpPr>
        <p:spPr>
          <a:xfrm>
            <a:off x="3781044" y="8909533"/>
            <a:ext cx="0" cy="985647"/>
          </a:xfrm>
          <a:prstGeom prst="line">
            <a:avLst/>
          </a:prstGeom>
          <a:noFill/>
          <a:ln w="7620">
            <a:solidFill>
              <a:srgbClr val="D6D9DE"/>
            </a:solidFill>
            <a:prstDash val="solid"/>
          </a:ln>
        </p:spPr>
      </p:sp>
      <p:sp>
        <p:nvSpPr>
          <p:cNvPr id="47" name="Text 42"/>
          <p:cNvSpPr txBox="1"/>
          <p:nvPr/>
        </p:nvSpPr>
        <p:spPr>
          <a:xfrm>
            <a:off x="539496" y="890953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10155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Fourth-quarter gross margin back above 43% as freight eases; price increases that offset component costs; Video Collaboration growth staying above 10%; Europe returning to sales growth after EMEA fell 6% in the second quarter.</a:t>
            </a:r>
            <a:endParaRPr lang="en-US" sz="870" dirty="0"/>
          </a:p>
        </p:txBody>
      </p:sp>
      <p:sp>
        <p:nvSpPr>
          <p:cNvPr id="49" name="Text 44"/>
          <p:cNvSpPr txBox="1"/>
          <p:nvPr/>
        </p:nvSpPr>
        <p:spPr>
          <a:xfrm>
            <a:off x="3963924" y="890953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101557"/>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Third-quarter gross margin below 41%, or a further cut for the fourth quarter; a full-year operating margin below 18%; the supplier shortfall running into the fourth quarter; promotions costing more than the 50bp guided.</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mix and price drove the beat</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Sales rose 2% in constant currency to USD 1.22bn, inside the 0% to 3% guide; excluding the supplier incident and the Middle East, underlying growth was about 4%. Video Collaboration grew 12%, 60% from price and 40% from units, Gaming 7%, and pointing devices and keyboards 4% while PC shipments fell about 20%. The Americas grew 13%, Asia Pacific fell 2% against a large Japanese education deal and EMEA fell 6%. Gross margin of 45.2%, up 140bp, beat the guide by about 120bp on mix, premium products and lighter promotions. Non-GAAP operating income of USD 231m was USD 21m above the top of the USD 185m to 210m guide.</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15% earnings beat met a 10.5% fall in early trading on 28 October: surprise and reaction diverge. The confirmed drivers sit in the guide: third-quarter gross margin of 41% to 42%, about 200bp lower year on year, of which 150bp from freight and materials and 50bp from promotions; an operating income midpoint of USD 238m, 0.7% below consensus according to analyst first takes; and a CFO who called a 45% gross margin unrealistic while inflation lasts. Positioning added to the move, in our reading: the shares had risen 12% in the two weeks before the release, to 19.4x forward earnings.</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sales resilient, margins step down</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Third-quarter sales are guided at USD 1,360m to 1,430m, down 5% to flat in constant currency. Management puts about 5 points of drag on the supplier incident, now USD 70m to 80m after up to USD 200m in July, and about 1 point on the Middle East, so underlying demand runs near +4%. Operating income is guided at USD 220m to 255m. The supplier impact should be largely resolved in the fourth quarter, but freight and component inflation is expected to persist through year-end. The full-year non-GAAP operating margin is still guided to the high end of 15% to 18%, now even excluding the USD 61m of tariff refunds.</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de-rating has done the work</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LOGN: share price vs. consensus earnings and valuation</a:t>
            </a:r>
            <a:endParaRPr lang="en-US" sz="870" dirty="0"/>
          </a:p>
        </p:txBody>
      </p:sp>
      <p:sp>
        <p:nvSpPr>
          <p:cNvPr id="14" name="Text 10"/>
          <p:cNvSpPr txBox="1"/>
          <p:nvPr/>
        </p:nvSpPr>
        <p:spPr>
          <a:xfrm>
            <a:off x="539496" y="5187315"/>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since 2015 · 12m-forward consensus EPS in CHF (price / P/E) · 40-week MA · log scale · last price 28 Oct, early trading</a:t>
            </a:r>
            <a:endParaRPr lang="en-US" sz="700" dirty="0"/>
          </a:p>
        </p:txBody>
      </p:sp>
      <p:pic>
        <p:nvPicPr>
          <p:cNvPr id="15" name="Image 2" descr="/home/claude/logn/c2_crop.png">    </p:cNvPr>
          <p:cNvPicPr>
            <a:picLocks noChangeAspect="1"/>
          </p:cNvPicPr>
          <p:nvPr/>
        </p:nvPicPr>
        <p:blipFill>
          <a:blip r:embed="rId3"/>
          <a:stretch>
            <a:fillRect/>
          </a:stretch>
        </p:blipFill>
        <p:spPr>
          <a:xfrm>
            <a:off x="928482" y="5348605"/>
            <a:ext cx="5705124" cy="3413946"/>
          </a:xfrm>
          <a:prstGeom prst="rect">
            <a:avLst/>
          </a:prstGeom>
        </p:spPr>
      </p:pic>
      <p:sp>
        <p:nvSpPr>
          <p:cNvPr id="16" name="Text 11"/>
          <p:cNvSpPr txBox="1"/>
          <p:nvPr/>
        </p:nvSpPr>
        <p:spPr>
          <a:xfrm>
            <a:off x="539496" y="881741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 price is down 7% over 12 months while consensus 12m-forward EPS in Swiss francs is up 20%, so the multiple has absorbed the disappointment: the forward P/E has fallen from 22.6x a year ago to 17.5x, 16% below its 20.8x average since 2015 and below the one-year average of 18.2x. Before the release it stood at 19.4x. The price remains 3% above its 40-week moving average of CHF 80.0 and 19% below the June high of CHF 101.15. A return to the long-run average on unchanged earnings would imply a share price near CHF 98.</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Logitech Q2 FY27 results and earnings call of 27 October 2026, analyst research notes of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Logitech Q2 FY27: margin beat, then a margin reset</dc:title>
  <dc:subject>PptxGenJS Presentation</dc:subject>
  <dc:creator>Syz Research</dc:creator>
  <cp:lastModifiedBy>Syz Research</cp:lastModifiedBy>
  <cp:revision>1</cp:revision>
  <dcterms:created xsi:type="dcterms:W3CDTF">2026-10-28T10:27:43Z</dcterms:created>
  <dcterms:modified xsi:type="dcterms:W3CDTF">2026-10-28T10:27:43Z</dcterms:modified>
</cp:coreProperties>
</file>