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29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55448"/>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Earnings update</a:t>
            </a:r>
            <a:endParaRPr lang="en-US" sz="700" dirty="0"/>
          </a:p>
        </p:txBody>
      </p:sp>
      <p:sp>
        <p:nvSpPr>
          <p:cNvPr id="7" name="Text 3"/>
          <p:cNvSpPr txBox="1"/>
          <p:nvPr/>
        </p:nvSpPr>
        <p:spPr>
          <a:xfrm>
            <a:off x="539496" y="1019556"/>
            <a:ext cx="6483096" cy="263398"/>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Airbus Q3 2026: the guide holds, Q4 must deliver</a:t>
            </a:r>
            <a:endParaRPr lang="en-US" sz="1700" dirty="0"/>
          </a:p>
        </p:txBody>
      </p:sp>
      <p:sp>
        <p:nvSpPr>
          <p:cNvPr id="8" name="Text 4"/>
          <p:cNvSpPr txBox="1"/>
          <p:nvPr/>
        </p:nvSpPr>
        <p:spPr>
          <a:xfrm>
            <a:off x="539496" y="1319530"/>
            <a:ext cx="6483096" cy="164592"/>
          </a:xfrm>
          <a:prstGeom prst="rect">
            <a:avLst/>
          </a:prstGeom>
          <a:noFill/>
          <a:ln/>
        </p:spPr>
        <p:txBody>
          <a:bodyPr wrap="square" lIns="0" tIns="0" rIns="0" bIns="0" rtlCol="0" anchor="t"/>
          <a:lstStyle/>
          <a:p>
            <a:pPr indent="0" marL="0">
              <a:buNone/>
            </a:pPr>
            <a:r>
              <a:rPr lang="en-US" sz="870" b="1" dirty="0">
                <a:solidFill>
                  <a:srgbClr val="6B7280"/>
                </a:solidFill>
                <a:latin typeface="Nunito" pitchFamily="34" charset="0"/>
                <a:ea typeface="Nunito" pitchFamily="34" charset="-122"/>
                <a:cs typeface="Nunito" pitchFamily="34" charset="-120"/>
              </a:rPr>
              <a:t>29 October 2026 · Syz Research</a:t>
            </a:r>
            <a:endParaRPr lang="en-US" sz="870" dirty="0"/>
          </a:p>
        </p:txBody>
      </p:sp>
      <p:sp>
        <p:nvSpPr>
          <p:cNvPr id="9" name="Shape 5"/>
          <p:cNvSpPr/>
          <p:nvPr/>
        </p:nvSpPr>
        <p:spPr>
          <a:xfrm>
            <a:off x="539496" y="1602994"/>
            <a:ext cx="42977" cy="536067"/>
          </a:xfrm>
          <a:prstGeom prst="rect">
            <a:avLst/>
          </a:prstGeom>
          <a:solidFill>
            <a:srgbClr val="FF6C0E"/>
          </a:solidFill>
          <a:ln w="12700">
            <a:solidFill>
              <a:srgbClr val="FF6C0E"/>
            </a:solidFill>
            <a:prstDash val="solid"/>
          </a:ln>
        </p:spPr>
      </p:sp>
      <p:sp>
        <p:nvSpPr>
          <p:cNvPr id="10" name="Text 6"/>
          <p:cNvSpPr txBox="1"/>
          <p:nvPr/>
        </p:nvSpPr>
        <p:spPr>
          <a:xfrm>
            <a:off x="722376" y="1621282"/>
            <a:ext cx="6300216" cy="298323"/>
          </a:xfrm>
          <a:prstGeom prst="rect">
            <a:avLst/>
          </a:prstGeom>
          <a:noFill/>
          <a:ln/>
        </p:spPr>
        <p:txBody>
          <a:bodyPr wrap="square" lIns="0" tIns="0" rIns="0" bIns="0" rtlCol="0" anchor="t"/>
          <a:lstStyle/>
          <a:p>
            <a:pPr indent="0" marL="0">
              <a:lnSpc>
                <a:spcPct val="112500"/>
              </a:lnSpc>
              <a:buNone/>
            </a:pPr>
            <a:r>
              <a:rPr lang="en-US" sz="870" b="1" dirty="0">
                <a:solidFill>
                  <a:srgbClr val="202945"/>
                </a:solidFill>
                <a:latin typeface="Nunito" pitchFamily="34" charset="0"/>
                <a:ea typeface="Nunito" pitchFamily="34" charset="-122"/>
                <a:cs typeface="Nunito" pitchFamily="34" charset="-120"/>
              </a:rPr>
              <a:t>“Our delivery profile is again backend loaded. As we speak, our teams are fully mobilized for a successful year-end run. … And our 2026 guidance remains unchanged.”</a:t>
            </a:r>
            <a:endParaRPr lang="en-US" sz="870" dirty="0"/>
          </a:p>
        </p:txBody>
      </p:sp>
      <p:sp>
        <p:nvSpPr>
          <p:cNvPr id="11" name="Text 7"/>
          <p:cNvSpPr txBox="1"/>
          <p:nvPr/>
        </p:nvSpPr>
        <p:spPr>
          <a:xfrm>
            <a:off x="722376" y="1956181"/>
            <a:ext cx="6300216" cy="155448"/>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Guillaume Faury, CEO, Q3 2026 earnings call, 28 October 2026</a:t>
            </a:r>
            <a:endParaRPr lang="en-US" sz="700" dirty="0"/>
          </a:p>
        </p:txBody>
      </p:sp>
      <p:sp>
        <p:nvSpPr>
          <p:cNvPr id="12" name="Text 8"/>
          <p:cNvSpPr txBox="1"/>
          <p:nvPr/>
        </p:nvSpPr>
        <p:spPr>
          <a:xfrm>
            <a:off x="539496" y="2257933"/>
            <a:ext cx="6483096" cy="332080"/>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Airbus builds commercial aircraft (A220, A320, A330, A350), helicopters and defence and space systems. Commercial aircraft were 73% of Q3 revenue; nine-month revenue EUR 50.6bn. Listed in Paris, Frankfurt and Madrid.</a:t>
            </a:r>
            <a:endParaRPr lang="en-US" sz="870" dirty="0"/>
          </a:p>
        </p:txBody>
      </p:sp>
      <p:sp>
        <p:nvSpPr>
          <p:cNvPr id="13" name="Text 9"/>
          <p:cNvSpPr txBox="1"/>
          <p:nvPr/>
        </p:nvSpPr>
        <p:spPr>
          <a:xfrm>
            <a:off x="539496" y="2708885"/>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4" name="Text 10"/>
          <p:cNvSpPr txBox="1"/>
          <p:nvPr/>
        </p:nvSpPr>
        <p:spPr>
          <a:xfrm>
            <a:off x="539496" y="2969489"/>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In line</a:t>
            </a:r>
            <a:endParaRPr lang="en-US" sz="700" dirty="0"/>
          </a:p>
        </p:txBody>
      </p:sp>
      <p:sp>
        <p:nvSpPr>
          <p:cNvPr id="15" name="Text 11"/>
          <p:cNvSpPr txBox="1"/>
          <p:nvPr/>
        </p:nvSpPr>
        <p:spPr>
          <a:xfrm>
            <a:off x="1133856" y="2946629"/>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Q3 adjusted EBIT of EUR 1.77bn matched consensus; revenue missed by 5% on fewer deliveries.</a:t>
            </a:r>
            <a:endParaRPr lang="en-US" sz="870" dirty="0"/>
          </a:p>
        </p:txBody>
      </p:sp>
      <p:sp>
        <p:nvSpPr>
          <p:cNvPr id="16" name="Text 12"/>
          <p:cNvSpPr txBox="1"/>
          <p:nvPr/>
        </p:nvSpPr>
        <p:spPr>
          <a:xfrm>
            <a:off x="539496" y="3172104"/>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Reaction</a:t>
            </a:r>
            <a:endParaRPr lang="en-US" sz="700" dirty="0"/>
          </a:p>
        </p:txBody>
      </p:sp>
      <p:sp>
        <p:nvSpPr>
          <p:cNvPr id="17" name="Text 13"/>
          <p:cNvSpPr txBox="1"/>
          <p:nvPr/>
        </p:nvSpPr>
        <p:spPr>
          <a:xfrm>
            <a:off x="1133856" y="3149244"/>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Shares closed 3.3% higher on 29 October, against 0.8% for the Stoxx Europe 600.</a:t>
            </a:r>
            <a:endParaRPr lang="en-US" sz="870" dirty="0"/>
          </a:p>
        </p:txBody>
      </p:sp>
      <p:sp>
        <p:nvSpPr>
          <p:cNvPr id="18" name="Text 14"/>
          <p:cNvSpPr txBox="1"/>
          <p:nvPr/>
        </p:nvSpPr>
        <p:spPr>
          <a:xfrm>
            <a:off x="539496" y="3374720"/>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Watch</a:t>
            </a:r>
            <a:endParaRPr lang="en-US" sz="700" dirty="0"/>
          </a:p>
        </p:txBody>
      </p:sp>
      <p:sp>
        <p:nvSpPr>
          <p:cNvPr id="19" name="Text 15"/>
          <p:cNvSpPr txBox="1"/>
          <p:nvPr/>
        </p:nvSpPr>
        <p:spPr>
          <a:xfrm>
            <a:off x="1133856" y="3351860"/>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The unchanged guide needs about 323 Q4 deliveries and EUR 5.8bn of Q4 free cash flow.</a:t>
            </a:r>
            <a:endParaRPr lang="en-US" sz="870" dirty="0"/>
          </a:p>
        </p:txBody>
      </p:sp>
      <p:sp>
        <p:nvSpPr>
          <p:cNvPr id="20" name="Text 16"/>
          <p:cNvSpPr txBox="1"/>
          <p:nvPr/>
        </p:nvSpPr>
        <p:spPr>
          <a:xfrm>
            <a:off x="539496" y="3577336"/>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Valuation</a:t>
            </a:r>
            <a:endParaRPr lang="en-US" sz="700" dirty="0"/>
          </a:p>
        </p:txBody>
      </p:sp>
      <p:sp>
        <p:nvSpPr>
          <p:cNvPr id="21" name="Text 17"/>
          <p:cNvSpPr txBox="1"/>
          <p:nvPr/>
        </p:nvSpPr>
        <p:spPr>
          <a:xfrm>
            <a:off x="1133856" y="3554476"/>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23.5x forward earnings, 35% above the 17.4x average since 2005, below January’s 27.7x.</a:t>
            </a:r>
            <a:endParaRPr lang="en-US" sz="870" dirty="0"/>
          </a:p>
        </p:txBody>
      </p:sp>
      <p:sp>
        <p:nvSpPr>
          <p:cNvPr id="22" name="Shape 18"/>
          <p:cNvSpPr/>
          <p:nvPr/>
        </p:nvSpPr>
        <p:spPr>
          <a:xfrm>
            <a:off x="539496" y="3839388"/>
            <a:ext cx="6483096" cy="640080"/>
          </a:xfrm>
          <a:prstGeom prst="roundRect">
            <a:avLst>
              <a:gd name="adj" fmla="val 14286"/>
            </a:avLst>
          </a:prstGeom>
          <a:solidFill>
            <a:srgbClr val="FFFFFF"/>
          </a:solidFill>
          <a:ln w="16510">
            <a:solidFill>
              <a:srgbClr val="202945"/>
            </a:solidFill>
            <a:prstDash val="solid"/>
          </a:ln>
        </p:spPr>
      </p:sp>
      <p:sp>
        <p:nvSpPr>
          <p:cNvPr id="23" name="Text 19"/>
          <p:cNvSpPr txBox="1"/>
          <p:nvPr/>
        </p:nvSpPr>
        <p:spPr>
          <a:xfrm>
            <a:off x="649224"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Q3 adjusted EBIT</a:t>
            </a:r>
            <a:endParaRPr lang="en-US" sz="700" dirty="0"/>
          </a:p>
        </p:txBody>
      </p:sp>
      <p:sp>
        <p:nvSpPr>
          <p:cNvPr id="24" name="Text 20"/>
          <p:cNvSpPr txBox="1"/>
          <p:nvPr/>
        </p:nvSpPr>
        <p:spPr>
          <a:xfrm>
            <a:off x="649224"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EUR 1.77bn</a:t>
            </a:r>
            <a:endParaRPr lang="en-US" sz="1100" dirty="0"/>
          </a:p>
        </p:txBody>
      </p:sp>
      <p:sp>
        <p:nvSpPr>
          <p:cNvPr id="25" name="Text 21"/>
          <p:cNvSpPr txBox="1"/>
          <p:nvPr/>
        </p:nvSpPr>
        <p:spPr>
          <a:xfrm>
            <a:off x="649224" y="4260012"/>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+1.0% vs. consensus</a:t>
            </a:r>
            <a:endParaRPr lang="en-US" sz="700" dirty="0"/>
          </a:p>
        </p:txBody>
      </p:sp>
      <p:sp>
        <p:nvSpPr>
          <p:cNvPr id="26" name="Shape 22"/>
          <p:cNvSpPr/>
          <p:nvPr/>
        </p:nvSpPr>
        <p:spPr>
          <a:xfrm>
            <a:off x="2160270" y="3839388"/>
            <a:ext cx="0" cy="640080"/>
          </a:xfrm>
          <a:prstGeom prst="line">
            <a:avLst/>
          </a:prstGeom>
          <a:noFill/>
          <a:ln w="7620">
            <a:solidFill>
              <a:srgbClr val="D6D9DE"/>
            </a:solidFill>
            <a:prstDash val="solid"/>
          </a:ln>
        </p:spPr>
      </p:sp>
      <p:sp>
        <p:nvSpPr>
          <p:cNvPr id="27" name="Text 23"/>
          <p:cNvSpPr txBox="1"/>
          <p:nvPr/>
        </p:nvSpPr>
        <p:spPr>
          <a:xfrm>
            <a:off x="2269998"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Q3 revenue</a:t>
            </a:r>
            <a:endParaRPr lang="en-US" sz="700" dirty="0"/>
          </a:p>
        </p:txBody>
      </p:sp>
      <p:sp>
        <p:nvSpPr>
          <p:cNvPr id="28" name="Text 24"/>
          <p:cNvSpPr txBox="1"/>
          <p:nvPr/>
        </p:nvSpPr>
        <p:spPr>
          <a:xfrm>
            <a:off x="2269998"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EUR 17.5bn</a:t>
            </a:r>
            <a:endParaRPr lang="en-US" sz="1100" dirty="0"/>
          </a:p>
        </p:txBody>
      </p:sp>
      <p:sp>
        <p:nvSpPr>
          <p:cNvPr id="29" name="Text 25"/>
          <p:cNvSpPr txBox="1"/>
          <p:nvPr/>
        </p:nvSpPr>
        <p:spPr>
          <a:xfrm>
            <a:off x="2269998" y="4260012"/>
            <a:ext cx="1437894" cy="13716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-5.0% vs. consensus</a:t>
            </a:r>
            <a:endParaRPr lang="en-US" sz="700" dirty="0"/>
          </a:p>
        </p:txBody>
      </p:sp>
      <p:sp>
        <p:nvSpPr>
          <p:cNvPr id="30" name="Shape 26"/>
          <p:cNvSpPr/>
          <p:nvPr/>
        </p:nvSpPr>
        <p:spPr>
          <a:xfrm>
            <a:off x="3781044" y="3839388"/>
            <a:ext cx="0" cy="640080"/>
          </a:xfrm>
          <a:prstGeom prst="line">
            <a:avLst/>
          </a:prstGeom>
          <a:noFill/>
          <a:ln w="7620">
            <a:solidFill>
              <a:srgbClr val="D6D9DE"/>
            </a:solidFill>
            <a:prstDash val="solid"/>
          </a:ln>
        </p:spPr>
      </p:sp>
      <p:sp>
        <p:nvSpPr>
          <p:cNvPr id="31" name="Text 27"/>
          <p:cNvSpPr txBox="1"/>
          <p:nvPr/>
        </p:nvSpPr>
        <p:spPr>
          <a:xfrm>
            <a:off x="3890772"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Q3 free cash flow</a:t>
            </a:r>
            <a:endParaRPr lang="en-US" sz="700" dirty="0"/>
          </a:p>
        </p:txBody>
      </p:sp>
      <p:sp>
        <p:nvSpPr>
          <p:cNvPr id="32" name="Text 28"/>
          <p:cNvSpPr txBox="1"/>
          <p:nvPr/>
        </p:nvSpPr>
        <p:spPr>
          <a:xfrm>
            <a:off x="3890772"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EUR -0.10bn</a:t>
            </a:r>
            <a:endParaRPr lang="en-US" sz="1100" dirty="0"/>
          </a:p>
        </p:txBody>
      </p:sp>
      <p:sp>
        <p:nvSpPr>
          <p:cNvPr id="33" name="Text 29"/>
          <p:cNvSpPr txBox="1"/>
          <p:nvPr/>
        </p:nvSpPr>
        <p:spPr>
          <a:xfrm>
            <a:off x="3890772" y="4260012"/>
            <a:ext cx="1437894" cy="13716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vs. EUR +0.33bn consensus</a:t>
            </a:r>
            <a:endParaRPr lang="en-US" sz="700" dirty="0"/>
          </a:p>
        </p:txBody>
      </p:sp>
      <p:sp>
        <p:nvSpPr>
          <p:cNvPr id="34" name="Shape 30"/>
          <p:cNvSpPr/>
          <p:nvPr/>
        </p:nvSpPr>
        <p:spPr>
          <a:xfrm>
            <a:off x="5401818" y="3839388"/>
            <a:ext cx="0" cy="640080"/>
          </a:xfrm>
          <a:prstGeom prst="line">
            <a:avLst/>
          </a:prstGeom>
          <a:noFill/>
          <a:ln w="7620">
            <a:solidFill>
              <a:srgbClr val="D6D9DE"/>
            </a:solidFill>
            <a:prstDash val="solid"/>
          </a:ln>
        </p:spPr>
      </p:sp>
      <p:sp>
        <p:nvSpPr>
          <p:cNvPr id="35" name="Text 31"/>
          <p:cNvSpPr txBox="1"/>
          <p:nvPr/>
        </p:nvSpPr>
        <p:spPr>
          <a:xfrm>
            <a:off x="5511546"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2026 EBIT guide</a:t>
            </a:r>
            <a:endParaRPr lang="en-US" sz="700" dirty="0"/>
          </a:p>
        </p:txBody>
      </p:sp>
      <p:sp>
        <p:nvSpPr>
          <p:cNvPr id="36" name="Text 32"/>
          <p:cNvSpPr txBox="1"/>
          <p:nvPr/>
        </p:nvSpPr>
        <p:spPr>
          <a:xfrm>
            <a:off x="5511546"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EUR 7.5bn</a:t>
            </a:r>
            <a:endParaRPr lang="en-US" sz="1100" dirty="0"/>
          </a:p>
        </p:txBody>
      </p:sp>
      <p:sp>
        <p:nvSpPr>
          <p:cNvPr id="37" name="Text 33"/>
          <p:cNvSpPr txBox="1"/>
          <p:nvPr/>
        </p:nvSpPr>
        <p:spPr>
          <a:xfrm>
            <a:off x="5511546" y="4260012"/>
            <a:ext cx="1437894" cy="137160"/>
          </a:xfrm>
          <a:prstGeom prst="rect">
            <a:avLst/>
          </a:prstGeom>
          <a:noFill/>
          <a:ln/>
        </p:spPr>
        <p:txBody>
          <a:bodyPr wrap="square" lIns="0" tIns="0" rIns="0" bIns="0" rtlCol="0" anchor="t"/>
          <a:lstStyle/>
          <a:p>
            <a:pPr indent="0" marL="0">
              <a:buNone/>
            </a:pPr>
            <a:r>
              <a:rPr lang="en-US" sz="700" b="1" dirty="0">
                <a:solidFill>
                  <a:srgbClr val="4B5F80"/>
                </a:solidFill>
                <a:latin typeface="Nunito" pitchFamily="34" charset="0"/>
                <a:ea typeface="Nunito" pitchFamily="34" charset="-122"/>
                <a:cs typeface="Nunito" pitchFamily="34" charset="-120"/>
              </a:rPr>
              <a:t>Held, 2.5% below consensus</a:t>
            </a:r>
            <a:endParaRPr lang="en-US" sz="700" dirty="0"/>
          </a:p>
        </p:txBody>
      </p:sp>
      <p:sp>
        <p:nvSpPr>
          <p:cNvPr id="38" name="Text 34"/>
          <p:cNvSpPr txBox="1"/>
          <p:nvPr/>
        </p:nvSpPr>
        <p:spPr>
          <a:xfrm>
            <a:off x="539496" y="4598340"/>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Relief on the guide, the cash test is Q4</a:t>
            </a:r>
            <a:endParaRPr lang="en-US" sz="1100" dirty="0"/>
          </a:p>
        </p:txBody>
      </p:sp>
      <p:sp>
        <p:nvSpPr>
          <p:cNvPr id="39" name="Text 35"/>
          <p:cNvSpPr txBox="1"/>
          <p:nvPr/>
        </p:nvSpPr>
        <p:spPr>
          <a:xfrm>
            <a:off x="539496" y="4845228"/>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Q3 adjusted EBIT matched consensus while revenue missed by 5% and free cash flow by about EUR 0.4bn, yet the shares closed 3.3% higher on 29 October, against 0.8% for the Stoxx Europe 600. The guide and the buyback plan held, and orders keep building: 1,105 net orders in nine months, double last year. The case now rests on delivering Q4.</a:t>
            </a:r>
            <a:endParaRPr lang="en-US" sz="870" dirty="0"/>
          </a:p>
        </p:txBody>
      </p:sp>
      <p:sp>
        <p:nvSpPr>
          <p:cNvPr id="40" name="Text 36"/>
          <p:cNvSpPr txBox="1"/>
          <p:nvPr/>
        </p:nvSpPr>
        <p:spPr>
          <a:xfrm>
            <a:off x="539496" y="5413756"/>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1</a:t>
            </a:r>
            <a:pPr indent="0" marL="0">
              <a:buNone/>
            </a:pPr>
            <a:r>
              <a:rPr lang="en-US" sz="870" b="1" dirty="0">
                <a:solidFill>
                  <a:srgbClr val="202945"/>
                </a:solidFill>
                <a:latin typeface="Nunito" pitchFamily="34" charset="0"/>
                <a:ea typeface="Nunito" pitchFamily="34" charset="-122"/>
                <a:cs typeface="Nunito" pitchFamily="34" charset="-120"/>
              </a:rPr>
              <a:t> · AIR: Q3 2026 results and 2026 guide vs. consensus</a:t>
            </a:r>
            <a:endParaRPr lang="en-US" sz="870" dirty="0"/>
          </a:p>
        </p:txBody>
      </p:sp>
      <p:sp>
        <p:nvSpPr>
          <p:cNvPr id="41" name="Text 37"/>
          <p:cNvSpPr txBox="1"/>
          <p:nvPr/>
        </p:nvSpPr>
        <p:spPr>
          <a:xfrm>
            <a:off x="539496" y="5587492"/>
            <a:ext cx="6483096" cy="11557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Q3 reported vs. Q3 consensus · maintained 2026 guide vs. 2026 consensus, % · free cash flow before customer financing</a:t>
            </a:r>
            <a:endParaRPr lang="en-US" sz="700" dirty="0"/>
          </a:p>
        </p:txBody>
      </p:sp>
      <p:pic>
        <p:nvPicPr>
          <p:cNvPr id="42" name="Image 2" descr="/home/claude/air/c1_crop.png">    </p:cNvPr>
          <p:cNvPicPr>
            <a:picLocks noChangeAspect="1"/>
          </p:cNvPicPr>
          <p:nvPr/>
        </p:nvPicPr>
        <p:blipFill>
          <a:blip r:embed="rId3"/>
          <a:stretch>
            <a:fillRect/>
          </a:stretch>
        </p:blipFill>
        <p:spPr>
          <a:xfrm>
            <a:off x="1641622" y="5748782"/>
            <a:ext cx="4278843" cy="1334999"/>
          </a:xfrm>
          <a:prstGeom prst="rect">
            <a:avLst/>
          </a:prstGeom>
        </p:spPr>
      </p:pic>
      <p:sp>
        <p:nvSpPr>
          <p:cNvPr id="43" name="Text 38"/>
          <p:cNvSpPr txBox="1"/>
          <p:nvPr/>
        </p:nvSpPr>
        <p:spPr>
          <a:xfrm>
            <a:off x="539496" y="7138645"/>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misses are volume and cash, not margin: commercial EBIT held up as fewer aircraft left the line. The maintained 2026 guide sits 2.5% below consensus on EBIT and 6% below on free cash flow, a gap that already existed before the release; the delivery guide is slightly above consensus.</a:t>
            </a:r>
            <a:endParaRPr lang="en-US" sz="870" dirty="0"/>
          </a:p>
        </p:txBody>
      </p:sp>
      <p:sp>
        <p:nvSpPr>
          <p:cNvPr id="44" name="Text 39"/>
          <p:cNvSpPr txBox="1"/>
          <p:nvPr/>
        </p:nvSpPr>
        <p:spPr>
          <a:xfrm>
            <a:off x="658368" y="7789469"/>
            <a:ext cx="6245352"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5" name="Text 40"/>
          <p:cNvSpPr txBox="1"/>
          <p:nvPr/>
        </p:nvSpPr>
        <p:spPr>
          <a:xfrm>
            <a:off x="658368" y="8036357"/>
            <a:ext cx="6245352"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We are constructive on Airbus. We underwrite about 870 deliveries this year, adjusted EBIT of about EUR 7.5bn and a 2027 ramp paced by engines, backed by a backlog of 9,310 aircraft. Forward EPS of EUR 8.4 is 15% above its 2019 peak, and defence orders, up 70%, add a second leg. The debate has moved from demand to execution: the Spirit integration and the cash release from about EUR 10bn of extra inventory. At 23.5x, delivery must follow. Next test: the full-year results in February.</a:t>
            </a:r>
            <a:endParaRPr lang="en-US" sz="870" dirty="0"/>
          </a:p>
        </p:txBody>
      </p:sp>
      <p:sp>
        <p:nvSpPr>
          <p:cNvPr id="46" name="Shape 41"/>
          <p:cNvSpPr/>
          <p:nvPr/>
        </p:nvSpPr>
        <p:spPr>
          <a:xfrm>
            <a:off x="658368" y="8918677"/>
            <a:ext cx="6245352" cy="0"/>
          </a:xfrm>
          <a:prstGeom prst="line">
            <a:avLst/>
          </a:prstGeom>
          <a:noFill/>
          <a:ln w="7620">
            <a:solidFill>
              <a:srgbClr val="D6D9DE"/>
            </a:solidFill>
            <a:prstDash val="solid"/>
          </a:ln>
        </p:spPr>
      </p:sp>
      <p:sp>
        <p:nvSpPr>
          <p:cNvPr id="47" name="Shape 42"/>
          <p:cNvSpPr/>
          <p:nvPr/>
        </p:nvSpPr>
        <p:spPr>
          <a:xfrm>
            <a:off x="3781044" y="9028405"/>
            <a:ext cx="0" cy="828751"/>
          </a:xfrm>
          <a:prstGeom prst="line">
            <a:avLst/>
          </a:prstGeom>
          <a:noFill/>
          <a:ln w="7620">
            <a:solidFill>
              <a:srgbClr val="D6D9DE"/>
            </a:solidFill>
            <a:prstDash val="solid"/>
          </a:ln>
        </p:spPr>
      </p:sp>
      <p:sp>
        <p:nvSpPr>
          <p:cNvPr id="48" name="Text 43"/>
          <p:cNvSpPr txBox="1"/>
          <p:nvPr/>
        </p:nvSpPr>
        <p:spPr>
          <a:xfrm>
            <a:off x="658368" y="9028405"/>
            <a:ext cx="2939796"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strengthen our view</a:t>
            </a:r>
            <a:endParaRPr lang="en-US" sz="700" dirty="0"/>
          </a:p>
        </p:txBody>
      </p:sp>
      <p:sp>
        <p:nvSpPr>
          <p:cNvPr id="49" name="Text 44"/>
          <p:cNvSpPr txBox="1"/>
          <p:nvPr/>
        </p:nvSpPr>
        <p:spPr>
          <a:xfrm>
            <a:off x="658368" y="9220429"/>
            <a:ext cx="2939796"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Q4 deliveries at or above 323 with free cash flow before customer financing of at least EUR 4.5bn; the EUR 5bn buyback launched before year-end; Project Bromo signed in 2026 as planned.</a:t>
            </a:r>
            <a:endParaRPr lang="en-US" sz="870" dirty="0"/>
          </a:p>
        </p:txBody>
      </p:sp>
      <p:sp>
        <p:nvSpPr>
          <p:cNvPr id="50" name="Text 45"/>
          <p:cNvSpPr txBox="1"/>
          <p:nvPr/>
        </p:nvSpPr>
        <p:spPr>
          <a:xfrm>
            <a:off x="3963924" y="9028405"/>
            <a:ext cx="2939796"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change our view</a:t>
            </a:r>
            <a:endParaRPr lang="en-US" sz="700" dirty="0"/>
          </a:p>
        </p:txBody>
      </p:sp>
      <p:sp>
        <p:nvSpPr>
          <p:cNvPr id="51" name="Text 46"/>
          <p:cNvSpPr txBox="1"/>
          <p:nvPr/>
        </p:nvSpPr>
        <p:spPr>
          <a:xfrm>
            <a:off x="3963924" y="9220429"/>
            <a:ext cx="2939796"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Deliveries below 850, the low end of the range; free cash flow short of EUR 4bn as inventory fails to unwind; Spirit costs above the guided effect; fewer engines than planned for 2027.</a:t>
            </a:r>
            <a:endParaRPr lang="en-US" sz="870" dirty="0"/>
          </a:p>
        </p:txBody>
      </p:sp>
      <p:sp>
        <p:nvSpPr>
          <p:cNvPr id="52" name="Shape 47"/>
          <p:cNvSpPr/>
          <p:nvPr/>
        </p:nvSpPr>
        <p:spPr>
          <a:xfrm>
            <a:off x="539496" y="7725461"/>
            <a:ext cx="6483096" cy="2195703"/>
          </a:xfrm>
          <a:prstGeom prst="roundRect">
            <a:avLst>
              <a:gd name="adj" fmla="val 4164"/>
            </a:avLst>
          </a:prstGeom>
          <a:ln w="16510">
            <a:solidFill>
              <a:srgbClr val="202945"/>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29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329184"/>
          </a:xfrm>
          <a:prstGeom prst="rect">
            <a:avLst/>
          </a:prstGeom>
          <a:noFill/>
          <a:ln/>
        </p:spPr>
        <p:txBody>
          <a:bodyPr wrap="square" lIns="0" tIns="0" rIns="0" bIns="0" rtlCol="0" anchor="t"/>
          <a:lstStyle/>
          <a:p>
            <a:pPr indent="0" marL="0">
              <a:buNone/>
            </a:pPr>
            <a:r>
              <a:rPr lang="en-US" sz="1700" b="1" dirty="0">
                <a:solidFill>
                  <a:srgbClr val="202945"/>
                </a:solidFill>
                <a:latin typeface="Nunito" pitchFamily="34" charset="0"/>
                <a:ea typeface="Nunito" pitchFamily="34" charset="-122"/>
                <a:cs typeface="Nunito" pitchFamily="34" charset="-120"/>
              </a:rPr>
              <a:t>Beyond the key takeaways</a:t>
            </a:r>
            <a:endParaRPr lang="en-US" sz="1700" dirty="0"/>
          </a:p>
        </p:txBody>
      </p:sp>
      <p:sp>
        <p:nvSpPr>
          <p:cNvPr id="7" name="Text 3"/>
          <p:cNvSpPr txBox="1"/>
          <p:nvPr/>
        </p:nvSpPr>
        <p:spPr>
          <a:xfrm>
            <a:off x="539496" y="1239012"/>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fewer deliveries, firmer margins</a:t>
            </a:r>
            <a:endParaRPr lang="en-US" sz="1100" dirty="0"/>
          </a:p>
        </p:txBody>
      </p:sp>
      <p:sp>
        <p:nvSpPr>
          <p:cNvPr id="8" name="Text 4"/>
          <p:cNvSpPr txBox="1"/>
          <p:nvPr/>
        </p:nvSpPr>
        <p:spPr>
          <a:xfrm>
            <a:off x="539496" y="1485900"/>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Q3 revenue fell 2% to EUR 17.5bn and adjusted EBIT 9% to EUR 1.77bn on 196 deliveries. Commercial Aircraft revenue fell 2% to EUR 12.8bn and its adjusted EBIT 12% to EUR 1.38bn, a 10.8% margin against the 10.4% analysts expected, on fewer deliveries, a less favourable mix and the integration of the former Spirit AeroSystems work packages, which also cost EUR 112m in charges below adjusted EBIT. Helicopters fell 17% to EUR 205m and Defence and Space rose 19% to EUR 185m. Free cash flow before customer financing was EUR -102m, as inventory rose about EUR 10bn since January to support the ramp. Net cash fell to EUR 7.0bn from EUR 12.2bn at end-2025.</a:t>
            </a:r>
            <a:endParaRPr lang="en-US" sz="870" dirty="0"/>
          </a:p>
        </p:txBody>
      </p:sp>
      <p:sp>
        <p:nvSpPr>
          <p:cNvPr id="9" name="Text 5"/>
          <p:cNvSpPr txBox="1"/>
          <p:nvPr/>
        </p:nvSpPr>
        <p:spPr>
          <a:xfrm>
            <a:off x="539496" y="2525116"/>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reaction diverged from the misses: the shares closed 3.3% higher on 29 October, against 0.8% for the Stoxx Europe 600. Confirmed drivers: the guide held; management said the A321 stringer issue would not push deliveries toward the low end of the 850 to 890 range nor affect 2027; commercial margins beat; and the CFO said the plan to start the EUR 5bn buyback in the second half was unchanged. We think relief did the rest: the shares went into the print 12% below their January peak, at 22.9x, under the one-year average of 24.2x.</a:t>
            </a:r>
            <a:endParaRPr lang="en-US" sz="870" dirty="0"/>
          </a:p>
        </p:txBody>
      </p:sp>
      <p:sp>
        <p:nvSpPr>
          <p:cNvPr id="10" name="Text 6"/>
          <p:cNvSpPr txBox="1"/>
          <p:nvPr/>
        </p:nvSpPr>
        <p:spPr>
          <a:xfrm>
            <a:off x="539496" y="3444011"/>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Outlook: a heavy fourth quarter</a:t>
            </a:r>
            <a:endParaRPr lang="en-US" sz="1100" dirty="0"/>
          </a:p>
        </p:txBody>
      </p:sp>
      <p:sp>
        <p:nvSpPr>
          <p:cNvPr id="11" name="Text 7"/>
          <p:cNvSpPr txBox="1"/>
          <p:nvPr/>
        </p:nvSpPr>
        <p:spPr>
          <a:xfrm>
            <a:off x="539496" y="3690899"/>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unchanged guide of about 870 deliveries, EUR 7.5bn of adjusted EBIT and EUR 4.5bn of free cash flow before customer financing leaves a heavy Q4: about 323 deliveries, 37 more than a year earlier; about EUR 3.0bn of EBIT, roughly flat as the A220 mix, Spirit costs and back-loaded R&amp;D absorb the volume; and about EUR 5.8bn of cash, which depends on unwinding the inventory built this year. Engines pace 2027, and Airbus will not build extra airframes ahead of them. An A350 rate above 12 is under review, and the 2029 target set in July, EUR 12bn to 13bn of adjusted EBIT at USD 1.22, stands.</a:t>
            </a:r>
            <a:endParaRPr lang="en-US" sz="870" dirty="0"/>
          </a:p>
        </p:txBody>
      </p:sp>
      <p:sp>
        <p:nvSpPr>
          <p:cNvPr id="12" name="Text 8"/>
          <p:cNvSpPr txBox="1"/>
          <p:nvPr/>
        </p:nvSpPr>
        <p:spPr>
          <a:xfrm>
            <a:off x="539496" y="4766691"/>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a premium to history, not to 2026</a:t>
            </a:r>
            <a:endParaRPr lang="en-US" sz="1100" dirty="0"/>
          </a:p>
        </p:txBody>
      </p:sp>
      <p:sp>
        <p:nvSpPr>
          <p:cNvPr id="13" name="Text 9"/>
          <p:cNvSpPr txBox="1"/>
          <p:nvPr/>
        </p:nvSpPr>
        <p:spPr>
          <a:xfrm>
            <a:off x="539496" y="5013579"/>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2</a:t>
            </a:r>
            <a:pPr indent="0" marL="0">
              <a:buNone/>
            </a:pPr>
            <a:r>
              <a:rPr lang="en-US" sz="870" b="1" dirty="0">
                <a:solidFill>
                  <a:srgbClr val="202945"/>
                </a:solidFill>
                <a:latin typeface="Nunito" pitchFamily="34" charset="0"/>
                <a:ea typeface="Nunito" pitchFamily="34" charset="-122"/>
                <a:cs typeface="Nunito" pitchFamily="34" charset="-120"/>
              </a:rPr>
              <a:t> · AIR: share price vs. consensus earnings and valuation</a:t>
            </a:r>
            <a:endParaRPr lang="en-US" sz="870" dirty="0"/>
          </a:p>
        </p:txBody>
      </p:sp>
      <p:sp>
        <p:nvSpPr>
          <p:cNvPr id="14" name="Text 10"/>
          <p:cNvSpPr txBox="1"/>
          <p:nvPr/>
        </p:nvSpPr>
        <p:spPr>
          <a:xfrm>
            <a:off x="539496" y="5187315"/>
            <a:ext cx="6483096" cy="23114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AIR FP Equity, weekly, April 2005 to October 2026 · BEst 12m-forward consensus · 40-week simple MA · log scale · P/E shaded vs. its 2005 to 2026 average · last price EUR 198.30 is the 29 October close, the first session after the release</a:t>
            </a:r>
            <a:endParaRPr lang="en-US" sz="700" dirty="0"/>
          </a:p>
        </p:txBody>
      </p:sp>
      <p:pic>
        <p:nvPicPr>
          <p:cNvPr id="15" name="Image 2" descr="/home/claude/air/c2_crop.png">    </p:cNvPr>
          <p:cNvPicPr>
            <a:picLocks noChangeAspect="1"/>
          </p:cNvPicPr>
          <p:nvPr/>
        </p:nvPicPr>
        <p:blipFill>
          <a:blip r:embed="rId3"/>
          <a:stretch>
            <a:fillRect/>
          </a:stretch>
        </p:blipFill>
        <p:spPr>
          <a:xfrm>
            <a:off x="928482" y="5464175"/>
            <a:ext cx="5705124" cy="3413946"/>
          </a:xfrm>
          <a:prstGeom prst="rect">
            <a:avLst/>
          </a:prstGeom>
        </p:spPr>
      </p:pic>
      <p:sp>
        <p:nvSpPr>
          <p:cNvPr id="16" name="Text 11"/>
          <p:cNvSpPr txBox="1"/>
          <p:nvPr/>
        </p:nvSpPr>
        <p:spPr>
          <a:xfrm>
            <a:off x="539496" y="8932985"/>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Earnings have outrun the price: over 12 months consensus forward EPS rose 8% to EUR 8.4 while the shares fell 7%, so the forward P/E fell from 27.5x to 23.5x. That is 35% above the 17.4x average since 2005 and above the ten-year average of 20.8x, but below the one-year average of 24.2x and the 27.7x reached at the January record of EUR 217. The 2021 peak of 35.8x reflected depressed post-pandemic earnings. The price is 6% above its 40-week average. A 10% EPS upgrade at an unchanged price would take the multiple to 21.4x, the five-year average.</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29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664708"/>
            <a:ext cx="6483096" cy="18288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SYZ</a:t>
            </a:r>
            <a:pPr indent="0" marL="0">
              <a:buNone/>
            </a:pPr>
            <a:r>
              <a:rPr lang="en-US" sz="700" b="1" dirty="0">
                <a:solidFill>
                  <a:srgbClr val="9AA0A8"/>
                </a:solidFill>
                <a:latin typeface="Nunito" pitchFamily="34" charset="0"/>
                <a:ea typeface="Nunito" pitchFamily="34" charset="-122"/>
                <a:cs typeface="Nunito" pitchFamily="34" charset="-120"/>
              </a:rPr>
              <a:t> Source: Syz Research, Bloomberg, company filings, Airbus nine-month 2026 release and call of 28 October 2026, analyst research notes of 29 October 2026</a:t>
            </a:r>
            <a:endParaRPr lang="en-US" sz="700" dirty="0"/>
          </a:p>
        </p:txBody>
      </p:sp>
      <p:sp>
        <p:nvSpPr>
          <p:cNvPr id="7" name="Text 3"/>
          <p:cNvSpPr txBox="1"/>
          <p:nvPr/>
        </p:nvSpPr>
        <p:spPr>
          <a:xfrm>
            <a:off x="539496" y="5993892"/>
            <a:ext cx="6483096" cy="182880"/>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Disclaimer</a:t>
            </a:r>
            <a:endParaRPr lang="en-US" sz="700" dirty="0"/>
          </a:p>
        </p:txBody>
      </p:sp>
      <p:sp>
        <p:nvSpPr>
          <p:cNvPr id="8" name="Text 4"/>
          <p:cNvSpPr txBox="1"/>
          <p:nvPr/>
        </p:nvSpPr>
        <p:spPr>
          <a:xfrm>
            <a:off x="539496" y="6176772"/>
            <a:ext cx="6483096" cy="55270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700" dirty="0"/>
          </a:p>
        </p:txBody>
      </p:sp>
      <p:sp>
        <p:nvSpPr>
          <p:cNvPr id="9" name="Text 5"/>
          <p:cNvSpPr txBox="1"/>
          <p:nvPr/>
        </p:nvSpPr>
        <p:spPr>
          <a:xfrm>
            <a:off x="539496" y="672947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700" dirty="0"/>
          </a:p>
        </p:txBody>
      </p:sp>
      <p:sp>
        <p:nvSpPr>
          <p:cNvPr id="10" name="Text 6"/>
          <p:cNvSpPr txBox="1"/>
          <p:nvPr/>
        </p:nvSpPr>
        <p:spPr>
          <a:xfrm>
            <a:off x="539496" y="7157720"/>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700" dirty="0"/>
          </a:p>
        </p:txBody>
      </p:sp>
      <p:sp>
        <p:nvSpPr>
          <p:cNvPr id="11" name="Text 7"/>
          <p:cNvSpPr txBox="1"/>
          <p:nvPr/>
        </p:nvSpPr>
        <p:spPr>
          <a:xfrm>
            <a:off x="539496" y="7585964"/>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700" dirty="0"/>
          </a:p>
        </p:txBody>
      </p:sp>
      <p:sp>
        <p:nvSpPr>
          <p:cNvPr id="12" name="Text 8"/>
          <p:cNvSpPr txBox="1"/>
          <p:nvPr/>
        </p:nvSpPr>
        <p:spPr>
          <a:xfrm>
            <a:off x="539496" y="8387588"/>
            <a:ext cx="6483096" cy="30378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700" dirty="0"/>
          </a:p>
        </p:txBody>
      </p:sp>
      <p:sp>
        <p:nvSpPr>
          <p:cNvPr id="13" name="Text 9"/>
          <p:cNvSpPr txBox="1"/>
          <p:nvPr/>
        </p:nvSpPr>
        <p:spPr>
          <a:xfrm>
            <a:off x="539496" y="8691372"/>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700" dirty="0"/>
          </a:p>
        </p:txBody>
      </p:sp>
      <p:sp>
        <p:nvSpPr>
          <p:cNvPr id="14" name="Text 10"/>
          <p:cNvSpPr txBox="1"/>
          <p:nvPr/>
        </p:nvSpPr>
        <p:spPr>
          <a:xfrm>
            <a:off x="539496" y="949299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Airbus Q3 2026: the guide holds, Q4 must deliver</dc:title>
  <dc:subject>PptxGenJS Presentation</dc:subject>
  <dc:creator>Syz Research</dc:creator>
  <cp:lastModifiedBy>Syz Research</cp:lastModifiedBy>
  <cp:revision>1</cp:revision>
  <dcterms:created xsi:type="dcterms:W3CDTF">2026-10-29T20:55:33Z</dcterms:created>
  <dcterms:modified xsi:type="dcterms:W3CDTF">2026-10-29T20:55:33Z</dcterms:modified>
</cp:coreProperties>
</file>