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15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64592"/>
          </a:xfrm>
          <a:prstGeom prst="rect">
            <a:avLst/>
          </a:prstGeom>
          <a:noFill/>
          <a:ln/>
        </p:spPr>
        <p:txBody>
          <a:bodyPr wrap="square" lIns="0" tIns="0" rIns="0" bIns="0" rtlCol="0" anchor="t"/>
          <a:lstStyle/>
          <a:p>
            <a:pPr indent="0" marL="0">
              <a:buNone/>
            </a:pPr>
            <a:r>
              <a:rPr lang="en-US" sz="800" b="1" spc="120" kern="0" dirty="0">
                <a:solidFill>
                  <a:srgbClr val="FF6C0E"/>
                </a:solidFill>
                <a:latin typeface="Nunito" pitchFamily="34" charset="0"/>
                <a:ea typeface="Nunito" pitchFamily="34" charset="-122"/>
                <a:cs typeface="Nunito" pitchFamily="34" charset="-120"/>
              </a:rPr>
              <a:t>Earnings update · Semiconductors</a:t>
            </a:r>
            <a:endParaRPr lang="en-US" sz="800" dirty="0"/>
          </a:p>
        </p:txBody>
      </p:sp>
      <p:sp>
        <p:nvSpPr>
          <p:cNvPr id="7" name="Text 3"/>
          <p:cNvSpPr txBox="1"/>
          <p:nvPr/>
        </p:nvSpPr>
        <p:spPr>
          <a:xfrm>
            <a:off x="539496" y="1028700"/>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TSMC Q3 2026: AI outruns capacity, margins are the debate</a:t>
            </a:r>
            <a:endParaRPr lang="en-US" sz="1700" dirty="0"/>
          </a:p>
        </p:txBody>
      </p:sp>
      <p:sp>
        <p:nvSpPr>
          <p:cNvPr id="8" name="Text 4"/>
          <p:cNvSpPr txBox="1"/>
          <p:nvPr/>
        </p:nvSpPr>
        <p:spPr>
          <a:xfrm>
            <a:off x="539496" y="1328674"/>
            <a:ext cx="6483096" cy="164592"/>
          </a:xfrm>
          <a:prstGeom prst="rect">
            <a:avLst/>
          </a:prstGeom>
          <a:noFill/>
          <a:ln/>
        </p:spPr>
        <p:txBody>
          <a:bodyPr wrap="square" lIns="0" tIns="0" rIns="0" bIns="0" rtlCol="0" anchor="t"/>
          <a:lstStyle/>
          <a:p>
            <a:pPr indent="0" marL="0">
              <a:buNone/>
            </a:pPr>
            <a:r>
              <a:rPr lang="en-US" sz="850" b="1" dirty="0">
                <a:solidFill>
                  <a:srgbClr val="6B7280"/>
                </a:solidFill>
                <a:latin typeface="Nunito" pitchFamily="34" charset="0"/>
                <a:ea typeface="Nunito" pitchFamily="34" charset="-122"/>
                <a:cs typeface="Nunito" pitchFamily="34" charset="-120"/>
              </a:rPr>
              <a:t>15 October 2026 · Syz Research</a:t>
            </a:r>
            <a:endParaRPr lang="en-US" sz="850" dirty="0"/>
          </a:p>
        </p:txBody>
      </p:sp>
      <p:sp>
        <p:nvSpPr>
          <p:cNvPr id="9" name="Shape 5"/>
          <p:cNvSpPr/>
          <p:nvPr/>
        </p:nvSpPr>
        <p:spPr>
          <a:xfrm>
            <a:off x="539496" y="1612138"/>
            <a:ext cx="42977" cy="405765"/>
          </a:xfrm>
          <a:prstGeom prst="rect">
            <a:avLst/>
          </a:prstGeom>
          <a:solidFill>
            <a:srgbClr val="FF6C0E"/>
          </a:solidFill>
          <a:ln w="12700">
            <a:solidFill>
              <a:srgbClr val="FF6C0E"/>
            </a:solidFill>
            <a:prstDash val="solid"/>
          </a:ln>
        </p:spPr>
      </p:sp>
      <p:sp>
        <p:nvSpPr>
          <p:cNvPr id="10" name="Text 6"/>
          <p:cNvSpPr txBox="1"/>
          <p:nvPr/>
        </p:nvSpPr>
        <p:spPr>
          <a:xfrm>
            <a:off x="722376" y="1630426"/>
            <a:ext cx="6300216" cy="168021"/>
          </a:xfrm>
          <a:prstGeom prst="rect">
            <a:avLst/>
          </a:prstGeom>
          <a:noFill/>
          <a:ln/>
        </p:spPr>
        <p:txBody>
          <a:bodyPr wrap="square" lIns="0" tIns="0" rIns="0" bIns="0" rtlCol="0" anchor="t"/>
          <a:lstStyle/>
          <a:p>
            <a:pPr indent="0" marL="0">
              <a:lnSpc>
                <a:spcPct val="112500"/>
              </a:lnSpc>
              <a:buNone/>
            </a:pPr>
            <a:r>
              <a:rPr lang="en-US" sz="980" b="1" dirty="0">
                <a:solidFill>
                  <a:srgbClr val="202945"/>
                </a:solidFill>
                <a:latin typeface="Nunito" pitchFamily="34" charset="0"/>
                <a:ea typeface="Nunito" pitchFamily="34" charset="-122"/>
                <a:cs typeface="Nunito" pitchFamily="34" charset="-120"/>
              </a:rPr>
              <a:t>“Demand is extremely robust.” … “There is no ceiling for [TSMC’s] profitability.”</a:t>
            </a:r>
            <a:endParaRPr lang="en-US" sz="980" dirty="0"/>
          </a:p>
        </p:txBody>
      </p:sp>
      <p:sp>
        <p:nvSpPr>
          <p:cNvPr id="11" name="Text 7"/>
          <p:cNvSpPr txBox="1"/>
          <p:nvPr/>
        </p:nvSpPr>
        <p:spPr>
          <a:xfrm>
            <a:off x="722376" y="1835023"/>
            <a:ext cx="6300216" cy="155448"/>
          </a:xfrm>
          <a:prstGeom prst="rect">
            <a:avLst/>
          </a:prstGeom>
          <a:noFill/>
          <a:ln/>
        </p:spPr>
        <p:txBody>
          <a:bodyPr wrap="square" lIns="0" tIns="0" rIns="0" bIns="0" rtlCol="0" anchor="t"/>
          <a:lstStyle/>
          <a:p>
            <a:pPr indent="0" marL="0">
              <a:buNone/>
            </a:pPr>
            <a:r>
              <a:rPr lang="en-US" sz="760" b="1" dirty="0">
                <a:solidFill>
                  <a:srgbClr val="6B7280"/>
                </a:solidFill>
                <a:latin typeface="Nunito" pitchFamily="34" charset="0"/>
                <a:ea typeface="Nunito" pitchFamily="34" charset="-122"/>
                <a:cs typeface="Nunito" pitchFamily="34" charset="-120"/>
              </a:rPr>
              <a:t>C.C. Wei, Chief Executive Officer, Q3 2026 earnings call, 15 October 2026 (as reproduced in analyst research notes)</a:t>
            </a:r>
            <a:endParaRPr lang="en-US" sz="760" dirty="0"/>
          </a:p>
        </p:txBody>
      </p:sp>
      <p:sp>
        <p:nvSpPr>
          <p:cNvPr id="12" name="Text 8"/>
          <p:cNvSpPr txBox="1"/>
          <p:nvPr/>
        </p:nvSpPr>
        <p:spPr>
          <a:xfrm>
            <a:off x="539496" y="213677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3" name="Text 9"/>
          <p:cNvSpPr txBox="1"/>
          <p:nvPr/>
        </p:nvSpPr>
        <p:spPr>
          <a:xfrm>
            <a:off x="539496" y="2397379"/>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Beat</a:t>
            </a:r>
            <a:endParaRPr lang="en-US" sz="700" dirty="0"/>
          </a:p>
        </p:txBody>
      </p:sp>
      <p:sp>
        <p:nvSpPr>
          <p:cNvPr id="14" name="Text 10"/>
          <p:cNvSpPr txBox="1"/>
          <p:nvPr/>
        </p:nvSpPr>
        <p:spPr>
          <a:xfrm>
            <a:off x="1133856" y="2374519"/>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of USD 46.7bn (+41%) and EPS of USD 4.54 per ADR both beat consensus by about 3%.</a:t>
            </a:r>
            <a:endParaRPr lang="en-US" sz="870" dirty="0"/>
          </a:p>
        </p:txBody>
      </p:sp>
      <p:sp>
        <p:nvSpPr>
          <p:cNvPr id="15" name="Text 11"/>
          <p:cNvSpPr txBox="1"/>
          <p:nvPr/>
        </p:nvSpPr>
        <p:spPr>
          <a:xfrm>
            <a:off x="539496" y="2599995"/>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Raised</a:t>
            </a:r>
            <a:endParaRPr lang="en-US" sz="700" dirty="0"/>
          </a:p>
        </p:txBody>
      </p:sp>
      <p:sp>
        <p:nvSpPr>
          <p:cNvPr id="16" name="Text 12"/>
          <p:cNvSpPr txBox="1"/>
          <p:nvPr/>
        </p:nvSpPr>
        <p:spPr>
          <a:xfrm>
            <a:off x="1133856" y="2577135"/>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The Q4 guide of USD 52.3–54.3bn sits 5–8% above prior consensus, locking in 44% growth for 2026.</a:t>
            </a:r>
            <a:endParaRPr lang="en-US" sz="870" dirty="0"/>
          </a:p>
        </p:txBody>
      </p:sp>
      <p:sp>
        <p:nvSpPr>
          <p:cNvPr id="17" name="Text 13"/>
          <p:cNvSpPr txBox="1"/>
          <p:nvPr/>
        </p:nvSpPr>
        <p:spPr>
          <a:xfrm>
            <a:off x="539496" y="2802611"/>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8" name="Text 14"/>
          <p:cNvSpPr txBox="1"/>
          <p:nvPr/>
        </p:nvSpPr>
        <p:spPr>
          <a:xfrm>
            <a:off x="1133856" y="2779751"/>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Gross margin of 66.4% missed by 0.6 points on 2nm dilution; overseas fabs cost 3–4 points in 2027.</a:t>
            </a:r>
            <a:endParaRPr lang="en-US" sz="870" dirty="0"/>
          </a:p>
        </p:txBody>
      </p:sp>
      <p:sp>
        <p:nvSpPr>
          <p:cNvPr id="19" name="Text 15"/>
          <p:cNvSpPr txBox="1"/>
          <p:nvPr/>
        </p:nvSpPr>
        <p:spPr>
          <a:xfrm>
            <a:off x="539496" y="3005226"/>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20" name="Text 16"/>
          <p:cNvSpPr txBox="1"/>
          <p:nvPr/>
        </p:nvSpPr>
        <p:spPr>
          <a:xfrm>
            <a:off x="1133856" y="2982366"/>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19.7x forward earnings: 16% above the 2010 to 2026 average, well below the one-year average of 23.3x.</a:t>
            </a:r>
            <a:endParaRPr lang="en-US" sz="870" dirty="0"/>
          </a:p>
        </p:txBody>
      </p:sp>
      <p:sp>
        <p:nvSpPr>
          <p:cNvPr id="21" name="Shape 17"/>
          <p:cNvSpPr/>
          <p:nvPr/>
        </p:nvSpPr>
        <p:spPr>
          <a:xfrm>
            <a:off x="539496" y="3267278"/>
            <a:ext cx="6483096" cy="676656"/>
          </a:xfrm>
          <a:prstGeom prst="rect">
            <a:avLst/>
          </a:prstGeom>
          <a:solidFill>
            <a:srgbClr val="FFFFFF"/>
          </a:solidFill>
          <a:ln w="16510">
            <a:solidFill>
              <a:srgbClr val="202945"/>
            </a:solidFill>
            <a:prstDash val="solid"/>
          </a:ln>
        </p:spPr>
      </p:sp>
      <p:sp>
        <p:nvSpPr>
          <p:cNvPr id="22" name="Text 18"/>
          <p:cNvSpPr txBox="1"/>
          <p:nvPr/>
        </p:nvSpPr>
        <p:spPr>
          <a:xfrm>
            <a:off x="649224" y="3349574"/>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Q3 revenue</a:t>
            </a:r>
            <a:endParaRPr lang="en-US" sz="720" dirty="0"/>
          </a:p>
        </p:txBody>
      </p:sp>
      <p:sp>
        <p:nvSpPr>
          <p:cNvPr id="23" name="Text 19"/>
          <p:cNvSpPr txBox="1"/>
          <p:nvPr/>
        </p:nvSpPr>
        <p:spPr>
          <a:xfrm>
            <a:off x="649224" y="3495878"/>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46.7bn</a:t>
            </a:r>
            <a:endParaRPr lang="en-US" sz="1300" dirty="0"/>
          </a:p>
        </p:txBody>
      </p:sp>
      <p:sp>
        <p:nvSpPr>
          <p:cNvPr id="24" name="Text 20"/>
          <p:cNvSpPr txBox="1"/>
          <p:nvPr/>
        </p:nvSpPr>
        <p:spPr>
          <a:xfrm>
            <a:off x="649224" y="3733622"/>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+3% vs. consensus</a:t>
            </a:r>
            <a:endParaRPr lang="en-US" sz="720" dirty="0"/>
          </a:p>
        </p:txBody>
      </p:sp>
      <p:sp>
        <p:nvSpPr>
          <p:cNvPr id="25" name="Shape 21"/>
          <p:cNvSpPr/>
          <p:nvPr/>
        </p:nvSpPr>
        <p:spPr>
          <a:xfrm>
            <a:off x="2160270" y="3267278"/>
            <a:ext cx="0" cy="676656"/>
          </a:xfrm>
          <a:prstGeom prst="line">
            <a:avLst/>
          </a:prstGeom>
          <a:noFill/>
          <a:ln w="7620">
            <a:solidFill>
              <a:srgbClr val="D6D9DE"/>
            </a:solidFill>
            <a:prstDash val="solid"/>
          </a:ln>
        </p:spPr>
      </p:sp>
      <p:sp>
        <p:nvSpPr>
          <p:cNvPr id="26" name="Text 22"/>
          <p:cNvSpPr txBox="1"/>
          <p:nvPr/>
        </p:nvSpPr>
        <p:spPr>
          <a:xfrm>
            <a:off x="2269998" y="3349574"/>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Q3 EPS per ADR</a:t>
            </a:r>
            <a:endParaRPr lang="en-US" sz="720" dirty="0"/>
          </a:p>
        </p:txBody>
      </p:sp>
      <p:sp>
        <p:nvSpPr>
          <p:cNvPr id="27" name="Text 23"/>
          <p:cNvSpPr txBox="1"/>
          <p:nvPr/>
        </p:nvSpPr>
        <p:spPr>
          <a:xfrm>
            <a:off x="2269998" y="3495878"/>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4.54</a:t>
            </a:r>
            <a:endParaRPr lang="en-US" sz="1300" dirty="0"/>
          </a:p>
        </p:txBody>
      </p:sp>
      <p:sp>
        <p:nvSpPr>
          <p:cNvPr id="28" name="Text 24"/>
          <p:cNvSpPr txBox="1"/>
          <p:nvPr/>
        </p:nvSpPr>
        <p:spPr>
          <a:xfrm>
            <a:off x="2269998" y="3733622"/>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+2.7% vs. consensus</a:t>
            </a:r>
            <a:endParaRPr lang="en-US" sz="720" dirty="0"/>
          </a:p>
        </p:txBody>
      </p:sp>
      <p:sp>
        <p:nvSpPr>
          <p:cNvPr id="29" name="Shape 25"/>
          <p:cNvSpPr/>
          <p:nvPr/>
        </p:nvSpPr>
        <p:spPr>
          <a:xfrm>
            <a:off x="3781044" y="3267278"/>
            <a:ext cx="0" cy="676656"/>
          </a:xfrm>
          <a:prstGeom prst="line">
            <a:avLst/>
          </a:prstGeom>
          <a:noFill/>
          <a:ln w="7620">
            <a:solidFill>
              <a:srgbClr val="D6D9DE"/>
            </a:solidFill>
            <a:prstDash val="solid"/>
          </a:ln>
        </p:spPr>
      </p:sp>
      <p:sp>
        <p:nvSpPr>
          <p:cNvPr id="30" name="Text 26"/>
          <p:cNvSpPr txBox="1"/>
          <p:nvPr/>
        </p:nvSpPr>
        <p:spPr>
          <a:xfrm>
            <a:off x="3890772" y="3349574"/>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Q3 gross margin</a:t>
            </a:r>
            <a:endParaRPr lang="en-US" sz="720" dirty="0"/>
          </a:p>
        </p:txBody>
      </p:sp>
      <p:sp>
        <p:nvSpPr>
          <p:cNvPr id="31" name="Text 27"/>
          <p:cNvSpPr txBox="1"/>
          <p:nvPr/>
        </p:nvSpPr>
        <p:spPr>
          <a:xfrm>
            <a:off x="3890772" y="3495878"/>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66.4%</a:t>
            </a:r>
            <a:endParaRPr lang="en-US" sz="1300" dirty="0"/>
          </a:p>
        </p:txBody>
      </p:sp>
      <p:sp>
        <p:nvSpPr>
          <p:cNvPr id="32" name="Text 28"/>
          <p:cNvSpPr txBox="1"/>
          <p:nvPr/>
        </p:nvSpPr>
        <p:spPr>
          <a:xfrm>
            <a:off x="3890772" y="3733622"/>
            <a:ext cx="1437894" cy="146304"/>
          </a:xfrm>
          <a:prstGeom prst="rect">
            <a:avLst/>
          </a:prstGeom>
          <a:noFill/>
          <a:ln/>
        </p:spPr>
        <p:txBody>
          <a:bodyPr wrap="square" lIns="0" tIns="0" rIns="0" bIns="0" rtlCol="0" anchor="t"/>
          <a:lstStyle/>
          <a:p>
            <a:pPr indent="0" marL="0">
              <a:buNone/>
            </a:pPr>
            <a:r>
              <a:rPr lang="en-US" sz="720" b="1" dirty="0">
                <a:solidFill>
                  <a:srgbClr val="FF6C0E"/>
                </a:solidFill>
                <a:latin typeface="Nunito" pitchFamily="34" charset="0"/>
                <a:ea typeface="Nunito" pitchFamily="34" charset="-122"/>
                <a:cs typeface="Nunito" pitchFamily="34" charset="-120"/>
              </a:rPr>
              <a:t>-0.6pp vs. consensus</a:t>
            </a:r>
            <a:endParaRPr lang="en-US" sz="720" dirty="0"/>
          </a:p>
        </p:txBody>
      </p:sp>
      <p:sp>
        <p:nvSpPr>
          <p:cNvPr id="33" name="Shape 29"/>
          <p:cNvSpPr/>
          <p:nvPr/>
        </p:nvSpPr>
        <p:spPr>
          <a:xfrm>
            <a:off x="5401818" y="3267278"/>
            <a:ext cx="0" cy="676656"/>
          </a:xfrm>
          <a:prstGeom prst="line">
            <a:avLst/>
          </a:prstGeom>
          <a:noFill/>
          <a:ln w="7620">
            <a:solidFill>
              <a:srgbClr val="D6D9DE"/>
            </a:solidFill>
            <a:prstDash val="solid"/>
          </a:ln>
        </p:spPr>
      </p:sp>
      <p:sp>
        <p:nvSpPr>
          <p:cNvPr id="34" name="Text 30"/>
          <p:cNvSpPr txBox="1"/>
          <p:nvPr/>
        </p:nvSpPr>
        <p:spPr>
          <a:xfrm>
            <a:off x="5511546" y="3349574"/>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Q4 revenue guide</a:t>
            </a:r>
            <a:endParaRPr lang="en-US" sz="720" dirty="0"/>
          </a:p>
        </p:txBody>
      </p:sp>
      <p:sp>
        <p:nvSpPr>
          <p:cNvPr id="35" name="Text 31"/>
          <p:cNvSpPr txBox="1"/>
          <p:nvPr/>
        </p:nvSpPr>
        <p:spPr>
          <a:xfrm>
            <a:off x="5511546" y="3495878"/>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53.3bn</a:t>
            </a:r>
            <a:endParaRPr lang="en-US" sz="1300" dirty="0"/>
          </a:p>
        </p:txBody>
      </p:sp>
      <p:sp>
        <p:nvSpPr>
          <p:cNvPr id="36" name="Text 32"/>
          <p:cNvSpPr txBox="1"/>
          <p:nvPr/>
        </p:nvSpPr>
        <p:spPr>
          <a:xfrm>
            <a:off x="5511546" y="3733622"/>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+5–8% vs. consensus</a:t>
            </a:r>
            <a:endParaRPr lang="en-US" sz="720" dirty="0"/>
          </a:p>
        </p:txBody>
      </p:sp>
      <p:sp>
        <p:nvSpPr>
          <p:cNvPr id="37" name="Text 33"/>
          <p:cNvSpPr txBox="1"/>
          <p:nvPr/>
        </p:nvSpPr>
        <p:spPr>
          <a:xfrm>
            <a:off x="539496" y="4062806"/>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AI now sets the pace, not the cycle</a:t>
            </a:r>
            <a:endParaRPr lang="en-US" sz="1100" dirty="0"/>
          </a:p>
        </p:txBody>
      </p:sp>
      <p:sp>
        <p:nvSpPr>
          <p:cNvPr id="38" name="Text 34"/>
          <p:cNvSpPr txBox="1"/>
          <p:nvPr/>
        </p:nvSpPr>
        <p:spPr>
          <a:xfrm>
            <a:off x="539496" y="4309694"/>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quarter matters less for the 3% beat than for what management said about the years ahead. Taiwan Semiconductor Manufacturing Company (TSMC) now expects revenue from artificial intelligence (AI) accelerators to grow faster than the mid-to-high 50s% annual pace it guided for 2024 to 2029, and plans to more than double its 2-nanometre (2nm) capacity in 2027. Demand is no longer the question: the debate has moved to how much of it reaches margins and free cash flow.</a:t>
            </a:r>
            <a:endParaRPr lang="en-US" sz="870" dirty="0"/>
          </a:p>
        </p:txBody>
      </p:sp>
      <p:sp>
        <p:nvSpPr>
          <p:cNvPr id="39" name="Text 35"/>
          <p:cNvSpPr txBox="1"/>
          <p:nvPr/>
        </p:nvSpPr>
        <p:spPr>
          <a:xfrm>
            <a:off x="539496" y="5035118"/>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1</a:t>
            </a:r>
            <a:pPr indent="0" marL="0">
              <a:buNone/>
            </a:pPr>
            <a:r>
              <a:rPr lang="en-US" sz="950" b="1" dirty="0">
                <a:solidFill>
                  <a:srgbClr val="202945"/>
                </a:solidFill>
                <a:latin typeface="Nunito" pitchFamily="34" charset="0"/>
                <a:ea typeface="Nunito" pitchFamily="34" charset="-122"/>
                <a:cs typeface="Nunito" pitchFamily="34" charset="-120"/>
              </a:rPr>
              <a:t> · TSM: everything beat except the margin</a:t>
            </a:r>
            <a:endParaRPr lang="en-US" sz="950" dirty="0"/>
          </a:p>
        </p:txBody>
      </p:sp>
      <p:sp>
        <p:nvSpPr>
          <p:cNvPr id="40" name="Text 36"/>
          <p:cNvSpPr txBox="1"/>
          <p:nvPr/>
        </p:nvSpPr>
        <p:spPr>
          <a:xfrm>
            <a:off x="539496" y="5217998"/>
            <a:ext cx="6483096" cy="237744"/>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Surprise vs. pre-results consensus in %, gross margin in percentage points · Q4 guide at its USD 53.3bn midpoint vs. prior consensus · EPS per ADR in USD at the 15 October exchange rate · Revenue and margin consensus approximate</a:t>
            </a:r>
            <a:endParaRPr lang="en-US" sz="720" dirty="0"/>
          </a:p>
        </p:txBody>
      </p:sp>
      <p:pic>
        <p:nvPicPr>
          <p:cNvPr id="41" name="Image 2" descr="/home/claude/out/c1_crop.png">    </p:cNvPr>
          <p:cNvPicPr>
            <a:picLocks noChangeAspect="1"/>
          </p:cNvPicPr>
          <p:nvPr/>
        </p:nvPicPr>
        <p:blipFill>
          <a:blip r:embed="rId3"/>
          <a:stretch>
            <a:fillRect/>
          </a:stretch>
        </p:blipFill>
        <p:spPr>
          <a:xfrm>
            <a:off x="1576791" y="5501462"/>
            <a:ext cx="4408505" cy="1375454"/>
          </a:xfrm>
          <a:prstGeom prst="rect">
            <a:avLst/>
          </a:prstGeom>
        </p:spPr>
      </p:pic>
      <p:sp>
        <p:nvSpPr>
          <p:cNvPr id="42" name="Text 37"/>
          <p:cNvSpPr txBox="1"/>
          <p:nvPr/>
        </p:nvSpPr>
        <p:spPr>
          <a:xfrm>
            <a:off x="539496" y="6931780"/>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pattern is clear: the top line beat, the margin slipped. Revenue and earnings per share (EPS) both beat consensus by about 3%, and the fourth-quarter guide sits around 6.5% above prior expectations, a 14% sequential step-up. The only miss was gross margin, 0.6 points short at 66.4%, entirely from the 2nm ramp, which should fade as yields improve.</a:t>
            </a:r>
            <a:endParaRPr lang="en-US" sz="870" dirty="0"/>
          </a:p>
        </p:txBody>
      </p:sp>
      <p:sp>
        <p:nvSpPr>
          <p:cNvPr id="43" name="Text 38"/>
          <p:cNvSpPr txBox="1"/>
          <p:nvPr/>
        </p:nvSpPr>
        <p:spPr>
          <a:xfrm>
            <a:off x="539496" y="7536884"/>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4" name="Text 39"/>
          <p:cNvSpPr txBox="1"/>
          <p:nvPr/>
        </p:nvSpPr>
        <p:spPr>
          <a:xfrm>
            <a:off x="539496" y="7783772"/>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We stay positive on TSMC and would add on weakness around the results. We underwrite US dollar revenue growth of 44% in 2026 and an AI business compounding at more than 50% a year; consensus 12-month forward EPS is already up 88% in a year. The debate has moved from demand to returns: capital spending of USD 60–64bn this year rises sharply in 2027 to 2028, and overseas fabs dilute gross margin by 3–4 points, which analysts expect pricing to cut to about 1 point. Tactically, the American depositary receipt (ADR) sits 13% below its 2 October record. The next test is the fourth-quarter release in mid-January 2027.</a:t>
            </a:r>
            <a:endParaRPr lang="en-US" sz="870" dirty="0"/>
          </a:p>
        </p:txBody>
      </p:sp>
      <p:sp>
        <p:nvSpPr>
          <p:cNvPr id="45" name="Shape 40"/>
          <p:cNvSpPr/>
          <p:nvPr/>
        </p:nvSpPr>
        <p:spPr>
          <a:xfrm>
            <a:off x="3781044" y="8859564"/>
            <a:ext cx="0" cy="985647"/>
          </a:xfrm>
          <a:prstGeom prst="line">
            <a:avLst/>
          </a:prstGeom>
          <a:noFill/>
          <a:ln w="7620">
            <a:solidFill>
              <a:srgbClr val="D6D9DE"/>
            </a:solidFill>
            <a:prstDash val="solid"/>
          </a:ln>
        </p:spPr>
      </p:sp>
      <p:sp>
        <p:nvSpPr>
          <p:cNvPr id="46" name="Text 41"/>
          <p:cNvSpPr txBox="1"/>
          <p:nvPr/>
        </p:nvSpPr>
        <p:spPr>
          <a:xfrm>
            <a:off x="539496" y="8859564"/>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strengthen our view</a:t>
            </a:r>
            <a:endParaRPr lang="en-US" sz="780" dirty="0"/>
          </a:p>
        </p:txBody>
      </p:sp>
      <p:sp>
        <p:nvSpPr>
          <p:cNvPr id="47" name="Text 42"/>
          <p:cNvSpPr txBox="1"/>
          <p:nvPr/>
        </p:nvSpPr>
        <p:spPr>
          <a:xfrm>
            <a:off x="539496" y="9051588"/>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Fourth-quarter gross margin at or above the 67% top of guidance in January; AI accelerator growth confirmed above the mid-to-high 50s% pace; 2nm yields fast enough to lift 2027 capacity beyond the planned doubling; subsidies or customer commitments funding the Dallas complex.</a:t>
            </a:r>
            <a:endParaRPr lang="en-US" sz="870" dirty="0"/>
          </a:p>
        </p:txBody>
      </p:sp>
      <p:sp>
        <p:nvSpPr>
          <p:cNvPr id="48" name="Text 43"/>
          <p:cNvSpPr txBox="1"/>
          <p:nvPr/>
        </p:nvSpPr>
        <p:spPr>
          <a:xfrm>
            <a:off x="3963924" y="8859564"/>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change our view</a:t>
            </a:r>
            <a:endParaRPr lang="en-US" sz="780" dirty="0"/>
          </a:p>
        </p:txBody>
      </p:sp>
      <p:sp>
        <p:nvSpPr>
          <p:cNvPr id="49" name="Text 44"/>
          <p:cNvSpPr txBox="1"/>
          <p:nvPr/>
        </p:nvSpPr>
        <p:spPr>
          <a:xfrm>
            <a:off x="3963924" y="9051588"/>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Gross margin below 65%, the bottom of the fourth-quarter guide, and staying there through the 2nm and A14 ramps; capital spending above USD 100bn in 2027 without matching revenue; higher US tariffs on chips; an AI derating that takes the multiple below its 16.9x average.</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15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274320"/>
          </a:xfrm>
          <a:prstGeom prst="rect">
            <a:avLst/>
          </a:prstGeom>
          <a:noFill/>
          <a:ln/>
        </p:spPr>
        <p:txBody>
          <a:bodyPr wrap="square" lIns="0" tIns="0" rIns="0" bIns="0" rtlCol="0" anchor="t"/>
          <a:lstStyle/>
          <a:p>
            <a:pPr indent="0" marL="0">
              <a:buNone/>
            </a:pPr>
            <a:r>
              <a:rPr lang="en-US" sz="1400" b="1" dirty="0">
                <a:solidFill>
                  <a:srgbClr val="202945"/>
                </a:solidFill>
                <a:latin typeface="Nunito" pitchFamily="34" charset="0"/>
                <a:ea typeface="Nunito" pitchFamily="34" charset="-122"/>
                <a:cs typeface="Nunito" pitchFamily="34" charset="-120"/>
              </a:rPr>
              <a:t>Beyond the key takeaways</a:t>
            </a:r>
            <a:endParaRPr lang="en-US" sz="1400" dirty="0"/>
          </a:p>
        </p:txBody>
      </p:sp>
      <p:sp>
        <p:nvSpPr>
          <p:cNvPr id="7" name="Text 3"/>
          <p:cNvSpPr txBox="1"/>
          <p:nvPr/>
        </p:nvSpPr>
        <p:spPr>
          <a:xfrm>
            <a:off x="539496" y="118414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volume beat, 2nm dented the margin</a:t>
            </a:r>
            <a:endParaRPr lang="en-US" sz="1100" dirty="0"/>
          </a:p>
        </p:txBody>
      </p:sp>
      <p:sp>
        <p:nvSpPr>
          <p:cNvPr id="8" name="Text 4"/>
          <p:cNvSpPr txBox="1"/>
          <p:nvPr/>
        </p:nvSpPr>
        <p:spPr>
          <a:xfrm>
            <a:off x="539496" y="1431036"/>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Third-quarter revenue of USD 46.7bn rose 16.2% quarter on quarter, above guidance, and 41% year on year, about 3% ahead of consensus. High-performance computing (HPC), smartphones and automotive led demand, and the strength was broad rather than a single product cycle. Operating leverage was strong: the operating margin reached 58.7%, ahead of expectations, and EPS of USD 4.54 per ADR beat the USD 4.43 consensus by 2.7% and rose 69% year on year, in line with net income. This is the third consecutive quarter of beat-and-raise, and it came with an upgrade to the multi-year AI outlook, with agentic AI named as an additional growth engine on top of the cloud AI build-out.</a:t>
            </a:r>
            <a:endParaRPr lang="en-US" sz="870" dirty="0"/>
          </a:p>
        </p:txBody>
      </p:sp>
      <p:sp>
        <p:nvSpPr>
          <p:cNvPr id="9" name="Text 5"/>
          <p:cNvSpPr txBox="1"/>
          <p:nvPr/>
        </p:nvSpPr>
        <p:spPr>
          <a:xfrm>
            <a:off x="539496" y="2470252"/>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Gross margin was the one soft line. At 66.4% it came in about 0.6 points below elevated expectations of 67% and 1.3 points below the 67.7% of the second quarter, a decline management attributes entirely to the dilution from the 2nm ramp. We read this as a cost of leadership rather than pricing pressure: the dilution was limited for a first-year node, and analysts see it as support for scarcity-driven pricing in 2027. Analyst estimates put 2026 return on equity near 44%, with a net cash balance sheet, so the margin step-down does not constrain the investment plan.</a:t>
            </a:r>
            <a:endParaRPr lang="en-US" sz="870" dirty="0"/>
          </a:p>
        </p:txBody>
      </p:sp>
      <p:sp>
        <p:nvSpPr>
          <p:cNvPr id="10" name="Text 6"/>
          <p:cNvSpPr txBox="1"/>
          <p:nvPr/>
        </p:nvSpPr>
        <p:spPr>
          <a:xfrm>
            <a:off x="539496" y="338914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capacity, not demand, is the limit</a:t>
            </a:r>
            <a:endParaRPr lang="en-US" sz="1100" dirty="0"/>
          </a:p>
        </p:txBody>
      </p:sp>
      <p:sp>
        <p:nvSpPr>
          <p:cNvPr id="11" name="Text 7"/>
          <p:cNvSpPr txBox="1"/>
          <p:nvPr/>
        </p:nvSpPr>
        <p:spPr>
          <a:xfrm>
            <a:off x="539496" y="3636035"/>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fourth-quarter guide of USD 52.3–54.3bn, with gross margin of 65–67%, implies 44% US dollar revenue growth for 2026. Capital spending stays at USD 60–64bn this year, but 2026 to 2028 spending is guided well above the USD 101bn of the previous three years; analyst estimates range from USD 80–85bn to USD 90bn for 2027 and reach USD 105bn for 2028. Capacity follows: 2nm more than doubles in 2027, Arizona Fab 2 (3nm) starts volume production in the third quarter of 2027, and a Dallas complex could take planned US investment to about USD 530bn. Overseas margin dilution rises from about 2 points in 2026 to 3–4 points in 2027.</a:t>
            </a:r>
            <a:endParaRPr lang="en-US" sz="870" dirty="0"/>
          </a:p>
        </p:txBody>
      </p:sp>
      <p:sp>
        <p:nvSpPr>
          <p:cNvPr id="12" name="Text 8"/>
          <p:cNvSpPr txBox="1"/>
          <p:nvPr/>
        </p:nvSpPr>
        <p:spPr>
          <a:xfrm>
            <a:off x="539496" y="471182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earnings did the work, not the multiple</a:t>
            </a:r>
            <a:endParaRPr lang="en-US" sz="1100" dirty="0"/>
          </a:p>
        </p:txBody>
      </p:sp>
      <p:sp>
        <p:nvSpPr>
          <p:cNvPr id="13" name="Text 9"/>
          <p:cNvSpPr txBox="1"/>
          <p:nvPr/>
        </p:nvSpPr>
        <p:spPr>
          <a:xfrm>
            <a:off x="539496" y="4958715"/>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2</a:t>
            </a:r>
            <a:pPr indent="0" marL="0">
              <a:buNone/>
            </a:pPr>
            <a:r>
              <a:rPr lang="en-US" sz="950" b="1" dirty="0">
                <a:solidFill>
                  <a:srgbClr val="202945"/>
                </a:solidFill>
                <a:latin typeface="Nunito" pitchFamily="34" charset="0"/>
                <a:ea typeface="Nunito" pitchFamily="34" charset="-122"/>
                <a:cs typeface="Nunito" pitchFamily="34" charset="-120"/>
              </a:rPr>
              <a:t> · TSM: share price vs. consensus earnings and valuation</a:t>
            </a:r>
            <a:endParaRPr lang="en-US" sz="950" dirty="0"/>
          </a:p>
        </p:txBody>
      </p:sp>
      <p:sp>
        <p:nvSpPr>
          <p:cNvPr id="14" name="Text 10"/>
          <p:cNvSpPr txBox="1"/>
          <p:nvPr/>
        </p:nvSpPr>
        <p:spPr>
          <a:xfrm>
            <a:off x="539496" y="5141595"/>
            <a:ext cx="6483096" cy="237744"/>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ADR in USD, weekly, January 2010 to 15 October 2026 · Bloomberg 12m-forward consensus EPS per ADR in USD, at Bloomberg’s implied exchange rate · 40-week simple moving average · Log scale · Last price is the 15 October (results day) print</a:t>
            </a:r>
            <a:endParaRPr lang="en-US" sz="720" dirty="0"/>
          </a:p>
        </p:txBody>
      </p:sp>
      <p:pic>
        <p:nvPicPr>
          <p:cNvPr id="15" name="Image 2" descr="/home/claude/out/c2_crop.png">    </p:cNvPr>
          <p:cNvPicPr>
            <a:picLocks noChangeAspect="1"/>
          </p:cNvPicPr>
          <p:nvPr/>
        </p:nvPicPr>
        <p:blipFill>
          <a:blip r:embed="rId3"/>
          <a:stretch>
            <a:fillRect/>
          </a:stretch>
        </p:blipFill>
        <p:spPr>
          <a:xfrm>
            <a:off x="928482" y="5425059"/>
            <a:ext cx="5705124" cy="3413946"/>
          </a:xfrm>
          <a:prstGeom prst="rect">
            <a:avLst/>
          </a:prstGeom>
        </p:spPr>
      </p:pic>
      <p:sp>
        <p:nvSpPr>
          <p:cNvPr id="16" name="Text 11"/>
          <p:cNvSpPr txBox="1"/>
          <p:nvPr/>
        </p:nvSpPr>
        <p:spPr>
          <a:xfrm>
            <a:off x="539496" y="8893869"/>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Over 12 months the ADR is up 46% to USD 411 while consensus 12-month forward EPS rose 88% to USD 20.8 per ADR, so the forward price-to-earnings ratio (P/E) fell from 25.3x to 19.7x. That is 16% above the 16.9x average since 2010, but below the one-year average of 23.3x and the 33.9x peak of February 2021. The price is 13% below its 2 October record and 3% above its 40-week moving average of USD 397. Analysts put the stock at about 16x 2027 earnings; a 10% upgrade at an unchanged price takes the multiple to 17.9x, near its average.</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15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881624"/>
            <a:ext cx="6483096" cy="182880"/>
          </a:xfrm>
          <a:prstGeom prst="rect">
            <a:avLst/>
          </a:prstGeom>
          <a:noFill/>
          <a:ln/>
        </p:spPr>
        <p:txBody>
          <a:bodyPr wrap="square" lIns="0" tIns="0" rIns="0" bIns="0" rtlCol="0" anchor="t"/>
          <a:lstStyle/>
          <a:p>
            <a:pPr indent="0" marL="0">
              <a:buNone/>
            </a:pPr>
            <a:r>
              <a:rPr lang="en-US" sz="680" b="1" dirty="0">
                <a:solidFill>
                  <a:srgbClr val="FF6C0E"/>
                </a:solidFill>
                <a:latin typeface="Nunito" pitchFamily="34" charset="0"/>
                <a:ea typeface="Nunito" pitchFamily="34" charset="-122"/>
                <a:cs typeface="Nunito" pitchFamily="34" charset="-120"/>
              </a:rPr>
              <a:t>SYZ</a:t>
            </a:r>
            <a:pPr indent="0" marL="0">
              <a:buNone/>
            </a:pPr>
            <a:r>
              <a:rPr lang="en-US" sz="680" b="1" dirty="0">
                <a:solidFill>
                  <a:srgbClr val="9AA0A8"/>
                </a:solidFill>
                <a:latin typeface="Nunito" pitchFamily="34" charset="0"/>
                <a:ea typeface="Nunito" pitchFamily="34" charset="-122"/>
                <a:cs typeface="Nunito" pitchFamily="34" charset="-120"/>
              </a:rPr>
              <a:t> Source: Syz Research, Bloomberg, company filings, analyst research notes of 15 October 2026</a:t>
            </a:r>
            <a:endParaRPr lang="en-US" sz="680" dirty="0"/>
          </a:p>
        </p:txBody>
      </p:sp>
      <p:sp>
        <p:nvSpPr>
          <p:cNvPr id="7" name="Text 3"/>
          <p:cNvSpPr txBox="1"/>
          <p:nvPr/>
        </p:nvSpPr>
        <p:spPr>
          <a:xfrm>
            <a:off x="539496" y="6210808"/>
            <a:ext cx="6483096" cy="182880"/>
          </a:xfrm>
          <a:prstGeom prst="rect">
            <a:avLst/>
          </a:prstGeom>
          <a:noFill/>
          <a:ln/>
        </p:spPr>
        <p:txBody>
          <a:bodyPr wrap="square" lIns="0" tIns="0" rIns="0" bIns="0" rtlCol="0" anchor="t"/>
          <a:lstStyle/>
          <a:p>
            <a:pPr indent="0" marL="0">
              <a:buNone/>
            </a:pPr>
            <a:r>
              <a:rPr lang="en-US" sz="680" b="1" spc="120" kern="0" dirty="0">
                <a:solidFill>
                  <a:srgbClr val="FF6C0E"/>
                </a:solidFill>
                <a:latin typeface="Nunito" pitchFamily="34" charset="0"/>
                <a:ea typeface="Nunito" pitchFamily="34" charset="-122"/>
                <a:cs typeface="Nunito" pitchFamily="34" charset="-120"/>
              </a:rPr>
              <a:t>Disclaimer</a:t>
            </a:r>
            <a:endParaRPr lang="en-US" sz="680" dirty="0"/>
          </a:p>
        </p:txBody>
      </p:sp>
      <p:sp>
        <p:nvSpPr>
          <p:cNvPr id="8" name="Text 4"/>
          <p:cNvSpPr txBox="1"/>
          <p:nvPr/>
        </p:nvSpPr>
        <p:spPr>
          <a:xfrm>
            <a:off x="539496" y="6393688"/>
            <a:ext cx="6483096" cy="538480"/>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680" dirty="0"/>
          </a:p>
        </p:txBody>
      </p:sp>
      <p:sp>
        <p:nvSpPr>
          <p:cNvPr id="9" name="Text 5"/>
          <p:cNvSpPr txBox="1"/>
          <p:nvPr/>
        </p:nvSpPr>
        <p:spPr>
          <a:xfrm>
            <a:off x="539496" y="6932168"/>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680" dirty="0"/>
          </a:p>
        </p:txBody>
      </p:sp>
      <p:sp>
        <p:nvSpPr>
          <p:cNvPr id="10" name="Text 6"/>
          <p:cNvSpPr txBox="1"/>
          <p:nvPr/>
        </p:nvSpPr>
        <p:spPr>
          <a:xfrm>
            <a:off x="539496" y="734974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680" dirty="0"/>
          </a:p>
        </p:txBody>
      </p:sp>
      <p:sp>
        <p:nvSpPr>
          <p:cNvPr id="11" name="Text 7"/>
          <p:cNvSpPr txBox="1"/>
          <p:nvPr/>
        </p:nvSpPr>
        <p:spPr>
          <a:xfrm>
            <a:off x="539496" y="7767320"/>
            <a:ext cx="6483096" cy="780288"/>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680" dirty="0"/>
          </a:p>
        </p:txBody>
      </p:sp>
      <p:sp>
        <p:nvSpPr>
          <p:cNvPr id="12" name="Text 8"/>
          <p:cNvSpPr txBox="1"/>
          <p:nvPr/>
        </p:nvSpPr>
        <p:spPr>
          <a:xfrm>
            <a:off x="539496" y="8547608"/>
            <a:ext cx="6483096" cy="296672"/>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680" dirty="0"/>
          </a:p>
        </p:txBody>
      </p:sp>
      <p:sp>
        <p:nvSpPr>
          <p:cNvPr id="13" name="Text 9"/>
          <p:cNvSpPr txBox="1"/>
          <p:nvPr/>
        </p:nvSpPr>
        <p:spPr>
          <a:xfrm>
            <a:off x="539496" y="8844280"/>
            <a:ext cx="6483096" cy="659384"/>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680" dirty="0"/>
          </a:p>
        </p:txBody>
      </p:sp>
      <p:sp>
        <p:nvSpPr>
          <p:cNvPr id="14" name="Text 10"/>
          <p:cNvSpPr txBox="1"/>
          <p:nvPr/>
        </p:nvSpPr>
        <p:spPr>
          <a:xfrm>
            <a:off x="539496" y="950366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TSMC Q3 2026: AI outruns capacity, margins are the debate</dc:title>
  <dc:subject>PptxGenJS Presentation</dc:subject>
  <dc:creator>Syz Research</dc:creator>
  <cp:lastModifiedBy>Syz Research</cp:lastModifiedBy>
  <cp:revision>1</cp:revision>
  <dcterms:created xsi:type="dcterms:W3CDTF">2026-10-15T14:38:00Z</dcterms:created>
  <dcterms:modified xsi:type="dcterms:W3CDTF">2026-10-15T14:38:00Z</dcterms:modified>
</cp:coreProperties>
</file>