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Logitech Q2 FY27: margin beat, then a margin reset</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28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“We can’t expect the company to continue to post gross margin rates of the tune of 45%. This is simply not reality, right?”</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Matteo Anversa, Chief Financial Officer, Q2 FY27 earnings call, 27 October 2026</a:t>
            </a:r>
            <a:endParaRPr lang="en-US" sz="700" dirty="0"/>
          </a:p>
        </p:txBody>
      </p:sp>
      <p:sp>
        <p:nvSpPr>
          <p:cNvPr id="12" name="Text 8"/>
          <p:cNvSpPr txBox="1"/>
          <p:nvPr/>
        </p:nvSpPr>
        <p:spPr>
          <a:xfrm>
            <a:off x="539496" y="2257933"/>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Logitech designs mice, keyboards, gaming gear and video-conferencing equipment for consumers and companies. Its fiscal year ends in March, so fiscal Q2 2027 covers July to September 2026. Quarterly sales: USD 1.22bn. SIX- and Nasdaq-listed.</a:t>
            </a:r>
            <a:endParaRPr lang="en-US" sz="870" dirty="0"/>
          </a:p>
        </p:txBody>
      </p:sp>
      <p:sp>
        <p:nvSpPr>
          <p:cNvPr id="13" name="Text 9"/>
          <p:cNvSpPr txBox="1"/>
          <p:nvPr/>
        </p:nvSpPr>
        <p:spPr>
          <a:xfrm>
            <a:off x="539496" y="286578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312638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310352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EPS USD 1.51, 15% above consensus; gross margin 45.2% against a guide of about 44%.</a:t>
            </a:r>
            <a:endParaRPr lang="en-US" sz="870" dirty="0"/>
          </a:p>
        </p:txBody>
      </p:sp>
      <p:sp>
        <p:nvSpPr>
          <p:cNvPr id="16" name="Text 12"/>
          <p:cNvSpPr txBox="1"/>
          <p:nvPr/>
        </p:nvSpPr>
        <p:spPr>
          <a:xfrm>
            <a:off x="539496" y="332900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17" name="Text 13"/>
          <p:cNvSpPr txBox="1"/>
          <p:nvPr/>
        </p:nvSpPr>
        <p:spPr>
          <a:xfrm>
            <a:off x="1133856" y="330614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down 10.5% in early trading on 28 October: the Q3 margin guide outweighed the beat.</a:t>
            </a:r>
            <a:endParaRPr lang="en-US" sz="870" dirty="0"/>
          </a:p>
        </p:txBody>
      </p:sp>
      <p:sp>
        <p:nvSpPr>
          <p:cNvPr id="18" name="Text 14"/>
          <p:cNvSpPr txBox="1"/>
          <p:nvPr/>
        </p:nvSpPr>
        <p:spPr>
          <a:xfrm>
            <a:off x="539496" y="3531616"/>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50875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Q3 (October to December) gross margin guided at 41% to 42%, about 200bp lower year on year.</a:t>
            </a:r>
            <a:endParaRPr lang="en-US" sz="870" dirty="0"/>
          </a:p>
        </p:txBody>
      </p:sp>
      <p:sp>
        <p:nvSpPr>
          <p:cNvPr id="20" name="Text 16"/>
          <p:cNvSpPr txBox="1"/>
          <p:nvPr/>
        </p:nvSpPr>
        <p:spPr>
          <a:xfrm>
            <a:off x="539496" y="3734232"/>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71137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17.5x forward earnings after the fall, 16% below the 2015 to 2026 average of 20.8x.</a:t>
            </a:r>
            <a:endParaRPr lang="en-US" sz="870" dirty="0"/>
          </a:p>
        </p:txBody>
      </p:sp>
      <p:sp>
        <p:nvSpPr>
          <p:cNvPr id="22" name="Shape 18"/>
          <p:cNvSpPr/>
          <p:nvPr/>
        </p:nvSpPr>
        <p:spPr>
          <a:xfrm>
            <a:off x="539496" y="3996284"/>
            <a:ext cx="6483096" cy="640080"/>
          </a:xfrm>
          <a:prstGeom prst="rect">
            <a:avLst/>
          </a:prstGeom>
          <a:solidFill>
            <a:srgbClr val="FFFFFF"/>
          </a:solidFill>
          <a:ln w="16510">
            <a:solidFill>
              <a:srgbClr val="202945"/>
            </a:solidFill>
            <a:prstDash val="solid"/>
          </a:ln>
        </p:spPr>
      </p:sp>
      <p:sp>
        <p:nvSpPr>
          <p:cNvPr id="23" name="Text 19"/>
          <p:cNvSpPr txBox="1"/>
          <p:nvPr/>
        </p:nvSpPr>
        <p:spPr>
          <a:xfrm>
            <a:off x="649224" y="4069436"/>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Adjusted EPS</a:t>
            </a:r>
            <a:endParaRPr lang="en-US" sz="700" dirty="0"/>
          </a:p>
        </p:txBody>
      </p:sp>
      <p:sp>
        <p:nvSpPr>
          <p:cNvPr id="24" name="Text 20"/>
          <p:cNvSpPr txBox="1"/>
          <p:nvPr/>
        </p:nvSpPr>
        <p:spPr>
          <a:xfrm>
            <a:off x="649224" y="4206596"/>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1.51</a:t>
            </a:r>
            <a:endParaRPr lang="en-US" sz="1100" dirty="0"/>
          </a:p>
        </p:txBody>
      </p:sp>
      <p:sp>
        <p:nvSpPr>
          <p:cNvPr id="25" name="Text 21"/>
          <p:cNvSpPr txBox="1"/>
          <p:nvPr/>
        </p:nvSpPr>
        <p:spPr>
          <a:xfrm>
            <a:off x="649224" y="4416908"/>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+15.3% vs. consensus</a:t>
            </a:r>
            <a:endParaRPr lang="en-US" sz="700" dirty="0"/>
          </a:p>
        </p:txBody>
      </p:sp>
      <p:sp>
        <p:nvSpPr>
          <p:cNvPr id="26" name="Shape 22"/>
          <p:cNvSpPr/>
          <p:nvPr/>
        </p:nvSpPr>
        <p:spPr>
          <a:xfrm>
            <a:off x="2160270" y="3996284"/>
            <a:ext cx="0" cy="640080"/>
          </a:xfrm>
          <a:prstGeom prst="line">
            <a:avLst/>
          </a:prstGeom>
          <a:noFill/>
          <a:ln w="7620">
            <a:solidFill>
              <a:srgbClr val="D6D9DE"/>
            </a:solidFill>
            <a:prstDash val="solid"/>
          </a:ln>
        </p:spPr>
      </p:sp>
      <p:sp>
        <p:nvSpPr>
          <p:cNvPr id="27" name="Text 23"/>
          <p:cNvSpPr txBox="1"/>
          <p:nvPr/>
        </p:nvSpPr>
        <p:spPr>
          <a:xfrm>
            <a:off x="2269998" y="4069436"/>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Sales</a:t>
            </a:r>
            <a:endParaRPr lang="en-US" sz="700" dirty="0"/>
          </a:p>
        </p:txBody>
      </p:sp>
      <p:sp>
        <p:nvSpPr>
          <p:cNvPr id="28" name="Text 24"/>
          <p:cNvSpPr txBox="1"/>
          <p:nvPr/>
        </p:nvSpPr>
        <p:spPr>
          <a:xfrm>
            <a:off x="2269998" y="4206596"/>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1.22bn</a:t>
            </a:r>
            <a:endParaRPr lang="en-US" sz="1100" dirty="0"/>
          </a:p>
        </p:txBody>
      </p:sp>
      <p:sp>
        <p:nvSpPr>
          <p:cNvPr id="29" name="Text 25"/>
          <p:cNvSpPr txBox="1"/>
          <p:nvPr/>
        </p:nvSpPr>
        <p:spPr>
          <a:xfrm>
            <a:off x="2269998" y="4416908"/>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+0.6% vs. consensus</a:t>
            </a:r>
            <a:endParaRPr lang="en-US" sz="700" dirty="0"/>
          </a:p>
        </p:txBody>
      </p:sp>
      <p:sp>
        <p:nvSpPr>
          <p:cNvPr id="30" name="Shape 26"/>
          <p:cNvSpPr/>
          <p:nvPr/>
        </p:nvSpPr>
        <p:spPr>
          <a:xfrm>
            <a:off x="3781044" y="3996284"/>
            <a:ext cx="0" cy="640080"/>
          </a:xfrm>
          <a:prstGeom prst="line">
            <a:avLst/>
          </a:prstGeom>
          <a:noFill/>
          <a:ln w="7620">
            <a:solidFill>
              <a:srgbClr val="D6D9DE"/>
            </a:solidFill>
            <a:prstDash val="solid"/>
          </a:ln>
        </p:spPr>
      </p:sp>
      <p:sp>
        <p:nvSpPr>
          <p:cNvPr id="31" name="Text 27"/>
          <p:cNvSpPr txBox="1"/>
          <p:nvPr/>
        </p:nvSpPr>
        <p:spPr>
          <a:xfrm>
            <a:off x="3890772" y="4069436"/>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Gross margin</a:t>
            </a:r>
            <a:endParaRPr lang="en-US" sz="700" dirty="0"/>
          </a:p>
        </p:txBody>
      </p:sp>
      <p:sp>
        <p:nvSpPr>
          <p:cNvPr id="32" name="Text 28"/>
          <p:cNvSpPr txBox="1"/>
          <p:nvPr/>
        </p:nvSpPr>
        <p:spPr>
          <a:xfrm>
            <a:off x="3890772" y="4206596"/>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45.2%</a:t>
            </a:r>
            <a:endParaRPr lang="en-US" sz="1100" dirty="0"/>
          </a:p>
        </p:txBody>
      </p:sp>
      <p:sp>
        <p:nvSpPr>
          <p:cNvPr id="33" name="Text 29"/>
          <p:cNvSpPr txBox="1"/>
          <p:nvPr/>
        </p:nvSpPr>
        <p:spPr>
          <a:xfrm>
            <a:off x="3890772" y="4416908"/>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About +120bp vs. guide</a:t>
            </a:r>
            <a:endParaRPr lang="en-US" sz="700" dirty="0"/>
          </a:p>
        </p:txBody>
      </p:sp>
      <p:sp>
        <p:nvSpPr>
          <p:cNvPr id="34" name="Shape 30"/>
          <p:cNvSpPr/>
          <p:nvPr/>
        </p:nvSpPr>
        <p:spPr>
          <a:xfrm>
            <a:off x="5401818" y="3996284"/>
            <a:ext cx="0" cy="640080"/>
          </a:xfrm>
          <a:prstGeom prst="line">
            <a:avLst/>
          </a:prstGeom>
          <a:noFill/>
          <a:ln w="7620">
            <a:solidFill>
              <a:srgbClr val="D6D9DE"/>
            </a:solidFill>
            <a:prstDash val="solid"/>
          </a:ln>
        </p:spPr>
      </p:sp>
      <p:sp>
        <p:nvSpPr>
          <p:cNvPr id="35" name="Text 31"/>
          <p:cNvSpPr txBox="1"/>
          <p:nvPr/>
        </p:nvSpPr>
        <p:spPr>
          <a:xfrm>
            <a:off x="5511546" y="4069436"/>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Oct–Dec margin guide</a:t>
            </a:r>
            <a:endParaRPr lang="en-US" sz="700" dirty="0"/>
          </a:p>
        </p:txBody>
      </p:sp>
      <p:sp>
        <p:nvSpPr>
          <p:cNvPr id="36" name="Text 32"/>
          <p:cNvSpPr txBox="1"/>
          <p:nvPr/>
        </p:nvSpPr>
        <p:spPr>
          <a:xfrm>
            <a:off x="5511546" y="4206596"/>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41–42%</a:t>
            </a:r>
            <a:endParaRPr lang="en-US" sz="1100" dirty="0"/>
          </a:p>
        </p:txBody>
      </p:sp>
      <p:sp>
        <p:nvSpPr>
          <p:cNvPr id="37" name="Text 33"/>
          <p:cNvSpPr txBox="1"/>
          <p:nvPr/>
        </p:nvSpPr>
        <p:spPr>
          <a:xfrm>
            <a:off x="5511546" y="4416908"/>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About 370bp below Q2</a:t>
            </a:r>
            <a:endParaRPr lang="en-US" sz="700" dirty="0"/>
          </a:p>
        </p:txBody>
      </p:sp>
      <p:sp>
        <p:nvSpPr>
          <p:cNvPr id="38" name="Text 34"/>
          <p:cNvSpPr txBox="1"/>
          <p:nvPr/>
        </p:nvSpPr>
        <p:spPr>
          <a:xfrm>
            <a:off x="539496" y="475523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9" name="Text 35"/>
          <p:cNvSpPr txBox="1"/>
          <p:nvPr/>
        </p:nvSpPr>
        <p:spPr>
          <a:xfrm>
            <a:off x="539496" y="5002124"/>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Earnings per share beat consensus by 15% and sales by 0.6%, yet the shares fell 10.5% in early trading on 28 October. The guide is the news: October to December sales are guided 6% above consensus, but gross margin falls to 41% to 42% from 45.2%, and management expects cost pressure to last until March.</a:t>
            </a:r>
            <a:endParaRPr lang="en-US" sz="870" dirty="0"/>
          </a:p>
        </p:txBody>
      </p:sp>
      <p:sp>
        <p:nvSpPr>
          <p:cNvPr id="40" name="Text 36"/>
          <p:cNvSpPr txBox="1"/>
          <p:nvPr/>
        </p:nvSpPr>
        <p:spPr>
          <a:xfrm>
            <a:off x="539496" y="5570652"/>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LOGN: Q2 FY27 results and Q3 guide vs. consensus</a:t>
            </a:r>
            <a:endParaRPr lang="en-US" sz="870" dirty="0"/>
          </a:p>
        </p:txBody>
      </p:sp>
      <p:sp>
        <p:nvSpPr>
          <p:cNvPr id="41" name="Text 37"/>
          <p:cNvSpPr txBox="1"/>
          <p:nvPr/>
        </p:nvSpPr>
        <p:spPr>
          <a:xfrm>
            <a:off x="539496" y="5744388"/>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Fiscal Q2 = Jul–Sep 2026, Q3 = Oct–Dec 2026 · surprise in % · guide = range midpoint · Q3 operating income consensus from analyst first takes</a:t>
            </a:r>
            <a:endParaRPr lang="en-US" sz="700" dirty="0"/>
          </a:p>
        </p:txBody>
      </p:sp>
      <p:pic>
        <p:nvPicPr>
          <p:cNvPr id="42" name="Image 2" descr="/home/claude/logn/c1_crop.png">    </p:cNvPr>
          <p:cNvPicPr>
            <a:picLocks noChangeAspect="1"/>
          </p:cNvPicPr>
          <p:nvPr/>
        </p:nvPicPr>
        <p:blipFill>
          <a:blip r:embed="rId3"/>
          <a:stretch>
            <a:fillRect/>
          </a:stretch>
        </p:blipFill>
        <p:spPr>
          <a:xfrm>
            <a:off x="1641622" y="5905678"/>
            <a:ext cx="4278843" cy="1334999"/>
          </a:xfrm>
          <a:prstGeom prst="rect">
            <a:avLst/>
          </a:prstGeom>
        </p:spPr>
      </p:pic>
      <p:sp>
        <p:nvSpPr>
          <p:cNvPr id="43" name="Text 38"/>
          <p:cNvSpPr txBox="1"/>
          <p:nvPr/>
        </p:nvSpPr>
        <p:spPr>
          <a:xfrm>
            <a:off x="539496" y="7295541"/>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Chart 1 shows why a clean beat did not carry the day. The second-quarter surprises are large, and the third-quarter sales guide is 6% above consensus because the supplier hit shrank to USD 70m to 80m. Yet the operating income guide sits 0.7% below consensus: higher sales at a lower margin earn nothing extra.</a:t>
            </a:r>
            <a:endParaRPr lang="en-US" sz="870" dirty="0"/>
          </a:p>
        </p:txBody>
      </p:sp>
      <p:sp>
        <p:nvSpPr>
          <p:cNvPr id="44" name="Text 39"/>
          <p:cNvSpPr txBox="1"/>
          <p:nvPr/>
        </p:nvSpPr>
        <p:spPr>
          <a:xfrm>
            <a:off x="539496" y="790064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539496" y="814753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 frustrating quarter: operationally very strong, with share gains and a gross margin well ahead of guidance despite weak PC and European markets, but overshadowed by an inflation-clouded outlook. The fundamental case is therefore exposed to exogenous factors. If freight and component inflation persists beyond March 2027, the fiscal year-end, it would cap the potential for the Swiss-based company. Any easing in inflation would benefit Logitech through logistics and component costs. We would wait for that signal before adding; the next test is the January release.</a:t>
            </a:r>
            <a:endParaRPr lang="en-US" sz="870" dirty="0"/>
          </a:p>
        </p:txBody>
      </p:sp>
      <p:sp>
        <p:nvSpPr>
          <p:cNvPr id="46" name="Shape 41"/>
          <p:cNvSpPr/>
          <p:nvPr/>
        </p:nvSpPr>
        <p:spPr>
          <a:xfrm>
            <a:off x="3781044" y="9066429"/>
            <a:ext cx="0" cy="828751"/>
          </a:xfrm>
          <a:prstGeom prst="line">
            <a:avLst/>
          </a:prstGeom>
          <a:noFill/>
          <a:ln w="7620">
            <a:solidFill>
              <a:srgbClr val="D6D9DE"/>
            </a:solidFill>
            <a:prstDash val="solid"/>
          </a:ln>
        </p:spPr>
      </p:sp>
      <p:sp>
        <p:nvSpPr>
          <p:cNvPr id="47" name="Text 42"/>
          <p:cNvSpPr txBox="1"/>
          <p:nvPr/>
        </p:nvSpPr>
        <p:spPr>
          <a:xfrm>
            <a:off x="539496" y="9066429"/>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8" name="Text 43"/>
          <p:cNvSpPr txBox="1"/>
          <p:nvPr/>
        </p:nvSpPr>
        <p:spPr>
          <a:xfrm>
            <a:off x="539496" y="9258453"/>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January to March gross margin back above 43% as freight eases; price increases that offset component costs; Video Collaboration growth above 10%; Europe returning to growth after EMEA fell 6% in the second quarter.</a:t>
            </a:r>
            <a:endParaRPr lang="en-US" sz="870" dirty="0"/>
          </a:p>
        </p:txBody>
      </p:sp>
      <p:sp>
        <p:nvSpPr>
          <p:cNvPr id="49" name="Text 44"/>
          <p:cNvSpPr txBox="1"/>
          <p:nvPr/>
        </p:nvSpPr>
        <p:spPr>
          <a:xfrm>
            <a:off x="3963924" y="9066429"/>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0" name="Text 45"/>
          <p:cNvSpPr txBox="1"/>
          <p:nvPr/>
        </p:nvSpPr>
        <p:spPr>
          <a:xfrm>
            <a:off x="3963924" y="9258453"/>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October to December gross margin below 41%, or a further cut for January to March; a full-year operating margin below 18%; the supplier shortfall running into 2027; promotions costing more than the 50bp guided.</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mix and price drove the beat</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Sales rose 2% in constant currency to USD 1.22bn, inside the 0% to 3% guide; excluding the supplier incident and the Middle East, underlying growth was about 4%. Video Collaboration grew 12%, 60% from price and 40% from units, Gaming 7%, and pointing devices and keyboards 4% while PC shipments fell about 20%. The Americas grew 13%, Asia Pacific fell 2% against a large Japanese education deal and EMEA fell 6%. Gross margin of 45.2%, up 140bp, beat the guide by about 120bp on mix, premium products and lighter promotions. Non-GAAP operating income of USD 231m was USD 21m above the top of the USD 185m to 210m guide.</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 15% earnings beat met a 10.5% fall in early trading on 28 October: surprise and reaction diverge. The confirmed drivers sit in the guide: third-quarter gross margin of 41% to 42%, about 200bp lower year on year, of which 150bp from freight and materials and 50bp from promotions; an operating income midpoint of USD 238m, 0.7% below consensus according to analyst first takes; and a CFO who called a 45% gross margin unrealistic while inflation lasts. Positioning added to the move, in our reading: the shares had risen 12% in the two weeks before the release, to 19.4x forward earnings.</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sales resilient, margins step down</a:t>
            </a:r>
            <a:endParaRPr lang="en-US" sz="1100" dirty="0"/>
          </a:p>
        </p:txBody>
      </p:sp>
      <p:sp>
        <p:nvSpPr>
          <p:cNvPr id="11" name="Text 7"/>
          <p:cNvSpPr txBox="1"/>
          <p:nvPr/>
        </p:nvSpPr>
        <p:spPr>
          <a:xfrm>
            <a:off x="539496" y="3690899"/>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For October to December, sales are guided at USD 1,360m to 1,430m, down 5% to flat in constant currency. Management puts about 5 points of drag on the supplier incident, now USD 70m to 80m, and about 1 point on the Middle East, so underlying demand runs near +4%. Operating income is guided at USD 220m to 255m. The supplier impact should be largely resolved in the fourth quarter, but freight and component inflation is expected to persist through year-end. The full-year non-GAAP operating margin is still guided to the high end of 15% to 18%, even excluding the USD 61m of tariff refunds.</a:t>
            </a:r>
            <a:endParaRPr lang="en-US" sz="870" dirty="0"/>
          </a:p>
        </p:txBody>
      </p:sp>
      <p:sp>
        <p:nvSpPr>
          <p:cNvPr id="12" name="Text 8"/>
          <p:cNvSpPr txBox="1"/>
          <p:nvPr/>
        </p:nvSpPr>
        <p:spPr>
          <a:xfrm>
            <a:off x="539496" y="460979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de-rating has done the work</a:t>
            </a:r>
            <a:endParaRPr lang="en-US" sz="1100" dirty="0"/>
          </a:p>
        </p:txBody>
      </p:sp>
      <p:sp>
        <p:nvSpPr>
          <p:cNvPr id="13" name="Text 9"/>
          <p:cNvSpPr txBox="1"/>
          <p:nvPr/>
        </p:nvSpPr>
        <p:spPr>
          <a:xfrm>
            <a:off x="539496" y="4856683"/>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LOGN: share price vs. consensus earnings and valuation</a:t>
            </a:r>
            <a:endParaRPr lang="en-US" sz="870" dirty="0"/>
          </a:p>
        </p:txBody>
      </p:sp>
      <p:sp>
        <p:nvSpPr>
          <p:cNvPr id="14" name="Text 10"/>
          <p:cNvSpPr txBox="1"/>
          <p:nvPr/>
        </p:nvSpPr>
        <p:spPr>
          <a:xfrm>
            <a:off x="539496" y="5030419"/>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since 2015 · 12m-forward consensus EPS in CHF (price / P/E) · 40-week MA · log scale · last price 28 Oct, early trading</a:t>
            </a:r>
            <a:endParaRPr lang="en-US" sz="700" dirty="0"/>
          </a:p>
        </p:txBody>
      </p:sp>
      <p:pic>
        <p:nvPicPr>
          <p:cNvPr id="15" name="Image 2" descr="/home/claude/logn/c2_crop.png">    </p:cNvPr>
          <p:cNvPicPr>
            <a:picLocks noChangeAspect="1"/>
          </p:cNvPicPr>
          <p:nvPr/>
        </p:nvPicPr>
        <p:blipFill>
          <a:blip r:embed="rId3"/>
          <a:stretch>
            <a:fillRect/>
          </a:stretch>
        </p:blipFill>
        <p:spPr>
          <a:xfrm>
            <a:off x="928482" y="5191709"/>
            <a:ext cx="5705124" cy="3413946"/>
          </a:xfrm>
          <a:prstGeom prst="rect">
            <a:avLst/>
          </a:prstGeom>
        </p:spPr>
      </p:pic>
      <p:sp>
        <p:nvSpPr>
          <p:cNvPr id="16" name="Text 11"/>
          <p:cNvSpPr txBox="1"/>
          <p:nvPr/>
        </p:nvSpPr>
        <p:spPr>
          <a:xfrm>
            <a:off x="539496" y="8660520"/>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 price is down 7% over 12 months while consensus 12m-forward EPS in Swiss francs is up 20%, so the multiple has absorbed the disappointment: the forward P/E has fallen from 22.6x a year ago to 17.5x, 16% below its 20.8x average since 2015 and below the one-year average of 18.2x. Before the release it stood at 19.4x. The price remains 3% above its 40-week moving average of CHF 80.0 and 19% below the June high of CHF 101.15. A return to the long-run average on unchanged earnings would imply a share price near CHF 98.</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Logitech Q2 FY27 results and earnings call of 27 October 2026, analyst research notes of 28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Logitech Q2 FY27: margin beat, then a margin reset</dc:title>
  <dc:subject>PptxGenJS Presentation</dc:subject>
  <dc:creator>Syz Research</dc:creator>
  <cp:lastModifiedBy>Syz Research</cp:lastModifiedBy>
  <cp:revision>1</cp:revision>
  <dcterms:created xsi:type="dcterms:W3CDTF">2026-10-28T10:31:56Z</dcterms:created>
  <dcterms:modified xsi:type="dcterms:W3CDTF">2026-10-28T10:31:56Z</dcterms:modified>
</cp:coreProperties>
</file>