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22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64592"/>
          </a:xfrm>
          <a:prstGeom prst="rect">
            <a:avLst/>
          </a:prstGeom>
          <a:noFill/>
          <a:ln/>
        </p:spPr>
        <p:txBody>
          <a:bodyPr wrap="square" lIns="0" tIns="0" rIns="0" bIns="0" rtlCol="0" anchor="t"/>
          <a:lstStyle/>
          <a:p>
            <a:pPr indent="0" marL="0">
              <a:buNone/>
            </a:pPr>
            <a:r>
              <a:rPr lang="en-US" sz="800" b="1" spc="120" kern="0" dirty="0">
                <a:solidFill>
                  <a:srgbClr val="FF6C0E"/>
                </a:solidFill>
                <a:latin typeface="Nunito" pitchFamily="34" charset="0"/>
                <a:ea typeface="Nunito" pitchFamily="34" charset="-122"/>
                <a:cs typeface="Nunito" pitchFamily="34" charset="-120"/>
              </a:rPr>
              <a:t>Earnings update · Industrial machinery</a:t>
            </a:r>
            <a:endParaRPr lang="en-US" sz="800" dirty="0"/>
          </a:p>
        </p:txBody>
      </p:sp>
      <p:sp>
        <p:nvSpPr>
          <p:cNvPr id="7" name="Text 3"/>
          <p:cNvSpPr txBox="1"/>
          <p:nvPr/>
        </p:nvSpPr>
        <p:spPr>
          <a:xfrm>
            <a:off x="539496" y="1028700"/>
            <a:ext cx="6483096" cy="263398"/>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Atlas Copco Q3 2026: vacuum boom, compressor squeeze</a:t>
            </a:r>
            <a:endParaRPr lang="en-US" sz="1700" dirty="0"/>
          </a:p>
        </p:txBody>
      </p:sp>
      <p:sp>
        <p:nvSpPr>
          <p:cNvPr id="8" name="Text 4"/>
          <p:cNvSpPr txBox="1"/>
          <p:nvPr/>
        </p:nvSpPr>
        <p:spPr>
          <a:xfrm>
            <a:off x="539496" y="1328674"/>
            <a:ext cx="6483096" cy="164592"/>
          </a:xfrm>
          <a:prstGeom prst="rect">
            <a:avLst/>
          </a:prstGeom>
          <a:noFill/>
          <a:ln/>
        </p:spPr>
        <p:txBody>
          <a:bodyPr wrap="square" lIns="0" tIns="0" rIns="0" bIns="0" rtlCol="0" anchor="t"/>
          <a:lstStyle/>
          <a:p>
            <a:pPr indent="0" marL="0">
              <a:buNone/>
            </a:pPr>
            <a:r>
              <a:rPr lang="en-US" sz="850" b="1" dirty="0">
                <a:solidFill>
                  <a:srgbClr val="6B7280"/>
                </a:solidFill>
                <a:latin typeface="Nunito" pitchFamily="34" charset="0"/>
                <a:ea typeface="Nunito" pitchFamily="34" charset="-122"/>
                <a:cs typeface="Nunito" pitchFamily="34" charset="-120"/>
              </a:rPr>
              <a:t>22 October 2026 · Syz Research</a:t>
            </a:r>
            <a:endParaRPr lang="en-US" sz="850" dirty="0"/>
          </a:p>
        </p:txBody>
      </p:sp>
      <p:sp>
        <p:nvSpPr>
          <p:cNvPr id="9" name="Shape 5"/>
          <p:cNvSpPr/>
          <p:nvPr/>
        </p:nvSpPr>
        <p:spPr>
          <a:xfrm>
            <a:off x="539496" y="1612138"/>
            <a:ext cx="42977" cy="573786"/>
          </a:xfrm>
          <a:prstGeom prst="rect">
            <a:avLst/>
          </a:prstGeom>
          <a:solidFill>
            <a:srgbClr val="FF6C0E"/>
          </a:solidFill>
          <a:ln w="12700">
            <a:solidFill>
              <a:srgbClr val="FF6C0E"/>
            </a:solidFill>
            <a:prstDash val="solid"/>
          </a:ln>
        </p:spPr>
      </p:sp>
      <p:sp>
        <p:nvSpPr>
          <p:cNvPr id="10" name="Text 6"/>
          <p:cNvSpPr txBox="1"/>
          <p:nvPr/>
        </p:nvSpPr>
        <p:spPr>
          <a:xfrm>
            <a:off x="722376" y="1630426"/>
            <a:ext cx="6300216" cy="336042"/>
          </a:xfrm>
          <a:prstGeom prst="rect">
            <a:avLst/>
          </a:prstGeom>
          <a:noFill/>
          <a:ln/>
        </p:spPr>
        <p:txBody>
          <a:bodyPr wrap="square" lIns="0" tIns="0" rIns="0" bIns="0" rtlCol="0" anchor="t"/>
          <a:lstStyle/>
          <a:p>
            <a:pPr indent="0" marL="0">
              <a:lnSpc>
                <a:spcPct val="112500"/>
              </a:lnSpc>
              <a:buNone/>
            </a:pPr>
            <a:r>
              <a:rPr lang="en-US" sz="980" b="1" dirty="0">
                <a:solidFill>
                  <a:srgbClr val="202945"/>
                </a:solidFill>
                <a:latin typeface="Nunito" pitchFamily="34" charset="0"/>
                <a:ea typeface="Nunito" pitchFamily="34" charset="-122"/>
                <a:cs typeface="Nunito" pitchFamily="34" charset="-120"/>
              </a:rPr>
              <a:t>“What we see now with the semi customers, the biggest priority now is that we focus on output. And I think the biggest discussions between ourselves and our customers is output, output.”</a:t>
            </a:r>
            <a:endParaRPr lang="en-US" sz="980" dirty="0"/>
          </a:p>
        </p:txBody>
      </p:sp>
      <p:sp>
        <p:nvSpPr>
          <p:cNvPr id="11" name="Text 7"/>
          <p:cNvSpPr txBox="1"/>
          <p:nvPr/>
        </p:nvSpPr>
        <p:spPr>
          <a:xfrm>
            <a:off x="722376" y="2003044"/>
            <a:ext cx="6300216" cy="155448"/>
          </a:xfrm>
          <a:prstGeom prst="rect">
            <a:avLst/>
          </a:prstGeom>
          <a:noFill/>
          <a:ln/>
        </p:spPr>
        <p:txBody>
          <a:bodyPr wrap="square" lIns="0" tIns="0" rIns="0" bIns="0" rtlCol="0" anchor="t"/>
          <a:lstStyle/>
          <a:p>
            <a:pPr indent="0" marL="0">
              <a:buNone/>
            </a:pPr>
            <a:r>
              <a:rPr lang="en-US" sz="760" b="1" dirty="0">
                <a:solidFill>
                  <a:srgbClr val="6B7280"/>
                </a:solidFill>
                <a:latin typeface="Nunito" pitchFamily="34" charset="0"/>
                <a:ea typeface="Nunito" pitchFamily="34" charset="-122"/>
                <a:cs typeface="Nunito" pitchFamily="34" charset="-120"/>
              </a:rPr>
              <a:t>Vagner Rego, President and CEO, Q3 2026 earnings call, 22 October 2026</a:t>
            </a:r>
            <a:endParaRPr lang="en-US" sz="760" dirty="0"/>
          </a:p>
        </p:txBody>
      </p:sp>
      <p:sp>
        <p:nvSpPr>
          <p:cNvPr id="12" name="Text 8"/>
          <p:cNvSpPr txBox="1"/>
          <p:nvPr/>
        </p:nvSpPr>
        <p:spPr>
          <a:xfrm>
            <a:off x="539496" y="2304796"/>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3" name="Text 9"/>
          <p:cNvSpPr txBox="1"/>
          <p:nvPr/>
        </p:nvSpPr>
        <p:spPr>
          <a:xfrm>
            <a:off x="539496" y="2565400"/>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Beat</a:t>
            </a:r>
            <a:endParaRPr lang="en-US" sz="700" dirty="0"/>
          </a:p>
        </p:txBody>
      </p:sp>
      <p:sp>
        <p:nvSpPr>
          <p:cNvPr id="14" name="Text 10"/>
          <p:cNvSpPr txBox="1"/>
          <p:nvPr/>
        </p:nvSpPr>
        <p:spPr>
          <a:xfrm>
            <a:off x="1133856" y="2542540"/>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Organic orders rose 25% against 20% expected, lifted by an 82% jump in vacuum for chipmakers.</a:t>
            </a:r>
            <a:endParaRPr lang="en-US" sz="870" dirty="0"/>
          </a:p>
        </p:txBody>
      </p:sp>
      <p:sp>
        <p:nvSpPr>
          <p:cNvPr id="15" name="Text 11"/>
          <p:cNvSpPr txBox="1"/>
          <p:nvPr/>
        </p:nvSpPr>
        <p:spPr>
          <a:xfrm>
            <a:off x="539496" y="2768016"/>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Watch</a:t>
            </a:r>
            <a:endParaRPr lang="en-US" sz="700" dirty="0"/>
          </a:p>
        </p:txBody>
      </p:sp>
      <p:sp>
        <p:nvSpPr>
          <p:cNvPr id="16" name="Text 12"/>
          <p:cNvSpPr txBox="1"/>
          <p:nvPr/>
        </p:nvSpPr>
        <p:spPr>
          <a:xfrm>
            <a:off x="1133856" y="2745156"/>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The compressor margin fell to 23.6% from 25.3%: currency, mix and costlier components hit the core.</a:t>
            </a:r>
            <a:endParaRPr lang="en-US" sz="870" dirty="0"/>
          </a:p>
        </p:txBody>
      </p:sp>
      <p:sp>
        <p:nvSpPr>
          <p:cNvPr id="17" name="Text 13"/>
          <p:cNvSpPr txBox="1"/>
          <p:nvPr/>
        </p:nvSpPr>
        <p:spPr>
          <a:xfrm>
            <a:off x="539496" y="2970632"/>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Outlook</a:t>
            </a:r>
            <a:endParaRPr lang="en-US" sz="700" dirty="0"/>
          </a:p>
        </p:txBody>
      </p:sp>
      <p:sp>
        <p:nvSpPr>
          <p:cNvPr id="18" name="Text 14"/>
          <p:cNvSpPr txBox="1"/>
          <p:nvPr/>
        </p:nvSpPr>
        <p:spPr>
          <a:xfrm>
            <a:off x="1133856" y="2947772"/>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Activity is seen stable, but chip orders after a record quarter are hard to call into Q4.</a:t>
            </a:r>
            <a:endParaRPr lang="en-US" sz="870" dirty="0"/>
          </a:p>
        </p:txBody>
      </p:sp>
      <p:sp>
        <p:nvSpPr>
          <p:cNvPr id="19" name="Text 15"/>
          <p:cNvSpPr txBox="1"/>
          <p:nvPr/>
        </p:nvSpPr>
        <p:spPr>
          <a:xfrm>
            <a:off x="539496" y="3173247"/>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20" name="Text 16"/>
          <p:cNvSpPr txBox="1"/>
          <p:nvPr/>
        </p:nvSpPr>
        <p:spPr>
          <a:xfrm>
            <a:off x="1133856" y="3150387"/>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The shares fell 7.1% to 29.2x forward earnings, below their one-year average of 31.0x.</a:t>
            </a:r>
            <a:endParaRPr lang="en-US" sz="870" dirty="0"/>
          </a:p>
        </p:txBody>
      </p:sp>
      <p:sp>
        <p:nvSpPr>
          <p:cNvPr id="21" name="Shape 17"/>
          <p:cNvSpPr/>
          <p:nvPr/>
        </p:nvSpPr>
        <p:spPr>
          <a:xfrm>
            <a:off x="539496" y="3435299"/>
            <a:ext cx="6483096" cy="676656"/>
          </a:xfrm>
          <a:prstGeom prst="rect">
            <a:avLst/>
          </a:prstGeom>
          <a:solidFill>
            <a:srgbClr val="FFFFFF"/>
          </a:solidFill>
          <a:ln w="16510">
            <a:solidFill>
              <a:srgbClr val="202945"/>
            </a:solidFill>
            <a:prstDash val="solid"/>
          </a:ln>
        </p:spPr>
      </p:sp>
      <p:sp>
        <p:nvSpPr>
          <p:cNvPr id="22" name="Text 18"/>
          <p:cNvSpPr txBox="1"/>
          <p:nvPr/>
        </p:nvSpPr>
        <p:spPr>
          <a:xfrm>
            <a:off x="649224" y="3517595"/>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Orders received</a:t>
            </a:r>
            <a:endParaRPr lang="en-US" sz="720" dirty="0"/>
          </a:p>
        </p:txBody>
      </p:sp>
      <p:sp>
        <p:nvSpPr>
          <p:cNvPr id="23" name="Text 19"/>
          <p:cNvSpPr txBox="1"/>
          <p:nvPr/>
        </p:nvSpPr>
        <p:spPr>
          <a:xfrm>
            <a:off x="649224" y="3663899"/>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SEK 52.3bn</a:t>
            </a:r>
            <a:endParaRPr lang="en-US" sz="1300" dirty="0"/>
          </a:p>
        </p:txBody>
      </p:sp>
      <p:sp>
        <p:nvSpPr>
          <p:cNvPr id="24" name="Text 20"/>
          <p:cNvSpPr txBox="1"/>
          <p:nvPr/>
        </p:nvSpPr>
        <p:spPr>
          <a:xfrm>
            <a:off x="649224" y="3901643"/>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+25% organic vs. 20% exp.</a:t>
            </a:r>
            <a:endParaRPr lang="en-US" sz="720" dirty="0"/>
          </a:p>
        </p:txBody>
      </p:sp>
      <p:sp>
        <p:nvSpPr>
          <p:cNvPr id="25" name="Shape 21"/>
          <p:cNvSpPr/>
          <p:nvPr/>
        </p:nvSpPr>
        <p:spPr>
          <a:xfrm>
            <a:off x="2160270" y="3435299"/>
            <a:ext cx="0" cy="676656"/>
          </a:xfrm>
          <a:prstGeom prst="line">
            <a:avLst/>
          </a:prstGeom>
          <a:noFill/>
          <a:ln w="7620">
            <a:solidFill>
              <a:srgbClr val="D6D9DE"/>
            </a:solidFill>
            <a:prstDash val="solid"/>
          </a:ln>
        </p:spPr>
      </p:sp>
      <p:sp>
        <p:nvSpPr>
          <p:cNvPr id="26" name="Text 22"/>
          <p:cNvSpPr txBox="1"/>
          <p:nvPr/>
        </p:nvSpPr>
        <p:spPr>
          <a:xfrm>
            <a:off x="2269998" y="3517595"/>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Revenue</a:t>
            </a:r>
            <a:endParaRPr lang="en-US" sz="720" dirty="0"/>
          </a:p>
        </p:txBody>
      </p:sp>
      <p:sp>
        <p:nvSpPr>
          <p:cNvPr id="27" name="Text 23"/>
          <p:cNvSpPr txBox="1"/>
          <p:nvPr/>
        </p:nvSpPr>
        <p:spPr>
          <a:xfrm>
            <a:off x="2269998" y="3663899"/>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SEK 47.9bn</a:t>
            </a:r>
            <a:endParaRPr lang="en-US" sz="1300" dirty="0"/>
          </a:p>
        </p:txBody>
      </p:sp>
      <p:sp>
        <p:nvSpPr>
          <p:cNvPr id="28" name="Text 24"/>
          <p:cNvSpPr txBox="1"/>
          <p:nvPr/>
        </p:nvSpPr>
        <p:spPr>
          <a:xfrm>
            <a:off x="2269998" y="3901643"/>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Record, +11% organic</a:t>
            </a:r>
            <a:endParaRPr lang="en-US" sz="720" dirty="0"/>
          </a:p>
        </p:txBody>
      </p:sp>
      <p:sp>
        <p:nvSpPr>
          <p:cNvPr id="29" name="Shape 25"/>
          <p:cNvSpPr/>
          <p:nvPr/>
        </p:nvSpPr>
        <p:spPr>
          <a:xfrm>
            <a:off x="3781044" y="3435299"/>
            <a:ext cx="0" cy="676656"/>
          </a:xfrm>
          <a:prstGeom prst="line">
            <a:avLst/>
          </a:prstGeom>
          <a:noFill/>
          <a:ln w="7620">
            <a:solidFill>
              <a:srgbClr val="D6D9DE"/>
            </a:solidFill>
            <a:prstDash val="solid"/>
          </a:ln>
        </p:spPr>
      </p:sp>
      <p:sp>
        <p:nvSpPr>
          <p:cNvPr id="30" name="Text 26"/>
          <p:cNvSpPr txBox="1"/>
          <p:nvPr/>
        </p:nvSpPr>
        <p:spPr>
          <a:xfrm>
            <a:off x="3890772" y="3517595"/>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Adj. operating margin</a:t>
            </a:r>
            <a:endParaRPr lang="en-US" sz="720" dirty="0"/>
          </a:p>
        </p:txBody>
      </p:sp>
      <p:sp>
        <p:nvSpPr>
          <p:cNvPr id="31" name="Text 27"/>
          <p:cNvSpPr txBox="1"/>
          <p:nvPr/>
        </p:nvSpPr>
        <p:spPr>
          <a:xfrm>
            <a:off x="3890772" y="3663899"/>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21.3%</a:t>
            </a:r>
            <a:endParaRPr lang="en-US" sz="1300" dirty="0"/>
          </a:p>
        </p:txBody>
      </p:sp>
      <p:sp>
        <p:nvSpPr>
          <p:cNvPr id="32" name="Text 28"/>
          <p:cNvSpPr txBox="1"/>
          <p:nvPr/>
        </p:nvSpPr>
        <p:spPr>
          <a:xfrm>
            <a:off x="3890772" y="3901643"/>
            <a:ext cx="1437894" cy="146304"/>
          </a:xfrm>
          <a:prstGeom prst="rect">
            <a:avLst/>
          </a:prstGeom>
          <a:noFill/>
          <a:ln/>
        </p:spPr>
        <p:txBody>
          <a:bodyPr wrap="square" lIns="0" tIns="0" rIns="0" bIns="0" rtlCol="0" anchor="t"/>
          <a:lstStyle/>
          <a:p>
            <a:pPr indent="0" marL="0">
              <a:buNone/>
            </a:pPr>
            <a:r>
              <a:rPr lang="en-US" sz="720" b="1" dirty="0">
                <a:solidFill>
                  <a:srgbClr val="FF6C0E"/>
                </a:solidFill>
                <a:latin typeface="Nunito" pitchFamily="34" charset="0"/>
                <a:ea typeface="Nunito" pitchFamily="34" charset="-122"/>
                <a:cs typeface="Nunito" pitchFamily="34" charset="-120"/>
              </a:rPr>
              <a:t>Flat y/y, below expectations</a:t>
            </a:r>
            <a:endParaRPr lang="en-US" sz="720" dirty="0"/>
          </a:p>
        </p:txBody>
      </p:sp>
      <p:sp>
        <p:nvSpPr>
          <p:cNvPr id="33" name="Shape 29"/>
          <p:cNvSpPr/>
          <p:nvPr/>
        </p:nvSpPr>
        <p:spPr>
          <a:xfrm>
            <a:off x="5401818" y="3435299"/>
            <a:ext cx="0" cy="676656"/>
          </a:xfrm>
          <a:prstGeom prst="line">
            <a:avLst/>
          </a:prstGeom>
          <a:noFill/>
          <a:ln w="7620">
            <a:solidFill>
              <a:srgbClr val="D6D9DE"/>
            </a:solidFill>
            <a:prstDash val="solid"/>
          </a:ln>
        </p:spPr>
      </p:sp>
      <p:sp>
        <p:nvSpPr>
          <p:cNvPr id="34" name="Text 30"/>
          <p:cNvSpPr txBox="1"/>
          <p:nvPr/>
        </p:nvSpPr>
        <p:spPr>
          <a:xfrm>
            <a:off x="5511546" y="3517595"/>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Compressor margin</a:t>
            </a:r>
            <a:endParaRPr lang="en-US" sz="720" dirty="0"/>
          </a:p>
        </p:txBody>
      </p:sp>
      <p:sp>
        <p:nvSpPr>
          <p:cNvPr id="35" name="Text 31"/>
          <p:cNvSpPr txBox="1"/>
          <p:nvPr/>
        </p:nvSpPr>
        <p:spPr>
          <a:xfrm>
            <a:off x="5511546" y="3663899"/>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23.6%</a:t>
            </a:r>
            <a:endParaRPr lang="en-US" sz="1300" dirty="0"/>
          </a:p>
        </p:txBody>
      </p:sp>
      <p:sp>
        <p:nvSpPr>
          <p:cNvPr id="36" name="Text 32"/>
          <p:cNvSpPr txBox="1"/>
          <p:nvPr/>
        </p:nvSpPr>
        <p:spPr>
          <a:xfrm>
            <a:off x="5511546" y="3901643"/>
            <a:ext cx="1437894" cy="146304"/>
          </a:xfrm>
          <a:prstGeom prst="rect">
            <a:avLst/>
          </a:prstGeom>
          <a:noFill/>
          <a:ln/>
        </p:spPr>
        <p:txBody>
          <a:bodyPr wrap="square" lIns="0" tIns="0" rIns="0" bIns="0" rtlCol="0" anchor="t"/>
          <a:lstStyle/>
          <a:p>
            <a:pPr indent="0" marL="0">
              <a:buNone/>
            </a:pPr>
            <a:r>
              <a:rPr lang="en-US" sz="720" b="1" dirty="0">
                <a:solidFill>
                  <a:srgbClr val="FF6C0E"/>
                </a:solidFill>
                <a:latin typeface="Nunito" pitchFamily="34" charset="0"/>
                <a:ea typeface="Nunito" pitchFamily="34" charset="-122"/>
                <a:cs typeface="Nunito" pitchFamily="34" charset="-120"/>
              </a:rPr>
              <a:t>-170bp y/y</a:t>
            </a:r>
            <a:endParaRPr lang="en-US" sz="720" dirty="0"/>
          </a:p>
        </p:txBody>
      </p:sp>
      <p:sp>
        <p:nvSpPr>
          <p:cNvPr id="37" name="Text 33"/>
          <p:cNvSpPr txBox="1"/>
          <p:nvPr/>
        </p:nvSpPr>
        <p:spPr>
          <a:xfrm>
            <a:off x="539496" y="423082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What the quarter means for the investment case</a:t>
            </a:r>
            <a:endParaRPr lang="en-US" sz="1100" dirty="0"/>
          </a:p>
        </p:txBody>
      </p:sp>
      <p:sp>
        <p:nvSpPr>
          <p:cNvPr id="38" name="Text 34"/>
          <p:cNvSpPr txBox="1"/>
          <p:nvPr/>
        </p:nvSpPr>
        <p:spPr>
          <a:xfrm>
            <a:off x="539496" y="4477715"/>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Atlas Copco now runs at two speeds. Vacuum Technique is riding the semiconductor investment cycle: organic orders up 82%, revenue up 28% and the margin up to 22.2% despite ramp-up costs. Compressor Technique, the profit engine, grew orders by only 6% and gave up 1.7 points of margin. The shares fell 7.1% on the day: the beat rested on vacuum orders partly pulled forward, compressor prices will lag cost inflation, and a crowded stock close to its record needed more.</a:t>
            </a:r>
            <a:endParaRPr lang="en-US" sz="870" dirty="0"/>
          </a:p>
        </p:txBody>
      </p:sp>
      <p:sp>
        <p:nvSpPr>
          <p:cNvPr id="39" name="Text 35"/>
          <p:cNvSpPr txBox="1"/>
          <p:nvPr/>
        </p:nvSpPr>
        <p:spPr>
          <a:xfrm>
            <a:off x="539496" y="5203139"/>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1</a:t>
            </a:r>
            <a:pPr indent="0" marL="0">
              <a:buNone/>
            </a:pPr>
            <a:r>
              <a:rPr lang="en-US" sz="950" b="1" dirty="0">
                <a:solidFill>
                  <a:srgbClr val="202945"/>
                </a:solidFill>
                <a:latin typeface="Nunito" pitchFamily="34" charset="0"/>
                <a:ea typeface="Nunito" pitchFamily="34" charset="-122"/>
                <a:cs typeface="Nunito" pitchFamily="34" charset="-120"/>
              </a:rPr>
              <a:t> · ATCO: Q3 2026 organic order growth by business area</a:t>
            </a:r>
            <a:endParaRPr lang="en-US" sz="950" dirty="0"/>
          </a:p>
        </p:txBody>
      </p:sp>
      <p:sp>
        <p:nvSpPr>
          <p:cNvPr id="40" name="Text 36"/>
          <p:cNvSpPr txBox="1"/>
          <p:nvPr/>
        </p:nvSpPr>
        <p:spPr>
          <a:xfrm>
            <a:off x="539496" y="5386019"/>
            <a:ext cx="6483096" cy="118872"/>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Organic growth in orders received, Q3 2026 vs. Q3 2025 · Group consensus: pre-results analyst expectations · Source: company, Bloomberg</a:t>
            </a:r>
            <a:endParaRPr lang="en-US" sz="720" dirty="0"/>
          </a:p>
        </p:txBody>
      </p:sp>
      <p:pic>
        <p:nvPicPr>
          <p:cNvPr id="41" name="Image 2" descr="/home/claude/atco/c1_crop.png">    </p:cNvPr>
          <p:cNvPicPr>
            <a:picLocks noChangeAspect="1"/>
          </p:cNvPicPr>
          <p:nvPr/>
        </p:nvPicPr>
        <p:blipFill>
          <a:blip r:embed="rId3"/>
          <a:stretch>
            <a:fillRect/>
          </a:stretch>
        </p:blipFill>
        <p:spPr>
          <a:xfrm>
            <a:off x="1641622" y="5550611"/>
            <a:ext cx="4278843" cy="1334999"/>
          </a:xfrm>
          <a:prstGeom prst="rect">
            <a:avLst/>
          </a:prstGeom>
        </p:spPr>
      </p:pic>
      <p:sp>
        <p:nvSpPr>
          <p:cNvPr id="42" name="Text 37"/>
          <p:cNvSpPr txBox="1"/>
          <p:nvPr/>
        </p:nvSpPr>
        <p:spPr>
          <a:xfrm>
            <a:off x="539496" y="6940474"/>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Every region grew, with Asia and North America both up 39%, and three of the four business areas posted double-digit order growth. The beat is nonetheless concentrated in vacuum, where management acknowledged some pre-ordering by customers keen to secure capacity. Compressors, which carry the highest margin in the group, delivered the weakest growth, held back by a flat Europe.</a:t>
            </a:r>
            <a:endParaRPr lang="en-US" sz="870" dirty="0"/>
          </a:p>
        </p:txBody>
      </p:sp>
      <p:sp>
        <p:nvSpPr>
          <p:cNvPr id="43" name="Text 38"/>
          <p:cNvSpPr txBox="1"/>
          <p:nvPr/>
        </p:nvSpPr>
        <p:spPr>
          <a:xfrm>
            <a:off x="539496" y="7702474"/>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4" name="Text 39"/>
          <p:cNvSpPr txBox="1"/>
          <p:nvPr/>
        </p:nvSpPr>
        <p:spPr>
          <a:xfrm>
            <a:off x="539496" y="7949362"/>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We stay positive on Atlas Copco and would add gradually on the results-day fall. The earnings path we underwrite rests on vacuum: lead times beyond the usual three to six months and a new US dry pump plant moving to full pump assembly in Q4 should carry double-digit revenue growth into 2027, while the compressor margin stabilises around 24% as price increases work through the order book. The debate has moved to compressor profitability. Crowded positioning means the de-rating can run further near term. The next test is the Q4 report in late January 2027.</a:t>
            </a:r>
            <a:endParaRPr lang="en-US" sz="870" dirty="0"/>
          </a:p>
        </p:txBody>
      </p:sp>
      <p:sp>
        <p:nvSpPr>
          <p:cNvPr id="45" name="Shape 40"/>
          <p:cNvSpPr/>
          <p:nvPr/>
        </p:nvSpPr>
        <p:spPr>
          <a:xfrm>
            <a:off x="3781044" y="8868258"/>
            <a:ext cx="0" cy="985647"/>
          </a:xfrm>
          <a:prstGeom prst="line">
            <a:avLst/>
          </a:prstGeom>
          <a:noFill/>
          <a:ln w="7620">
            <a:solidFill>
              <a:srgbClr val="D6D9DE"/>
            </a:solidFill>
            <a:prstDash val="solid"/>
          </a:ln>
        </p:spPr>
      </p:sp>
      <p:sp>
        <p:nvSpPr>
          <p:cNvPr id="46" name="Text 41"/>
          <p:cNvSpPr txBox="1"/>
          <p:nvPr/>
        </p:nvSpPr>
        <p:spPr>
          <a:xfrm>
            <a:off x="539496" y="8868258"/>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strengthen our view</a:t>
            </a:r>
            <a:endParaRPr lang="en-US" sz="780" dirty="0"/>
          </a:p>
        </p:txBody>
      </p:sp>
      <p:sp>
        <p:nvSpPr>
          <p:cNvPr id="47" name="Text 42"/>
          <p:cNvSpPr txBox="1"/>
          <p:nvPr/>
        </p:nvSpPr>
        <p:spPr>
          <a:xfrm>
            <a:off x="539496" y="9060282"/>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Compressor orders back above 10% organic growth, with the margin recovering towards 25% by mid-2027; vacuum orders holding close to the Q3 level in Q4 despite seasonality; clearly higher prices as semiconductor supply agreements come up for renewal in 2027.</a:t>
            </a:r>
            <a:endParaRPr lang="en-US" sz="870" dirty="0"/>
          </a:p>
        </p:txBody>
      </p:sp>
      <p:sp>
        <p:nvSpPr>
          <p:cNvPr id="48" name="Text 43"/>
          <p:cNvSpPr txBox="1"/>
          <p:nvPr/>
        </p:nvSpPr>
        <p:spPr>
          <a:xfrm>
            <a:off x="3963924" y="8868258"/>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change our view</a:t>
            </a:r>
            <a:endParaRPr lang="en-US" sz="780" dirty="0"/>
          </a:p>
        </p:txBody>
      </p:sp>
      <p:sp>
        <p:nvSpPr>
          <p:cNvPr id="49" name="Text 44"/>
          <p:cNvSpPr txBox="1"/>
          <p:nvPr/>
        </p:nvSpPr>
        <p:spPr>
          <a:xfrm>
            <a:off x="3963924" y="9060282"/>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A compressor margin below 23% in Q4, showing that price increases do not offset component inflation; vacuum orders falling more than seasonally as customers digest Q3 pre-orders; European weakness spreading to North American compressor demand in early 2027.</a:t>
            </a:r>
            <a:endParaRPr lang="en-US" sz="8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22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274320"/>
          </a:xfrm>
          <a:prstGeom prst="rect">
            <a:avLst/>
          </a:prstGeom>
          <a:noFill/>
          <a:ln/>
        </p:spPr>
        <p:txBody>
          <a:bodyPr wrap="square" lIns="0" tIns="0" rIns="0" bIns="0" rtlCol="0" anchor="t"/>
          <a:lstStyle/>
          <a:p>
            <a:pPr indent="0" marL="0">
              <a:buNone/>
            </a:pPr>
            <a:r>
              <a:rPr lang="en-US" sz="1400" b="1" dirty="0">
                <a:solidFill>
                  <a:srgbClr val="202945"/>
                </a:solidFill>
                <a:latin typeface="Nunito" pitchFamily="34" charset="0"/>
                <a:ea typeface="Nunito" pitchFamily="34" charset="-122"/>
                <a:cs typeface="Nunito" pitchFamily="34" charset="-120"/>
              </a:rPr>
              <a:t>Beyond the key takeaways</a:t>
            </a:r>
            <a:endParaRPr lang="en-US" sz="1400" dirty="0"/>
          </a:p>
        </p:txBody>
      </p:sp>
      <p:sp>
        <p:nvSpPr>
          <p:cNvPr id="7" name="Text 3"/>
          <p:cNvSpPr txBox="1"/>
          <p:nvPr/>
        </p:nvSpPr>
        <p:spPr>
          <a:xfrm>
            <a:off x="539496" y="1184148"/>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vacuum volume, compressor costs</a:t>
            </a:r>
            <a:endParaRPr lang="en-US" sz="1100" dirty="0"/>
          </a:p>
        </p:txBody>
      </p:sp>
      <p:sp>
        <p:nvSpPr>
          <p:cNvPr id="8" name="Text 4"/>
          <p:cNvSpPr txBox="1"/>
          <p:nvPr/>
        </p:nvSpPr>
        <p:spPr>
          <a:xfrm>
            <a:off x="539496" y="1431036"/>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Orders reached a record SEK 52.3bn, up 29% in total: 25% organic, 3% from acquisitions and a small currency tailwind. Revenue was also a record at SEK 47.9bn, up 11% organically. The reported operating margin of 20.8% includes a SEK 132m restructuring charge for German operations in Industrial Technique; the adjusted margin of 21.3% was flat year on year and slightly below analyst expectations. Volume and price drove a good organic drop-through, offset by currency, mainly a stronger Korean won, and mildly dilutive acquisitions. A 21% tax rate, helped by tax credits, lifted profit to SEK 7.7bn from SEK 6.7bn and basic EPS by 15% to SEK 1.58. Working capital absorbed only SEK 87m.</a:t>
            </a:r>
            <a:endParaRPr lang="en-US" sz="870" dirty="0"/>
          </a:p>
        </p:txBody>
      </p:sp>
      <p:sp>
        <p:nvSpPr>
          <p:cNvPr id="9" name="Text 5"/>
          <p:cNvSpPr txBox="1"/>
          <p:nvPr/>
        </p:nvSpPr>
        <p:spPr>
          <a:xfrm>
            <a:off x="539496" y="2470252"/>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In Vacuum Technique, revenue rose 28% organically and the margin improved again to 22.2%, despite ramp-up costs and currency. Pricing gains are slow: customers are few and powerful, and supply agreements expire at staggered dates. Compressor Technique grew revenue 5% organically, but its margin slipped to 23.6% on the won, product and regional mix and dearer electronics, aluminium castings and oil. Long-cycle projects with up to a year of lead time were priced before the inflation. Industrial Technique orders rose 12%, revenue only 2%, with a 20.6% adjusted margin helped by lower tariff costs. Power Technique orders grew 13% and the margin rose to 18.3%.</a:t>
            </a:r>
            <a:endParaRPr lang="en-US" sz="870" dirty="0"/>
          </a:p>
        </p:txBody>
      </p:sp>
      <p:sp>
        <p:nvSpPr>
          <p:cNvPr id="10" name="Text 6"/>
          <p:cNvSpPr txBox="1"/>
          <p:nvPr/>
        </p:nvSpPr>
        <p:spPr>
          <a:xfrm>
            <a:off x="539496" y="3546043"/>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stable activity, a hard call on chips</a:t>
            </a:r>
            <a:endParaRPr lang="en-US" sz="1100" dirty="0"/>
          </a:p>
        </p:txBody>
      </p:sp>
      <p:sp>
        <p:nvSpPr>
          <p:cNvPr id="11" name="Text 7"/>
          <p:cNvSpPr txBox="1"/>
          <p:nvPr/>
        </p:nvSpPr>
        <p:spPr>
          <a:xfrm>
            <a:off x="539496" y="3792931"/>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guidance is the usual sequential one: customer activity, excluding large orders, currency and seasonality, should remain at the current level for most segments. Management stressed the seasonal dip from Q3 to Q4 and declined to call semiconductor orders after a record intake, noting that customers now focus on output rather than new orders. Further vacuum margin expansion is expected, but at a slower pace than in the last two quarters. For compressors, price increases will reach the income statement only gradually and the new European cooling acquisition dilutes the margin. Currency should add about SEK 0.5bn to Q4 profit and the tax rate should rise to around 22.5%.</a:t>
            </a:r>
            <a:endParaRPr lang="en-US" sz="870" dirty="0"/>
          </a:p>
        </p:txBody>
      </p:sp>
      <p:sp>
        <p:nvSpPr>
          <p:cNvPr id="12" name="Text 8"/>
          <p:cNvSpPr txBox="1"/>
          <p:nvPr/>
        </p:nvSpPr>
        <p:spPr>
          <a:xfrm>
            <a:off x="539496" y="4868723"/>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the premium is being tested</a:t>
            </a:r>
            <a:endParaRPr lang="en-US" sz="1100" dirty="0"/>
          </a:p>
        </p:txBody>
      </p:sp>
      <p:sp>
        <p:nvSpPr>
          <p:cNvPr id="13" name="Text 9"/>
          <p:cNvSpPr txBox="1"/>
          <p:nvPr/>
        </p:nvSpPr>
        <p:spPr>
          <a:xfrm>
            <a:off x="539496" y="5115611"/>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2</a:t>
            </a:r>
            <a:pPr indent="0" marL="0">
              <a:buNone/>
            </a:pPr>
            <a:r>
              <a:rPr lang="en-US" sz="950" b="1" dirty="0">
                <a:solidFill>
                  <a:srgbClr val="202945"/>
                </a:solidFill>
                <a:latin typeface="Nunito" pitchFamily="34" charset="0"/>
                <a:ea typeface="Nunito" pitchFamily="34" charset="-122"/>
                <a:cs typeface="Nunito" pitchFamily="34" charset="-120"/>
              </a:rPr>
              <a:t> · ATCO: share price vs. consensus earnings and valuation</a:t>
            </a:r>
            <a:endParaRPr lang="en-US" sz="950" dirty="0"/>
          </a:p>
        </p:txBody>
      </p:sp>
      <p:sp>
        <p:nvSpPr>
          <p:cNvPr id="14" name="Text 10"/>
          <p:cNvSpPr txBox="1"/>
          <p:nvPr/>
        </p:nvSpPr>
        <p:spPr>
          <a:xfrm>
            <a:off x="539496" y="5298491"/>
            <a:ext cx="6483096" cy="118872"/>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Weekly, Oct 2005 to 22 Oct 2026 · Bloomberg BEst 12m-forward EPS · 40-week MA · Log scale · Last price: 22 October close, after the release</a:t>
            </a:r>
            <a:endParaRPr lang="en-US" sz="720" dirty="0"/>
          </a:p>
        </p:txBody>
      </p:sp>
      <p:pic>
        <p:nvPicPr>
          <p:cNvPr id="15" name="Image 2" descr="/home/claude/atco/c2_crop.png">    </p:cNvPr>
          <p:cNvPicPr>
            <a:picLocks noChangeAspect="1"/>
          </p:cNvPicPr>
          <p:nvPr/>
        </p:nvPicPr>
        <p:blipFill>
          <a:blip r:embed="rId3"/>
          <a:stretch>
            <a:fillRect/>
          </a:stretch>
        </p:blipFill>
        <p:spPr>
          <a:xfrm>
            <a:off x="928482" y="5463083"/>
            <a:ext cx="5705124" cy="3413946"/>
          </a:xfrm>
          <a:prstGeom prst="rect">
            <a:avLst/>
          </a:prstGeom>
        </p:spPr>
      </p:pic>
      <p:sp>
        <p:nvSpPr>
          <p:cNvPr id="16" name="Text 11"/>
          <p:cNvSpPr txBox="1"/>
          <p:nvPr/>
        </p:nvSpPr>
        <p:spPr>
          <a:xfrm>
            <a:off x="539496" y="8931893"/>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Over 12 months the share price rose 8.0% while consensus forward EPS rose 9.7%: earnings did the work. At 29.2x forward earnings the stock trades at a 54% premium to its 18.9x average since 2005, but it sits below its one-year average of 31.0x. The multiple has fallen from 35.2x at the record high of SEK 213.4 on 6 October, and the price is now below its 40-week average of SEK 190. A 5% EPS upgrade at an unchanged price would take the multiple to 27.8x. Analyst price targets set after the release range from SEK 235 to SEK 260.</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22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881624"/>
            <a:ext cx="6483096" cy="182880"/>
          </a:xfrm>
          <a:prstGeom prst="rect">
            <a:avLst/>
          </a:prstGeom>
          <a:noFill/>
          <a:ln/>
        </p:spPr>
        <p:txBody>
          <a:bodyPr wrap="square" lIns="0" tIns="0" rIns="0" bIns="0" rtlCol="0" anchor="t"/>
          <a:lstStyle/>
          <a:p>
            <a:pPr indent="0" marL="0">
              <a:buNone/>
            </a:pPr>
            <a:r>
              <a:rPr lang="en-US" sz="680" b="1" dirty="0">
                <a:solidFill>
                  <a:srgbClr val="FF6C0E"/>
                </a:solidFill>
                <a:latin typeface="Nunito" pitchFamily="34" charset="0"/>
                <a:ea typeface="Nunito" pitchFamily="34" charset="-122"/>
                <a:cs typeface="Nunito" pitchFamily="34" charset="-120"/>
              </a:rPr>
              <a:t>SYZ</a:t>
            </a:r>
            <a:pPr indent="0" marL="0">
              <a:buNone/>
            </a:pPr>
            <a:r>
              <a:rPr lang="en-US" sz="680" b="1" dirty="0">
                <a:solidFill>
                  <a:srgbClr val="9AA0A8"/>
                </a:solidFill>
                <a:latin typeface="Nunito" pitchFamily="34" charset="0"/>
                <a:ea typeface="Nunito" pitchFamily="34" charset="-122"/>
                <a:cs typeface="Nunito" pitchFamily="34" charset="-120"/>
              </a:rPr>
              <a:t> Source: Syz Research, Bloomberg, Atlas Copco Q3 2026 interim report and earnings call of 22 October 2026, analyst research notes of 22 October 2026</a:t>
            </a:r>
            <a:endParaRPr lang="en-US" sz="680" dirty="0"/>
          </a:p>
        </p:txBody>
      </p:sp>
      <p:sp>
        <p:nvSpPr>
          <p:cNvPr id="7" name="Text 3"/>
          <p:cNvSpPr txBox="1"/>
          <p:nvPr/>
        </p:nvSpPr>
        <p:spPr>
          <a:xfrm>
            <a:off x="539496" y="6210808"/>
            <a:ext cx="6483096" cy="182880"/>
          </a:xfrm>
          <a:prstGeom prst="rect">
            <a:avLst/>
          </a:prstGeom>
          <a:noFill/>
          <a:ln/>
        </p:spPr>
        <p:txBody>
          <a:bodyPr wrap="square" lIns="0" tIns="0" rIns="0" bIns="0" rtlCol="0" anchor="t"/>
          <a:lstStyle/>
          <a:p>
            <a:pPr indent="0" marL="0">
              <a:buNone/>
            </a:pPr>
            <a:r>
              <a:rPr lang="en-US" sz="680" b="1" spc="120" kern="0" dirty="0">
                <a:solidFill>
                  <a:srgbClr val="FF6C0E"/>
                </a:solidFill>
                <a:latin typeface="Nunito" pitchFamily="34" charset="0"/>
                <a:ea typeface="Nunito" pitchFamily="34" charset="-122"/>
                <a:cs typeface="Nunito" pitchFamily="34" charset="-120"/>
              </a:rPr>
              <a:t>Disclaimer</a:t>
            </a:r>
            <a:endParaRPr lang="en-US" sz="680" dirty="0"/>
          </a:p>
        </p:txBody>
      </p:sp>
      <p:sp>
        <p:nvSpPr>
          <p:cNvPr id="8" name="Text 4"/>
          <p:cNvSpPr txBox="1"/>
          <p:nvPr/>
        </p:nvSpPr>
        <p:spPr>
          <a:xfrm>
            <a:off x="539496" y="6393688"/>
            <a:ext cx="6483096" cy="538480"/>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680" dirty="0"/>
          </a:p>
        </p:txBody>
      </p:sp>
      <p:sp>
        <p:nvSpPr>
          <p:cNvPr id="9" name="Text 5"/>
          <p:cNvSpPr txBox="1"/>
          <p:nvPr/>
        </p:nvSpPr>
        <p:spPr>
          <a:xfrm>
            <a:off x="539496" y="6932168"/>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680" dirty="0"/>
          </a:p>
        </p:txBody>
      </p:sp>
      <p:sp>
        <p:nvSpPr>
          <p:cNvPr id="10" name="Text 6"/>
          <p:cNvSpPr txBox="1"/>
          <p:nvPr/>
        </p:nvSpPr>
        <p:spPr>
          <a:xfrm>
            <a:off x="539496" y="734974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680" dirty="0"/>
          </a:p>
        </p:txBody>
      </p:sp>
      <p:sp>
        <p:nvSpPr>
          <p:cNvPr id="11" name="Text 7"/>
          <p:cNvSpPr txBox="1"/>
          <p:nvPr/>
        </p:nvSpPr>
        <p:spPr>
          <a:xfrm>
            <a:off x="539496" y="7767320"/>
            <a:ext cx="6483096" cy="780288"/>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680" dirty="0"/>
          </a:p>
        </p:txBody>
      </p:sp>
      <p:sp>
        <p:nvSpPr>
          <p:cNvPr id="12" name="Text 8"/>
          <p:cNvSpPr txBox="1"/>
          <p:nvPr/>
        </p:nvSpPr>
        <p:spPr>
          <a:xfrm>
            <a:off x="539496" y="8547608"/>
            <a:ext cx="6483096" cy="296672"/>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680" dirty="0"/>
          </a:p>
        </p:txBody>
      </p:sp>
      <p:sp>
        <p:nvSpPr>
          <p:cNvPr id="13" name="Text 9"/>
          <p:cNvSpPr txBox="1"/>
          <p:nvPr/>
        </p:nvSpPr>
        <p:spPr>
          <a:xfrm>
            <a:off x="539496" y="8844280"/>
            <a:ext cx="6483096" cy="659384"/>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680" dirty="0"/>
          </a:p>
        </p:txBody>
      </p:sp>
      <p:sp>
        <p:nvSpPr>
          <p:cNvPr id="14" name="Text 10"/>
          <p:cNvSpPr txBox="1"/>
          <p:nvPr/>
        </p:nvSpPr>
        <p:spPr>
          <a:xfrm>
            <a:off x="539496" y="950366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Atlas Copco Q3 2026: vacuum boom, compressor squeeze</dc:title>
  <dc:subject>PptxGenJS Presentation</dc:subject>
  <dc:creator>Syz Research</dc:creator>
  <cp:lastModifiedBy>Syz Research</cp:lastModifiedBy>
  <cp:revision>1</cp:revision>
  <dcterms:created xsi:type="dcterms:W3CDTF">2026-10-22T15:19:14Z</dcterms:created>
  <dcterms:modified xsi:type="dcterms:W3CDTF">2026-10-22T15:19:14Z</dcterms:modified>
</cp:coreProperties>
</file>