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Semiconductors</a:t>
            </a:r>
            <a:endParaRPr lang="en-US" sz="800" dirty="0"/>
          </a:p>
        </p:txBody>
      </p:sp>
      <p:sp>
        <p:nvSpPr>
          <p:cNvPr id="7" name="Text 3"/>
          <p:cNvSpPr txBox="1"/>
          <p:nvPr/>
        </p:nvSpPr>
        <p:spPr>
          <a:xfrm>
            <a:off x="539496" y="1028700"/>
            <a:ext cx="6483096" cy="526796"/>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Texas Instruments Q3 2026: upcycle broadens, earnings must do the work</a:t>
            </a:r>
            <a:endParaRPr lang="en-US" sz="1700" dirty="0"/>
          </a:p>
        </p:txBody>
      </p:sp>
      <p:sp>
        <p:nvSpPr>
          <p:cNvPr id="8" name="Text 4"/>
          <p:cNvSpPr txBox="1"/>
          <p:nvPr/>
        </p:nvSpPr>
        <p:spPr>
          <a:xfrm>
            <a:off x="539496" y="1592072"/>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Text 5"/>
          <p:cNvSpPr txBox="1"/>
          <p:nvPr/>
        </p:nvSpPr>
        <p:spPr>
          <a:xfrm>
            <a:off x="539496" y="187553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0" name="Text 6"/>
          <p:cNvSpPr txBox="1"/>
          <p:nvPr/>
        </p:nvSpPr>
        <p:spPr>
          <a:xfrm>
            <a:off x="539496" y="213614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1" name="Text 7"/>
          <p:cNvSpPr txBox="1"/>
          <p:nvPr/>
        </p:nvSpPr>
        <p:spPr>
          <a:xfrm>
            <a:off x="1133856" y="211328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USD 6.06bn (+28% year on year) and EPS USD 2.62 beat consensus by 2% and 9%.</a:t>
            </a:r>
            <a:endParaRPr lang="en-US" sz="870" dirty="0"/>
          </a:p>
        </p:txBody>
      </p:sp>
      <p:sp>
        <p:nvSpPr>
          <p:cNvPr id="12" name="Text 8"/>
          <p:cNvSpPr txBox="1"/>
          <p:nvPr/>
        </p:nvSpPr>
        <p:spPr>
          <a:xfrm>
            <a:off x="539496" y="2338756"/>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3" name="Text 9"/>
          <p:cNvSpPr txBox="1"/>
          <p:nvPr/>
        </p:nvSpPr>
        <p:spPr>
          <a:xfrm>
            <a:off x="1133856" y="231589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guide midpoints of USD 6.05bn revenue and USD 2.62 EPS sit 6% and 14% above consensus.</a:t>
            </a:r>
            <a:endParaRPr lang="en-US" sz="870" dirty="0"/>
          </a:p>
        </p:txBody>
      </p:sp>
      <p:sp>
        <p:nvSpPr>
          <p:cNvPr id="14" name="Text 10"/>
          <p:cNvSpPr txBox="1"/>
          <p:nvPr/>
        </p:nvSpPr>
        <p:spPr>
          <a:xfrm>
            <a:off x="539496" y="2541372"/>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5" name="Text 11"/>
          <p:cNvSpPr txBox="1"/>
          <p:nvPr/>
        </p:nvSpPr>
        <p:spPr>
          <a:xfrm>
            <a:off x="1133856" y="251851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Nearly 45% of analysts stay neutral or negative after the print, citing valuation and capital intensity.</a:t>
            </a:r>
            <a:endParaRPr lang="en-US" sz="870" dirty="0"/>
          </a:p>
        </p:txBody>
      </p:sp>
      <p:sp>
        <p:nvSpPr>
          <p:cNvPr id="16" name="Text 12"/>
          <p:cNvSpPr txBox="1"/>
          <p:nvPr/>
        </p:nvSpPr>
        <p:spPr>
          <a:xfrm>
            <a:off x="539496" y="2743987"/>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17" name="Text 13"/>
          <p:cNvSpPr txBox="1"/>
          <p:nvPr/>
        </p:nvSpPr>
        <p:spPr>
          <a:xfrm>
            <a:off x="1133856" y="272112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32.4x forward earnings, 48% above the 2010 to 2026 average: upgrades, not the multiple, must drive returns.</a:t>
            </a:r>
            <a:endParaRPr lang="en-US" sz="870" dirty="0"/>
          </a:p>
        </p:txBody>
      </p:sp>
      <p:sp>
        <p:nvSpPr>
          <p:cNvPr id="18" name="Shape 14"/>
          <p:cNvSpPr/>
          <p:nvPr/>
        </p:nvSpPr>
        <p:spPr>
          <a:xfrm>
            <a:off x="539496" y="3006039"/>
            <a:ext cx="6483096" cy="676656"/>
          </a:xfrm>
          <a:prstGeom prst="rect">
            <a:avLst/>
          </a:prstGeom>
          <a:solidFill>
            <a:srgbClr val="FFFFFF"/>
          </a:solidFill>
          <a:ln w="16510">
            <a:solidFill>
              <a:srgbClr val="202945"/>
            </a:solidFill>
            <a:prstDash val="solid"/>
          </a:ln>
        </p:spPr>
      </p:sp>
      <p:sp>
        <p:nvSpPr>
          <p:cNvPr id="19" name="Text 15"/>
          <p:cNvSpPr txBox="1"/>
          <p:nvPr/>
        </p:nvSpPr>
        <p:spPr>
          <a:xfrm>
            <a:off x="649224"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Revenue</a:t>
            </a:r>
            <a:endParaRPr lang="en-US" sz="720" dirty="0"/>
          </a:p>
        </p:txBody>
      </p:sp>
      <p:sp>
        <p:nvSpPr>
          <p:cNvPr id="20" name="Text 16"/>
          <p:cNvSpPr txBox="1"/>
          <p:nvPr/>
        </p:nvSpPr>
        <p:spPr>
          <a:xfrm>
            <a:off x="649224"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6.06bn</a:t>
            </a:r>
            <a:endParaRPr lang="en-US" sz="1300" dirty="0"/>
          </a:p>
        </p:txBody>
      </p:sp>
      <p:sp>
        <p:nvSpPr>
          <p:cNvPr id="21" name="Text 17"/>
          <p:cNvSpPr txBox="1"/>
          <p:nvPr/>
        </p:nvSpPr>
        <p:spPr>
          <a:xfrm>
            <a:off x="649224"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+2.4% vs. consensus</a:t>
            </a:r>
            <a:endParaRPr lang="en-US" sz="720" dirty="0"/>
          </a:p>
        </p:txBody>
      </p:sp>
      <p:sp>
        <p:nvSpPr>
          <p:cNvPr id="22" name="Shape 18"/>
          <p:cNvSpPr/>
          <p:nvPr/>
        </p:nvSpPr>
        <p:spPr>
          <a:xfrm>
            <a:off x="2160270" y="3006039"/>
            <a:ext cx="0" cy="676656"/>
          </a:xfrm>
          <a:prstGeom prst="line">
            <a:avLst/>
          </a:prstGeom>
          <a:noFill/>
          <a:ln w="7620">
            <a:solidFill>
              <a:srgbClr val="D6D9DE"/>
            </a:solidFill>
            <a:prstDash val="solid"/>
          </a:ln>
        </p:spPr>
      </p:sp>
      <p:sp>
        <p:nvSpPr>
          <p:cNvPr id="23" name="Text 19"/>
          <p:cNvSpPr txBox="1"/>
          <p:nvPr/>
        </p:nvSpPr>
        <p:spPr>
          <a:xfrm>
            <a:off x="2269998"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EPS</a:t>
            </a:r>
            <a:endParaRPr lang="en-US" sz="720" dirty="0"/>
          </a:p>
        </p:txBody>
      </p:sp>
      <p:sp>
        <p:nvSpPr>
          <p:cNvPr id="24" name="Text 20"/>
          <p:cNvSpPr txBox="1"/>
          <p:nvPr/>
        </p:nvSpPr>
        <p:spPr>
          <a:xfrm>
            <a:off x="2269998"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2.62</a:t>
            </a:r>
            <a:endParaRPr lang="en-US" sz="1300" dirty="0"/>
          </a:p>
        </p:txBody>
      </p:sp>
      <p:sp>
        <p:nvSpPr>
          <p:cNvPr id="25" name="Text 21"/>
          <p:cNvSpPr txBox="1"/>
          <p:nvPr/>
        </p:nvSpPr>
        <p:spPr>
          <a:xfrm>
            <a:off x="2269998"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+8.7% vs. consensus</a:t>
            </a:r>
            <a:endParaRPr lang="en-US" sz="720" dirty="0"/>
          </a:p>
        </p:txBody>
      </p:sp>
      <p:sp>
        <p:nvSpPr>
          <p:cNvPr id="26" name="Shape 22"/>
          <p:cNvSpPr/>
          <p:nvPr/>
        </p:nvSpPr>
        <p:spPr>
          <a:xfrm>
            <a:off x="3781044" y="3006039"/>
            <a:ext cx="0" cy="676656"/>
          </a:xfrm>
          <a:prstGeom prst="line">
            <a:avLst/>
          </a:prstGeom>
          <a:noFill/>
          <a:ln w="7620">
            <a:solidFill>
              <a:srgbClr val="D6D9DE"/>
            </a:solidFill>
            <a:prstDash val="solid"/>
          </a:ln>
        </p:spPr>
      </p:sp>
      <p:sp>
        <p:nvSpPr>
          <p:cNvPr id="27" name="Text 23"/>
          <p:cNvSpPr txBox="1"/>
          <p:nvPr/>
        </p:nvSpPr>
        <p:spPr>
          <a:xfrm>
            <a:off x="3890772"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Operating margin</a:t>
            </a:r>
            <a:endParaRPr lang="en-US" sz="720" dirty="0"/>
          </a:p>
        </p:txBody>
      </p:sp>
      <p:sp>
        <p:nvSpPr>
          <p:cNvPr id="28" name="Text 24"/>
          <p:cNvSpPr txBox="1"/>
          <p:nvPr/>
        </p:nvSpPr>
        <p:spPr>
          <a:xfrm>
            <a:off x="3890772"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47.5%</a:t>
            </a:r>
            <a:endParaRPr lang="en-US" sz="1300" dirty="0"/>
          </a:p>
        </p:txBody>
      </p:sp>
      <p:sp>
        <p:nvSpPr>
          <p:cNvPr id="29" name="Text 25"/>
          <p:cNvSpPr txBox="1"/>
          <p:nvPr/>
        </p:nvSpPr>
        <p:spPr>
          <a:xfrm>
            <a:off x="3890772"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+290bp vs. consensus</a:t>
            </a:r>
            <a:endParaRPr lang="en-US" sz="720" dirty="0"/>
          </a:p>
        </p:txBody>
      </p:sp>
      <p:sp>
        <p:nvSpPr>
          <p:cNvPr id="30" name="Shape 26"/>
          <p:cNvSpPr/>
          <p:nvPr/>
        </p:nvSpPr>
        <p:spPr>
          <a:xfrm>
            <a:off x="5401818" y="3006039"/>
            <a:ext cx="0" cy="676656"/>
          </a:xfrm>
          <a:prstGeom prst="line">
            <a:avLst/>
          </a:prstGeom>
          <a:noFill/>
          <a:ln w="7620">
            <a:solidFill>
              <a:srgbClr val="D6D9DE"/>
            </a:solidFill>
            <a:prstDash val="solid"/>
          </a:ln>
        </p:spPr>
      </p:sp>
      <p:sp>
        <p:nvSpPr>
          <p:cNvPr id="31" name="Text 27"/>
          <p:cNvSpPr txBox="1"/>
          <p:nvPr/>
        </p:nvSpPr>
        <p:spPr>
          <a:xfrm>
            <a:off x="5511546"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Q4 revenue guide</a:t>
            </a:r>
            <a:endParaRPr lang="en-US" sz="720" dirty="0"/>
          </a:p>
        </p:txBody>
      </p:sp>
      <p:sp>
        <p:nvSpPr>
          <p:cNvPr id="32" name="Text 28"/>
          <p:cNvSpPr txBox="1"/>
          <p:nvPr/>
        </p:nvSpPr>
        <p:spPr>
          <a:xfrm>
            <a:off x="5511546"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6.05bn</a:t>
            </a:r>
            <a:endParaRPr lang="en-US" sz="1300" dirty="0"/>
          </a:p>
        </p:txBody>
      </p:sp>
      <p:sp>
        <p:nvSpPr>
          <p:cNvPr id="33" name="Text 29"/>
          <p:cNvSpPr txBox="1"/>
          <p:nvPr/>
        </p:nvSpPr>
        <p:spPr>
          <a:xfrm>
            <a:off x="5511546"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+5.6% vs. consensus</a:t>
            </a:r>
            <a:endParaRPr lang="en-US" sz="720" dirty="0"/>
          </a:p>
        </p:txBody>
      </p:sp>
      <p:sp>
        <p:nvSpPr>
          <p:cNvPr id="34" name="Text 30"/>
          <p:cNvSpPr txBox="1"/>
          <p:nvPr/>
        </p:nvSpPr>
        <p:spPr>
          <a:xfrm>
            <a:off x="539496" y="380156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cycle is now showing up in margins</a:t>
            </a:r>
            <a:endParaRPr lang="en-US" sz="1100" dirty="0"/>
          </a:p>
        </p:txBody>
      </p:sp>
      <p:sp>
        <p:nvSpPr>
          <p:cNvPr id="35" name="Text 31"/>
          <p:cNvSpPr txBox="1"/>
          <p:nvPr/>
        </p:nvSpPr>
        <p:spPr>
          <a:xfrm>
            <a:off x="539496" y="4048455"/>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For investors, the quality of the beat matters more than its size. Revenue rose 11% from the second quarter, ahead of the 8% the company had guided, and operating margin reached 47.5%, 13.4 percentage points higher than a year ago. Texas Instruments’ heavy investment in its own 300mm factories is now paying back: rising volumes absorb fixed costs, so most of each extra dollar of sales drops to profit. We read this as the early part of an earnings upswing, not a peak.</a:t>
            </a:r>
            <a:endParaRPr lang="en-US" sz="870" dirty="0"/>
          </a:p>
        </p:txBody>
      </p:sp>
      <p:sp>
        <p:nvSpPr>
          <p:cNvPr id="36" name="Text 32"/>
          <p:cNvSpPr txBox="1"/>
          <p:nvPr/>
        </p:nvSpPr>
        <p:spPr>
          <a:xfrm>
            <a:off x="539496" y="477387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TXN: Q3 2026 results and Q4 guidance vs. consensus</a:t>
            </a:r>
            <a:endParaRPr lang="en-US" sz="950" dirty="0"/>
          </a:p>
        </p:txBody>
      </p:sp>
      <p:sp>
        <p:nvSpPr>
          <p:cNvPr id="37" name="Text 33"/>
          <p:cNvSpPr txBox="1"/>
          <p:nvPr/>
        </p:nvSpPr>
        <p:spPr>
          <a:xfrm>
            <a:off x="539496" y="4956759"/>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Reported Q3 2026 and Q4 2026 guidance midpoints vs. Bloomberg consensus · Revenue, EPS and guidance in %, margins in percentage points</a:t>
            </a:r>
            <a:endParaRPr lang="en-US" sz="720" dirty="0"/>
          </a:p>
        </p:txBody>
      </p:sp>
      <p:pic>
        <p:nvPicPr>
          <p:cNvPr id="38" name="Image 2" descr="/home/claude/txn/c1_crop.png">    </p:cNvPr>
          <p:cNvPicPr>
            <a:picLocks noChangeAspect="1"/>
          </p:cNvPicPr>
          <p:nvPr/>
        </p:nvPicPr>
        <p:blipFill>
          <a:blip r:embed="rId3"/>
          <a:stretch>
            <a:fillRect/>
          </a:stretch>
        </p:blipFill>
        <p:spPr>
          <a:xfrm>
            <a:off x="1447129" y="5121351"/>
            <a:ext cx="4667829" cy="1456363"/>
          </a:xfrm>
          <a:prstGeom prst="rect">
            <a:avLst/>
          </a:prstGeom>
        </p:spPr>
      </p:pic>
      <p:sp>
        <p:nvSpPr>
          <p:cNvPr id="39" name="Text 34"/>
          <p:cNvSpPr txBox="1"/>
          <p:nvPr/>
        </p:nvSpPr>
        <p:spPr>
          <a:xfrm>
            <a:off x="539496" y="663257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Every line beat, and the forward lines beat by more. The Q4 earnings per share guide of USD 2.62 at the midpoint is 14% above consensus and flat on Q3, in a quarter that is usually seasonally softer. Annualised, that run-rate is USD 10.5 a share, 19% above the USD 8.8 consensus for the next twelve months: we expect estimates to rise.</a:t>
            </a:r>
            <a:endParaRPr lang="en-US" sz="870" dirty="0"/>
          </a:p>
        </p:txBody>
      </p:sp>
      <p:sp>
        <p:nvSpPr>
          <p:cNvPr id="40" name="Text 35"/>
          <p:cNvSpPr txBox="1"/>
          <p:nvPr/>
        </p:nvSpPr>
        <p:spPr>
          <a:xfrm>
            <a:off x="539496" y="723768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1" name="Text 36"/>
          <p:cNvSpPr txBox="1"/>
          <p:nvPr/>
        </p:nvSpPr>
        <p:spPr>
          <a:xfrm>
            <a:off x="539496" y="748457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Texas Instruments but would not chase the stock at USD 286; we would add on pullbacks towards the 40-week moving average, now close to USD 260. We underwrite consensus 12m-forward earnings per share moving from USD 8.8 towards USD 10 over the next two quarters, as the Q4 run-rate, analog price increases and customer restocking feed through. The debate has moved from whether the cycle has turned to how much of it the multiple already pays for. At 32.4 times forward earnings, the catalyst is upgrades, not a re-rating. The next test is the Q4 print and the 2027 capital spending plan in late January.</a:t>
            </a:r>
            <a:endParaRPr lang="en-US" sz="870" dirty="0"/>
          </a:p>
        </p:txBody>
      </p:sp>
      <p:sp>
        <p:nvSpPr>
          <p:cNvPr id="42" name="Shape 37"/>
          <p:cNvSpPr/>
          <p:nvPr/>
        </p:nvSpPr>
        <p:spPr>
          <a:xfrm>
            <a:off x="3781044" y="8560362"/>
            <a:ext cx="0" cy="985647"/>
          </a:xfrm>
          <a:prstGeom prst="line">
            <a:avLst/>
          </a:prstGeom>
          <a:noFill/>
          <a:ln w="7620">
            <a:solidFill>
              <a:srgbClr val="D6D9DE"/>
            </a:solidFill>
            <a:prstDash val="solid"/>
          </a:ln>
        </p:spPr>
      </p:sp>
      <p:sp>
        <p:nvSpPr>
          <p:cNvPr id="43" name="Text 38"/>
          <p:cNvSpPr txBox="1"/>
          <p:nvPr/>
        </p:nvSpPr>
        <p:spPr>
          <a:xfrm>
            <a:off x="539496" y="8560362"/>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4" name="Text 39"/>
          <p:cNvSpPr txBox="1"/>
          <p:nvPr/>
        </p:nvSpPr>
        <p:spPr>
          <a:xfrm>
            <a:off x="539496" y="8752386"/>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Consensus 12m-forward EPS passing the 2022 peak of USD 9.5 by the Q4 print; confirmation in January that analog price increases extend into 2027 contracts; distributor and customer inventories starting to rebuild, which management says has not yet begun.</a:t>
            </a:r>
            <a:endParaRPr lang="en-US" sz="870" dirty="0"/>
          </a:p>
        </p:txBody>
      </p:sp>
      <p:sp>
        <p:nvSpPr>
          <p:cNvPr id="45" name="Text 40"/>
          <p:cNvSpPr txBox="1"/>
          <p:nvPr/>
        </p:nvSpPr>
        <p:spPr>
          <a:xfrm>
            <a:off x="3963924" y="8560362"/>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6" name="Text 41"/>
          <p:cNvSpPr txBox="1"/>
          <p:nvPr/>
        </p:nvSpPr>
        <p:spPr>
          <a:xfrm>
            <a:off x="3963924" y="8752386"/>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 Q1 2027 revenue guide weaker than the usual seasonal decline, which would point to Q4 pull-ins; a 2027 capital spending plan that keeps free cash flow below the trailing USD 8.4bn; the P/E holding above 30x while earnings upgrades stall.</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volume and mix now, pricing later</a:t>
            </a:r>
            <a:endParaRPr lang="en-US" sz="1100" dirty="0"/>
          </a:p>
        </p:txBody>
      </p:sp>
      <p:sp>
        <p:nvSpPr>
          <p:cNvPr id="8" name="Text 4"/>
          <p:cNvSpPr txBox="1"/>
          <p:nvPr/>
        </p:nvSpPr>
        <p:spPr>
          <a:xfrm>
            <a:off x="539496" y="143103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Q3 revenue of USD 6.06bn rose 28% year on year and 11% sequentially, beating the guidance midpoint of USD 5.90bn and consensus of USD 5.92bn. Analog, about 81% of sales, grew 32% to USD 4.91bn; Embedded Processing rose 21% to USD 858m. By end market, Industrial grew more than 40% to an all-time high and Data Center nearly doubled (+95%), driven by power management chips for AI servers. Automotive also set a record. Management sees demand as broad across regions and most end markets, and says customers are not yet building inventory: this is end demand, not restocking.</a:t>
            </a:r>
            <a:endParaRPr lang="en-US" sz="870" dirty="0"/>
          </a:p>
        </p:txBody>
      </p:sp>
      <p:sp>
        <p:nvSpPr>
          <p:cNvPr id="9" name="Text 5"/>
          <p:cNvSpPr txBox="1"/>
          <p:nvPr/>
        </p:nvSpPr>
        <p:spPr>
          <a:xfrm>
            <a:off x="539496" y="231335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margin read is the stronger signal. Gross margin reached 64.2%, 2.4 percentage points above consensus and 6.8 points above Q3 2025, as higher utilisation of the 300mm fabs spread fixed costs over more wafers. Operating margin of 47.5% was 13.4 points higher year on year, and EPS of USD 2.62 rose 77% despite a one-cent charge outside the original guidance. Operating cash flow was USD 3.42bn in the quarter and trailing free cash flow USD 8.4bn, helped by CHIPS Act incentives. Pricing played only a small part: increases started in the second half of 2026.</a:t>
            </a:r>
            <a:endParaRPr lang="en-US" sz="870" dirty="0"/>
          </a:p>
        </p:txBody>
      </p:sp>
      <p:sp>
        <p:nvSpPr>
          <p:cNvPr id="10" name="Text 6"/>
          <p:cNvSpPr txBox="1"/>
          <p:nvPr/>
        </p:nvSpPr>
        <p:spPr>
          <a:xfrm>
            <a:off x="539496" y="323225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Q4 holds flat, 2027 adds pricing</a:t>
            </a:r>
            <a:endParaRPr lang="en-US" sz="1100" dirty="0"/>
          </a:p>
        </p:txBody>
      </p:sp>
      <p:sp>
        <p:nvSpPr>
          <p:cNvPr id="11" name="Text 7"/>
          <p:cNvSpPr txBox="1"/>
          <p:nvPr/>
        </p:nvSpPr>
        <p:spPr>
          <a:xfrm>
            <a:off x="539496" y="347914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Q4 guidance of USD 5.8 to 6.3bn revenue and USD 2.45 to 2.79 EPS sits 6% and 14% above consensus at the midpoints. The more important message concerns 2027. Management expects price increases across analog, power and microcontrollers to contribute more once current negotiations close, while some competitors quote lead times of up to 52 weeks on specialised parts against about six months at Texas Instruments. That gap should let the company gain share as supply tightens. Restocking has not started, which leaves a second leg of demand ahead. The quarterly dividend rises 7% to USD 1.52, and USD 5.8bn was returned to shareholders over twelve months.</a:t>
            </a:r>
            <a:endParaRPr lang="en-US" sz="870" dirty="0"/>
          </a:p>
        </p:txBody>
      </p:sp>
      <p:sp>
        <p:nvSpPr>
          <p:cNvPr id="12" name="Text 8"/>
          <p:cNvSpPr txBox="1"/>
          <p:nvPr/>
        </p:nvSpPr>
        <p:spPr>
          <a:xfrm>
            <a:off x="539496" y="455493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multiple is already full</a:t>
            </a:r>
            <a:endParaRPr lang="en-US" sz="1100" dirty="0"/>
          </a:p>
        </p:txBody>
      </p:sp>
      <p:sp>
        <p:nvSpPr>
          <p:cNvPr id="13" name="Text 9"/>
          <p:cNvSpPr txBox="1"/>
          <p:nvPr/>
        </p:nvSpPr>
        <p:spPr>
          <a:xfrm>
            <a:off x="539496" y="480181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TXN: share price vs. consensus earnings and valuation</a:t>
            </a:r>
            <a:endParaRPr lang="en-US" sz="950" dirty="0"/>
          </a:p>
        </p:txBody>
      </p:sp>
      <p:sp>
        <p:nvSpPr>
          <p:cNvPr id="14" name="Text 10"/>
          <p:cNvSpPr txBox="1"/>
          <p:nvPr/>
        </p:nvSpPr>
        <p:spPr>
          <a:xfrm>
            <a:off x="539496" y="4984699"/>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January 2010 to 22 October 2026 · Bloomberg consensus 12m-forward EPS · 40-week simple MA · Log scale · Last price USD 285.71 on 22 October, the first session after the release</a:t>
            </a:r>
            <a:endParaRPr lang="en-US" sz="720" dirty="0"/>
          </a:p>
        </p:txBody>
      </p:sp>
      <p:pic>
        <p:nvPicPr>
          <p:cNvPr id="15" name="Image 2" descr="/home/claude/txn/c2_crop.png">    </p:cNvPr>
          <p:cNvPicPr>
            <a:picLocks noChangeAspect="1"/>
          </p:cNvPicPr>
          <p:nvPr/>
        </p:nvPicPr>
        <p:blipFill>
          <a:blip r:embed="rId3"/>
          <a:stretch>
            <a:fillRect/>
          </a:stretch>
        </p:blipFill>
        <p:spPr>
          <a:xfrm>
            <a:off x="863651" y="5268163"/>
            <a:ext cx="5834786" cy="3491536"/>
          </a:xfrm>
          <a:prstGeom prst="rect">
            <a:avLst/>
          </a:prstGeom>
        </p:spPr>
      </p:pic>
      <p:sp>
        <p:nvSpPr>
          <p:cNvPr id="16" name="Text 11"/>
          <p:cNvSpPr txBox="1"/>
          <p:nvPr/>
        </p:nvSpPr>
        <p:spPr>
          <a:xfrm>
            <a:off x="539496" y="881456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 price has risen 67% over twelve months, ahead of a 54% increase in consensus 12m-forward EPS, so part of the rally came from the multiple. Since the July results the pattern has reversed: estimates are up 13% while the price is 2% lower, taking the P/E from 37.5x to 32.4x. That is still 48% above the 21.9x average since 2010, though below the 43.1x peak of November 2024. The price sits 10% above its 40-week average. If consensus reaches the USD 10.5 Q4 run-rate, the multiple falls to 27.3x at today’s price.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Texas Instruments Q3 2026 earnings release of 21 October 2026, analyst research notes of 22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Instruments Q3 2026: upcycle broadens, earnings must do the work</dc:title>
  <dc:subject>PptxGenJS Presentation</dc:subject>
  <dc:creator>Syz Research</dc:creator>
  <cp:lastModifiedBy>Syz Research</cp:lastModifiedBy>
  <cp:revision>1</cp:revision>
  <dcterms:created xsi:type="dcterms:W3CDTF">2026-10-22T15:43:48Z</dcterms:created>
  <dcterms:modified xsi:type="dcterms:W3CDTF">2026-10-22T15:43:48Z</dcterms:modified>
</cp:coreProperties>
</file>