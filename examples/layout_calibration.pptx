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14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55448"/>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Earnings update</a:t>
            </a:r>
            <a:endParaRPr lang="en-US" sz="700" dirty="0"/>
          </a:p>
        </p:txBody>
      </p:sp>
      <p:sp>
        <p:nvSpPr>
          <p:cNvPr id="7" name="Text 3"/>
          <p:cNvSpPr txBox="1"/>
          <p:nvPr/>
        </p:nvSpPr>
        <p:spPr>
          <a:xfrm>
            <a:off x="539496" y="1019556"/>
            <a:ext cx="6483096" cy="526796"/>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ASML Q3 2026: orders confirm the upcycle, valuation leaves little slack</a:t>
            </a:r>
            <a:endParaRPr lang="en-US" sz="1700" dirty="0"/>
          </a:p>
        </p:txBody>
      </p:sp>
      <p:sp>
        <p:nvSpPr>
          <p:cNvPr id="8" name="Text 4"/>
          <p:cNvSpPr txBox="1"/>
          <p:nvPr/>
        </p:nvSpPr>
        <p:spPr>
          <a:xfrm>
            <a:off x="539496" y="1582928"/>
            <a:ext cx="6483096" cy="164592"/>
          </a:xfrm>
          <a:prstGeom prst="rect">
            <a:avLst/>
          </a:prstGeom>
          <a:noFill/>
          <a:ln/>
        </p:spPr>
        <p:txBody>
          <a:bodyPr wrap="square" lIns="0" tIns="0" rIns="0" bIns="0" rtlCol="0" anchor="t"/>
          <a:lstStyle/>
          <a:p>
            <a:pPr indent="0" marL="0">
              <a:buNone/>
            </a:pPr>
            <a:r>
              <a:rPr lang="en-US" sz="870" b="1" dirty="0">
                <a:solidFill>
                  <a:srgbClr val="6B7280"/>
                </a:solidFill>
                <a:latin typeface="Nunito" pitchFamily="34" charset="0"/>
                <a:ea typeface="Nunito" pitchFamily="34" charset="-122"/>
                <a:cs typeface="Nunito" pitchFamily="34" charset="-120"/>
              </a:rPr>
              <a:t>14 October 2026 · Syz Research</a:t>
            </a:r>
            <a:endParaRPr lang="en-US" sz="870" dirty="0"/>
          </a:p>
        </p:txBody>
      </p:sp>
      <p:sp>
        <p:nvSpPr>
          <p:cNvPr id="9" name="Shape 5"/>
          <p:cNvSpPr/>
          <p:nvPr/>
        </p:nvSpPr>
        <p:spPr>
          <a:xfrm>
            <a:off x="539496" y="1866392"/>
            <a:ext cx="42977" cy="536067"/>
          </a:xfrm>
          <a:prstGeom prst="rect">
            <a:avLst/>
          </a:prstGeom>
          <a:solidFill>
            <a:srgbClr val="FF6C0E"/>
          </a:solidFill>
          <a:ln w="12700">
            <a:solidFill>
              <a:srgbClr val="FF6C0E"/>
            </a:solidFill>
            <a:prstDash val="solid"/>
          </a:ln>
        </p:spPr>
      </p:sp>
      <p:sp>
        <p:nvSpPr>
          <p:cNvPr id="10" name="Text 6"/>
          <p:cNvSpPr txBox="1"/>
          <p:nvPr/>
        </p:nvSpPr>
        <p:spPr>
          <a:xfrm>
            <a:off x="722376" y="1884680"/>
            <a:ext cx="6300216" cy="298323"/>
          </a:xfrm>
          <a:prstGeom prst="rect">
            <a:avLst/>
          </a:prstGeom>
          <a:noFill/>
          <a:ln/>
        </p:spPr>
        <p:txBody>
          <a:bodyPr wrap="square" lIns="0" tIns="0" rIns="0" bIns="0" rtlCol="0" anchor="t"/>
          <a:lstStyle/>
          <a:p>
            <a:pPr indent="0" marL="0">
              <a:lnSpc>
                <a:spcPct val="112500"/>
              </a:lnSpc>
              <a:buNone/>
            </a:pPr>
            <a:r>
              <a:rPr lang="en-US" sz="870" b="1" dirty="0">
                <a:solidFill>
                  <a:srgbClr val="202945"/>
                </a:solidFill>
                <a:latin typeface="Nunito" pitchFamily="34" charset="0"/>
                <a:ea typeface="Nunito" pitchFamily="34" charset="-122"/>
                <a:cs typeface="Nunito" pitchFamily="34" charset="-120"/>
              </a:rPr>
              <a:t>“Illustrative management quote of about twenty to thirty words that captures the tone of the call and the key message to investors.”</a:t>
            </a:r>
            <a:endParaRPr lang="en-US" sz="870" dirty="0"/>
          </a:p>
        </p:txBody>
      </p:sp>
      <p:sp>
        <p:nvSpPr>
          <p:cNvPr id="11" name="Text 7"/>
          <p:cNvSpPr txBox="1"/>
          <p:nvPr/>
        </p:nvSpPr>
        <p:spPr>
          <a:xfrm>
            <a:off x="722376" y="2219579"/>
            <a:ext cx="6300216" cy="155448"/>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Illustrative Name, CEO, Q3 2026 earnings call, 14 October 2026</a:t>
            </a:r>
            <a:endParaRPr lang="en-US" sz="700" dirty="0"/>
          </a:p>
        </p:txBody>
      </p:sp>
      <p:sp>
        <p:nvSpPr>
          <p:cNvPr id="12" name="Text 8"/>
          <p:cNvSpPr txBox="1"/>
          <p:nvPr/>
        </p:nvSpPr>
        <p:spPr>
          <a:xfrm>
            <a:off x="539496" y="2521331"/>
            <a:ext cx="6483096" cy="332080"/>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ASML is the sole supplier of extreme ultraviolet lithography systems, the machines that print the most advanced chips. Systems are three quarters of sales; 2025 revenue EUR 32bn. Listed in Amsterdam, market value around EUR 600bn.</a:t>
            </a:r>
            <a:endParaRPr lang="en-US" sz="870" dirty="0"/>
          </a:p>
        </p:txBody>
      </p:sp>
      <p:sp>
        <p:nvSpPr>
          <p:cNvPr id="13" name="Text 9"/>
          <p:cNvSpPr txBox="1"/>
          <p:nvPr/>
        </p:nvSpPr>
        <p:spPr>
          <a:xfrm>
            <a:off x="539496" y="2972283"/>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4" name="Text 10"/>
          <p:cNvSpPr txBox="1"/>
          <p:nvPr/>
        </p:nvSpPr>
        <p:spPr>
          <a:xfrm>
            <a:off x="539496" y="3232887"/>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Beat</a:t>
            </a:r>
            <a:endParaRPr lang="en-US" sz="700" dirty="0"/>
          </a:p>
        </p:txBody>
      </p:sp>
      <p:sp>
        <p:nvSpPr>
          <p:cNvPr id="15" name="Text 11"/>
          <p:cNvSpPr txBox="1"/>
          <p:nvPr/>
        </p:nvSpPr>
        <p:spPr>
          <a:xfrm>
            <a:off x="1133856" y="3210027"/>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EUR 9.2bn (+4% vs. consensus) and EPS EUR 7.85 (+6%), driven by EUV mix and services.</a:t>
            </a:r>
            <a:endParaRPr lang="en-US" sz="870" dirty="0"/>
          </a:p>
        </p:txBody>
      </p:sp>
      <p:sp>
        <p:nvSpPr>
          <p:cNvPr id="16" name="Text 12"/>
          <p:cNvSpPr txBox="1"/>
          <p:nvPr/>
        </p:nvSpPr>
        <p:spPr>
          <a:xfrm>
            <a:off x="539496" y="3435502"/>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Reaction</a:t>
            </a:r>
            <a:endParaRPr lang="en-US" sz="700" dirty="0"/>
          </a:p>
        </p:txBody>
      </p:sp>
      <p:sp>
        <p:nvSpPr>
          <p:cNvPr id="17" name="Text 13"/>
          <p:cNvSpPr txBox="1"/>
          <p:nvPr/>
        </p:nvSpPr>
        <p:spPr>
          <a:xfrm>
            <a:off x="1133856" y="3412642"/>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Shares fell 5.1% on the day (sector +0.3%): the Q4 guide, 2% below consensus, outweighed the beat.</a:t>
            </a:r>
            <a:endParaRPr lang="en-US" sz="870" dirty="0"/>
          </a:p>
        </p:txBody>
      </p:sp>
      <p:sp>
        <p:nvSpPr>
          <p:cNvPr id="18" name="Text 14"/>
          <p:cNvSpPr txBox="1"/>
          <p:nvPr/>
        </p:nvSpPr>
        <p:spPr>
          <a:xfrm>
            <a:off x="539496" y="3638118"/>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9" name="Text 15"/>
          <p:cNvSpPr txBox="1"/>
          <p:nvPr/>
        </p:nvSpPr>
        <p:spPr>
          <a:xfrm>
            <a:off x="1133856" y="3615258"/>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China fell to 22% of system sales from 29%, and export-licence timing remains the main swing factor.</a:t>
            </a:r>
            <a:endParaRPr lang="en-US" sz="870" dirty="0"/>
          </a:p>
        </p:txBody>
      </p:sp>
      <p:sp>
        <p:nvSpPr>
          <p:cNvPr id="20" name="Text 16"/>
          <p:cNvSpPr txBox="1"/>
          <p:nvPr/>
        </p:nvSpPr>
        <p:spPr>
          <a:xfrm>
            <a:off x="539496" y="3840734"/>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1" name="Text 17"/>
          <p:cNvSpPr txBox="1"/>
          <p:nvPr/>
        </p:nvSpPr>
        <p:spPr>
          <a:xfrm>
            <a:off x="1133856" y="3817874"/>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30.6x forward earnings, 18% above the 2010 to 2026 average: the upcycle is priced, not the next leg.</a:t>
            </a:r>
            <a:endParaRPr lang="en-US" sz="870" dirty="0"/>
          </a:p>
        </p:txBody>
      </p:sp>
      <p:sp>
        <p:nvSpPr>
          <p:cNvPr id="22" name="Shape 18"/>
          <p:cNvSpPr/>
          <p:nvPr/>
        </p:nvSpPr>
        <p:spPr>
          <a:xfrm>
            <a:off x="539496" y="4102786"/>
            <a:ext cx="6483096" cy="640080"/>
          </a:xfrm>
          <a:prstGeom prst="rect">
            <a:avLst/>
          </a:prstGeom>
          <a:solidFill>
            <a:srgbClr val="FFFFFF"/>
          </a:solidFill>
          <a:ln w="16510">
            <a:solidFill>
              <a:srgbClr val="202945"/>
            </a:solidFill>
            <a:prstDash val="solid"/>
          </a:ln>
        </p:spPr>
      </p:sp>
      <p:sp>
        <p:nvSpPr>
          <p:cNvPr id="23" name="Text 19"/>
          <p:cNvSpPr txBox="1"/>
          <p:nvPr/>
        </p:nvSpPr>
        <p:spPr>
          <a:xfrm>
            <a:off x="649224" y="4175938"/>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Revenue</a:t>
            </a:r>
            <a:endParaRPr lang="en-US" sz="700" dirty="0"/>
          </a:p>
        </p:txBody>
      </p:sp>
      <p:sp>
        <p:nvSpPr>
          <p:cNvPr id="24" name="Text 20"/>
          <p:cNvSpPr txBox="1"/>
          <p:nvPr/>
        </p:nvSpPr>
        <p:spPr>
          <a:xfrm>
            <a:off x="649224" y="4313098"/>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EUR 9.2bn</a:t>
            </a:r>
            <a:endParaRPr lang="en-US" sz="1100" dirty="0"/>
          </a:p>
        </p:txBody>
      </p:sp>
      <p:sp>
        <p:nvSpPr>
          <p:cNvPr id="25" name="Text 21"/>
          <p:cNvSpPr txBox="1"/>
          <p:nvPr/>
        </p:nvSpPr>
        <p:spPr>
          <a:xfrm>
            <a:off x="649224" y="4523410"/>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+4.1% vs. consensus</a:t>
            </a:r>
            <a:endParaRPr lang="en-US" sz="700" dirty="0"/>
          </a:p>
        </p:txBody>
      </p:sp>
      <p:sp>
        <p:nvSpPr>
          <p:cNvPr id="26" name="Shape 22"/>
          <p:cNvSpPr/>
          <p:nvPr/>
        </p:nvSpPr>
        <p:spPr>
          <a:xfrm>
            <a:off x="2160270" y="4102786"/>
            <a:ext cx="0" cy="640080"/>
          </a:xfrm>
          <a:prstGeom prst="line">
            <a:avLst/>
          </a:prstGeom>
          <a:noFill/>
          <a:ln w="7620">
            <a:solidFill>
              <a:srgbClr val="D6D9DE"/>
            </a:solidFill>
            <a:prstDash val="solid"/>
          </a:ln>
        </p:spPr>
      </p:sp>
      <p:sp>
        <p:nvSpPr>
          <p:cNvPr id="27" name="Text 23"/>
          <p:cNvSpPr txBox="1"/>
          <p:nvPr/>
        </p:nvSpPr>
        <p:spPr>
          <a:xfrm>
            <a:off x="2269998" y="4175938"/>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EPS</a:t>
            </a:r>
            <a:endParaRPr lang="en-US" sz="700" dirty="0"/>
          </a:p>
        </p:txBody>
      </p:sp>
      <p:sp>
        <p:nvSpPr>
          <p:cNvPr id="28" name="Text 24"/>
          <p:cNvSpPr txBox="1"/>
          <p:nvPr/>
        </p:nvSpPr>
        <p:spPr>
          <a:xfrm>
            <a:off x="2269998" y="4313098"/>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EUR 7.85</a:t>
            </a:r>
            <a:endParaRPr lang="en-US" sz="1100" dirty="0"/>
          </a:p>
        </p:txBody>
      </p:sp>
      <p:sp>
        <p:nvSpPr>
          <p:cNvPr id="29" name="Text 25"/>
          <p:cNvSpPr txBox="1"/>
          <p:nvPr/>
        </p:nvSpPr>
        <p:spPr>
          <a:xfrm>
            <a:off x="2269998" y="4523410"/>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+5.6% vs. consensus</a:t>
            </a:r>
            <a:endParaRPr lang="en-US" sz="700" dirty="0"/>
          </a:p>
        </p:txBody>
      </p:sp>
      <p:sp>
        <p:nvSpPr>
          <p:cNvPr id="30" name="Shape 26"/>
          <p:cNvSpPr/>
          <p:nvPr/>
        </p:nvSpPr>
        <p:spPr>
          <a:xfrm>
            <a:off x="3781044" y="4102786"/>
            <a:ext cx="0" cy="640080"/>
          </a:xfrm>
          <a:prstGeom prst="line">
            <a:avLst/>
          </a:prstGeom>
          <a:noFill/>
          <a:ln w="7620">
            <a:solidFill>
              <a:srgbClr val="D6D9DE"/>
            </a:solidFill>
            <a:prstDash val="solid"/>
          </a:ln>
        </p:spPr>
      </p:sp>
      <p:sp>
        <p:nvSpPr>
          <p:cNvPr id="31" name="Text 27"/>
          <p:cNvSpPr txBox="1"/>
          <p:nvPr/>
        </p:nvSpPr>
        <p:spPr>
          <a:xfrm>
            <a:off x="3890772" y="4175938"/>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Gross margin</a:t>
            </a:r>
            <a:endParaRPr lang="en-US" sz="700" dirty="0"/>
          </a:p>
        </p:txBody>
      </p:sp>
      <p:sp>
        <p:nvSpPr>
          <p:cNvPr id="32" name="Text 28"/>
          <p:cNvSpPr txBox="1"/>
          <p:nvPr/>
        </p:nvSpPr>
        <p:spPr>
          <a:xfrm>
            <a:off x="3890772" y="4313098"/>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53.4%</a:t>
            </a:r>
            <a:endParaRPr lang="en-US" sz="1100" dirty="0"/>
          </a:p>
        </p:txBody>
      </p:sp>
      <p:sp>
        <p:nvSpPr>
          <p:cNvPr id="33" name="Text 29"/>
          <p:cNvSpPr txBox="1"/>
          <p:nvPr/>
        </p:nvSpPr>
        <p:spPr>
          <a:xfrm>
            <a:off x="3890772" y="4523410"/>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+80bp vs. consensus</a:t>
            </a:r>
            <a:endParaRPr lang="en-US" sz="700" dirty="0"/>
          </a:p>
        </p:txBody>
      </p:sp>
      <p:sp>
        <p:nvSpPr>
          <p:cNvPr id="34" name="Shape 30"/>
          <p:cNvSpPr/>
          <p:nvPr/>
        </p:nvSpPr>
        <p:spPr>
          <a:xfrm>
            <a:off x="5401818" y="4102786"/>
            <a:ext cx="0" cy="640080"/>
          </a:xfrm>
          <a:prstGeom prst="line">
            <a:avLst/>
          </a:prstGeom>
          <a:noFill/>
          <a:ln w="7620">
            <a:solidFill>
              <a:srgbClr val="D6D9DE"/>
            </a:solidFill>
            <a:prstDash val="solid"/>
          </a:ln>
        </p:spPr>
      </p:sp>
      <p:sp>
        <p:nvSpPr>
          <p:cNvPr id="35" name="Text 31"/>
          <p:cNvSpPr txBox="1"/>
          <p:nvPr/>
        </p:nvSpPr>
        <p:spPr>
          <a:xfrm>
            <a:off x="5511546" y="4175938"/>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Q4 revenue guide</a:t>
            </a:r>
            <a:endParaRPr lang="en-US" sz="700" dirty="0"/>
          </a:p>
        </p:txBody>
      </p:sp>
      <p:sp>
        <p:nvSpPr>
          <p:cNvPr id="36" name="Text 32"/>
          <p:cNvSpPr txBox="1"/>
          <p:nvPr/>
        </p:nvSpPr>
        <p:spPr>
          <a:xfrm>
            <a:off x="5511546" y="4313098"/>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EUR 9.6bn</a:t>
            </a:r>
            <a:endParaRPr lang="en-US" sz="1100" dirty="0"/>
          </a:p>
        </p:txBody>
      </p:sp>
      <p:sp>
        <p:nvSpPr>
          <p:cNvPr id="37" name="Text 33"/>
          <p:cNvSpPr txBox="1"/>
          <p:nvPr/>
        </p:nvSpPr>
        <p:spPr>
          <a:xfrm>
            <a:off x="5511546" y="4523410"/>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-2.3% vs. consensus</a:t>
            </a:r>
            <a:endParaRPr lang="en-US" sz="700" dirty="0"/>
          </a:p>
        </p:txBody>
      </p:sp>
      <p:sp>
        <p:nvSpPr>
          <p:cNvPr id="38" name="Text 34"/>
          <p:cNvSpPr txBox="1"/>
          <p:nvPr/>
        </p:nvSpPr>
        <p:spPr>
          <a:xfrm>
            <a:off x="539496" y="486173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What the quarter means for the investment case</a:t>
            </a:r>
            <a:endParaRPr lang="en-US" sz="1100" dirty="0"/>
          </a:p>
        </p:txBody>
      </p:sp>
      <p:sp>
        <p:nvSpPr>
          <p:cNvPr id="39" name="Text 35"/>
          <p:cNvSpPr txBox="1"/>
          <p:nvPr/>
        </p:nvSpPr>
        <p:spPr>
          <a:xfrm>
            <a:off x="539496" y="5108626"/>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Orders of EUR 7.1bn beat consensus by 12% and the EUV share rose to 58%, the highest since Q2 2024, while gross margin reached 53.4% against a guide of 51 to 53%. We read the mix shift as structural rather than cyclical, and the guidance for Q4 implies a run-rate above the FY27 consensus. The debate now moves from demand.</a:t>
            </a:r>
            <a:endParaRPr lang="en-US" sz="870" dirty="0"/>
          </a:p>
        </p:txBody>
      </p:sp>
      <p:sp>
        <p:nvSpPr>
          <p:cNvPr id="40" name="Text 36"/>
          <p:cNvSpPr txBox="1"/>
          <p:nvPr/>
        </p:nvSpPr>
        <p:spPr>
          <a:xfrm>
            <a:off x="539496" y="5677154"/>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1</a:t>
            </a:r>
            <a:pPr indent="0" marL="0">
              <a:buNone/>
            </a:pPr>
            <a:r>
              <a:rPr lang="en-US" sz="870" b="1" dirty="0">
                <a:solidFill>
                  <a:srgbClr val="202945"/>
                </a:solidFill>
                <a:latin typeface="Nunito" pitchFamily="34" charset="0"/>
                <a:ea typeface="Nunito" pitchFamily="34" charset="-122"/>
                <a:cs typeface="Nunito" pitchFamily="34" charset="-120"/>
              </a:rPr>
              <a:t> · ASML Q3 2026: results vs. consensus</a:t>
            </a:r>
            <a:endParaRPr lang="en-US" sz="870" dirty="0"/>
          </a:p>
        </p:txBody>
      </p:sp>
      <p:sp>
        <p:nvSpPr>
          <p:cNvPr id="41" name="Text 37"/>
          <p:cNvSpPr txBox="1"/>
          <p:nvPr/>
        </p:nvSpPr>
        <p:spPr>
          <a:xfrm>
            <a:off x="539496" y="5850890"/>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Surprise vs. Bloomberg consensus, % · guidance midpoint vs. consensus · illustrative numbers</a:t>
            </a:r>
            <a:endParaRPr lang="en-US" sz="700" dirty="0"/>
          </a:p>
        </p:txBody>
      </p:sp>
      <p:pic>
        <p:nvPicPr>
          <p:cNvPr id="42" name="Image 2" descr="/home/claude/c1_crop.png">    </p:cNvPr>
          <p:cNvPicPr>
            <a:picLocks noChangeAspect="1"/>
          </p:cNvPicPr>
          <p:nvPr/>
        </p:nvPicPr>
        <p:blipFill>
          <a:blip r:embed="rId3"/>
          <a:stretch>
            <a:fillRect/>
          </a:stretch>
        </p:blipFill>
        <p:spPr>
          <a:xfrm>
            <a:off x="1641622" y="6012180"/>
            <a:ext cx="4278843" cy="1334999"/>
          </a:xfrm>
          <a:prstGeom prst="rect">
            <a:avLst/>
          </a:prstGeom>
        </p:spPr>
      </p:pic>
      <p:sp>
        <p:nvSpPr>
          <p:cNvPr id="43" name="Text 38"/>
          <p:cNvSpPr txBox="1"/>
          <p:nvPr/>
        </p:nvSpPr>
        <p:spPr>
          <a:xfrm>
            <a:off x="539496" y="7402043"/>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Orders of EUR 7.1bn beat consensus by 12% and the EUV share rose to 58%, the highest since Q2 2024, while gross margin reached 53.4% against a guide of 51 to 53%. We read the mix shift as structural rather than cyclical, and the guidance for Q4 implies a run-rate above the FY27 consensus. The.</a:t>
            </a:r>
            <a:endParaRPr lang="en-US" sz="870" dirty="0"/>
          </a:p>
        </p:txBody>
      </p:sp>
      <p:sp>
        <p:nvSpPr>
          <p:cNvPr id="44" name="Text 39"/>
          <p:cNvSpPr txBox="1"/>
          <p:nvPr/>
        </p:nvSpPr>
        <p:spPr>
          <a:xfrm>
            <a:off x="539496" y="800714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5" name="Text 40"/>
          <p:cNvSpPr txBox="1"/>
          <p:nvPr/>
        </p:nvSpPr>
        <p:spPr>
          <a:xfrm>
            <a:off x="539496" y="8254035"/>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Orders of EUR 7.1bn beat consensus by 12% and the EUV share rose to 58%, the highest since Q2 2024, while gross margin reached 53.4% against a guide of 51 to 53%. We read the mix shift as structural rather than cyclical, and the guidance for Q4 implies a run-rate above the FY27 consensus. The debate now moves from demand to capacity. Orders of EUR 7.1bn beat consensus by 12% and the EUV share rose to 58%, the highest since Q2 2024, while gross margin.</a:t>
            </a:r>
            <a:endParaRPr lang="en-US" sz="870" dirty="0"/>
          </a:p>
        </p:txBody>
      </p:sp>
      <p:sp>
        <p:nvSpPr>
          <p:cNvPr id="46" name="Shape 41"/>
          <p:cNvSpPr/>
          <p:nvPr/>
        </p:nvSpPr>
        <p:spPr>
          <a:xfrm>
            <a:off x="3781044" y="9016035"/>
            <a:ext cx="0" cy="828751"/>
          </a:xfrm>
          <a:prstGeom prst="line">
            <a:avLst/>
          </a:prstGeom>
          <a:noFill/>
          <a:ln w="7620">
            <a:solidFill>
              <a:srgbClr val="D6D9DE"/>
            </a:solidFill>
            <a:prstDash val="solid"/>
          </a:ln>
        </p:spPr>
      </p:sp>
      <p:sp>
        <p:nvSpPr>
          <p:cNvPr id="47" name="Text 42"/>
          <p:cNvSpPr txBox="1"/>
          <p:nvPr/>
        </p:nvSpPr>
        <p:spPr>
          <a:xfrm>
            <a:off x="539496" y="9016035"/>
            <a:ext cx="3058668"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strengthen our view</a:t>
            </a:r>
            <a:endParaRPr lang="en-US" sz="700" dirty="0"/>
          </a:p>
        </p:txBody>
      </p:sp>
      <p:sp>
        <p:nvSpPr>
          <p:cNvPr id="48" name="Text 43"/>
          <p:cNvSpPr txBox="1"/>
          <p:nvPr/>
        </p:nvSpPr>
        <p:spPr>
          <a:xfrm>
            <a:off x="539496" y="9208059"/>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Orders of EUR 7.1bn beat consensus by 12% and the EUV share rose to 58%, the highest since Q2 2024, while gross margin reached 53.4% against a guide of 51 to 53%. We read the mix.</a:t>
            </a:r>
            <a:endParaRPr lang="en-US" sz="870" dirty="0"/>
          </a:p>
        </p:txBody>
      </p:sp>
      <p:sp>
        <p:nvSpPr>
          <p:cNvPr id="49" name="Text 44"/>
          <p:cNvSpPr txBox="1"/>
          <p:nvPr/>
        </p:nvSpPr>
        <p:spPr>
          <a:xfrm>
            <a:off x="3963924" y="9016035"/>
            <a:ext cx="3058668"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change our view</a:t>
            </a:r>
            <a:endParaRPr lang="en-US" sz="700" dirty="0"/>
          </a:p>
        </p:txBody>
      </p:sp>
      <p:sp>
        <p:nvSpPr>
          <p:cNvPr id="50" name="Text 45"/>
          <p:cNvSpPr txBox="1"/>
          <p:nvPr/>
        </p:nvSpPr>
        <p:spPr>
          <a:xfrm>
            <a:off x="3963924" y="9208059"/>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Orders of EUR 7.1bn beat consensus by 12% and the EUV share rose to 58%, the highest since Q2 2024, while gross margin reached 53.4% against a guide of 51 to 53%. We read the mix.</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14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329184"/>
          </a:xfrm>
          <a:prstGeom prst="rect">
            <a:avLst/>
          </a:prstGeom>
          <a:noFill/>
          <a:ln/>
        </p:spPr>
        <p:txBody>
          <a:bodyPr wrap="square" lIns="0" tIns="0" rIns="0" bIns="0" rtlCol="0" anchor="t"/>
          <a:lstStyle/>
          <a:p>
            <a:pPr indent="0" marL="0">
              <a:buNone/>
            </a:pPr>
            <a:r>
              <a:rPr lang="en-US" sz="1700" b="1" dirty="0">
                <a:solidFill>
                  <a:srgbClr val="202945"/>
                </a:solidFill>
                <a:latin typeface="Nunito" pitchFamily="34" charset="0"/>
                <a:ea typeface="Nunito" pitchFamily="34" charset="-122"/>
                <a:cs typeface="Nunito" pitchFamily="34" charset="-120"/>
              </a:rPr>
              <a:t>Beyond the key takeaways</a:t>
            </a:r>
            <a:endParaRPr lang="en-US" sz="1700" dirty="0"/>
          </a:p>
        </p:txBody>
      </p:sp>
      <p:sp>
        <p:nvSpPr>
          <p:cNvPr id="7" name="Text 3"/>
          <p:cNvSpPr txBox="1"/>
          <p:nvPr/>
        </p:nvSpPr>
        <p:spPr>
          <a:xfrm>
            <a:off x="539496" y="1239012"/>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the beat was mix, not volume</a:t>
            </a:r>
            <a:endParaRPr lang="en-US" sz="1100" dirty="0"/>
          </a:p>
        </p:txBody>
      </p:sp>
      <p:sp>
        <p:nvSpPr>
          <p:cNvPr id="8" name="Text 4"/>
          <p:cNvSpPr txBox="1"/>
          <p:nvPr/>
        </p:nvSpPr>
        <p:spPr>
          <a:xfrm>
            <a:off x="539496" y="1485900"/>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Orders of EUR 7.1bn beat consensus by 12% and the EUV share rose to 58%, the highest since Q2 2024, while gross margin reached 53.4% against a guide of 51 to 53%. We read the mix shift as structural rather than cyclical, and the guidance for Q4 implies a run-rate above the FY27 consensus. The debate now moves from demand to capacity. Orders of EUR 7.1bn beat consensus by 12% and the EUV share rose to 58%, the highest since Q2 2024, while gross margin reached 53.4% against a guide of 51 to 53%. We read the mix shift as structural rather than cyclical, and the guidance for Q4 implies.</a:t>
            </a:r>
            <a:endParaRPr lang="en-US" sz="870" dirty="0"/>
          </a:p>
        </p:txBody>
      </p:sp>
      <p:sp>
        <p:nvSpPr>
          <p:cNvPr id="9" name="Text 5"/>
          <p:cNvSpPr txBox="1"/>
          <p:nvPr/>
        </p:nvSpPr>
        <p:spPr>
          <a:xfrm>
            <a:off x="539496" y="2368220"/>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Orders of EUR 7.1bn beat consensus by 12% and the EUV share rose to 58%, the highest since Q2 2024, while gross margin reached 53.4% against a guide of 51 to 53%. We read the mix shift as structural rather than cyclical, and the guidance for Q4 implies a run-rate above the FY27 consensus. The debate now moves from demand to capacity. Orders of EUR 7.1bn beat consensus by 12% and the EUV share rose to 58%, the highest since Q2 2024, while gross margin reached 53.4% against a guide of 51 to 53%. We read the mix shift as.</a:t>
            </a:r>
            <a:endParaRPr lang="en-US" sz="870" dirty="0"/>
          </a:p>
        </p:txBody>
      </p:sp>
      <p:sp>
        <p:nvSpPr>
          <p:cNvPr id="10" name="Text 6"/>
          <p:cNvSpPr txBox="1"/>
          <p:nvPr/>
        </p:nvSpPr>
        <p:spPr>
          <a:xfrm>
            <a:off x="539496" y="3287116"/>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guidance leans on EUV and services</a:t>
            </a:r>
            <a:endParaRPr lang="en-US" sz="1100" dirty="0"/>
          </a:p>
        </p:txBody>
      </p:sp>
      <p:sp>
        <p:nvSpPr>
          <p:cNvPr id="11" name="Text 7"/>
          <p:cNvSpPr txBox="1"/>
          <p:nvPr/>
        </p:nvSpPr>
        <p:spPr>
          <a:xfrm>
            <a:off x="539496" y="3534004"/>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Orders of EUR 7.1bn beat consensus by 12% and the EUV share rose to 58%, the highest since Q2 2024, while gross margin reached 53.4% against a guide of 51 to 53%. We read the mix shift as structural rather than cyclical, and the guidance for Q4 implies a run-rate above the FY27 consensus. The debate now moves from demand to capacity. Orders of EUR 7.1bn beat consensus by 12% and the EUV share rose to 58%, the highest since Q2 2024, while gross margin reached 53.4% against a guide of 51 to 53%. We read the mix shift as structural rather than cyclical, and.</a:t>
            </a:r>
            <a:endParaRPr lang="en-US" sz="870" dirty="0"/>
          </a:p>
        </p:txBody>
      </p:sp>
      <p:sp>
        <p:nvSpPr>
          <p:cNvPr id="12" name="Text 8"/>
          <p:cNvSpPr txBox="1"/>
          <p:nvPr/>
        </p:nvSpPr>
        <p:spPr>
          <a:xfrm>
            <a:off x="539496" y="4452899"/>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the upcycle is priced, the next leg is not</a:t>
            </a:r>
            <a:endParaRPr lang="en-US" sz="1100" dirty="0"/>
          </a:p>
        </p:txBody>
      </p:sp>
      <p:sp>
        <p:nvSpPr>
          <p:cNvPr id="13" name="Text 9"/>
          <p:cNvSpPr txBox="1"/>
          <p:nvPr/>
        </p:nvSpPr>
        <p:spPr>
          <a:xfrm>
            <a:off x="539496" y="4699787"/>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2</a:t>
            </a:r>
            <a:pPr indent="0" marL="0">
              <a:buNone/>
            </a:pPr>
            <a:r>
              <a:rPr lang="en-US" sz="870" b="1" dirty="0">
                <a:solidFill>
                  <a:srgbClr val="202945"/>
                </a:solidFill>
                <a:latin typeface="Nunito" pitchFamily="34" charset="0"/>
                <a:ea typeface="Nunito" pitchFamily="34" charset="-122"/>
                <a:cs typeface="Nunito" pitchFamily="34" charset="-120"/>
              </a:rPr>
              <a:t> · ASML: share price vs. consensus earnings and valuation</a:t>
            </a:r>
            <a:endParaRPr lang="en-US" sz="870" dirty="0"/>
          </a:p>
        </p:txBody>
      </p:sp>
      <p:sp>
        <p:nvSpPr>
          <p:cNvPr id="14" name="Text 10"/>
          <p:cNvSpPr txBox="1"/>
          <p:nvPr/>
        </p:nvSpPr>
        <p:spPr>
          <a:xfrm>
            <a:off x="539496" y="4873523"/>
            <a:ext cx="6483096" cy="23114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ASML NA Equity, weekly · BEst 12m-forward consensus · 40-week simple MA · log scale · P/E shaded above (orange) / below (blue) its 2010 to 2026 average</a:t>
            </a:r>
            <a:endParaRPr lang="en-US" sz="700" dirty="0"/>
          </a:p>
        </p:txBody>
      </p:sp>
      <p:pic>
        <p:nvPicPr>
          <p:cNvPr id="15" name="Image 2" descr="/home/claude/c2_crop.png">    </p:cNvPr>
          <p:cNvPicPr>
            <a:picLocks noChangeAspect="1"/>
          </p:cNvPicPr>
          <p:nvPr/>
        </p:nvPicPr>
        <p:blipFill>
          <a:blip r:embed="rId3"/>
          <a:stretch>
            <a:fillRect/>
          </a:stretch>
        </p:blipFill>
        <p:spPr>
          <a:xfrm>
            <a:off x="928482" y="5150383"/>
            <a:ext cx="5705124" cy="3413946"/>
          </a:xfrm>
          <a:prstGeom prst="rect">
            <a:avLst/>
          </a:prstGeom>
        </p:spPr>
      </p:pic>
      <p:sp>
        <p:nvSpPr>
          <p:cNvPr id="16" name="Text 11"/>
          <p:cNvSpPr txBox="1"/>
          <p:nvPr/>
        </p:nvSpPr>
        <p:spPr>
          <a:xfrm>
            <a:off x="539496" y="8619194"/>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Orders of EUR 7.1bn beat consensus by 12% and the EUV share rose to 58%, the highest since Q2 2024, while gross margin reached 53.4% against a guide of 51 to 53%. We read the mix shift as structural rather than cyclical, and the guidance for Q4 implies a run-rate above the FY27 consensus. The debate now moves from demand to capacity. Orders of EUR 7.1bn beat consensus by 12% and the EUV share rose to 58%, the highest since Q2 2024, while gross margin reached 53.4% against a guide of 51 to 53%. We.</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14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664708"/>
            <a:ext cx="6483096" cy="18288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SYZ</a:t>
            </a:r>
            <a:pPr indent="0" marL="0">
              <a:buNone/>
            </a:pPr>
            <a:r>
              <a:rPr lang="en-US" sz="700" b="1" dirty="0">
                <a:solidFill>
                  <a:srgbClr val="9AA0A8"/>
                </a:solidFill>
                <a:latin typeface="Nunito" pitchFamily="34" charset="0"/>
                <a:ea typeface="Nunito" pitchFamily="34" charset="-122"/>
                <a:cs typeface="Nunito" pitchFamily="34" charset="-120"/>
              </a:rPr>
              <a:t> Source: Syz Research, Bloomberg, company filings</a:t>
            </a:r>
            <a:endParaRPr lang="en-US" sz="700" dirty="0"/>
          </a:p>
        </p:txBody>
      </p:sp>
      <p:sp>
        <p:nvSpPr>
          <p:cNvPr id="7" name="Text 3"/>
          <p:cNvSpPr txBox="1"/>
          <p:nvPr/>
        </p:nvSpPr>
        <p:spPr>
          <a:xfrm>
            <a:off x="539496" y="5993892"/>
            <a:ext cx="6483096" cy="182880"/>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Disclaimer</a:t>
            </a:r>
            <a:endParaRPr lang="en-US" sz="700" dirty="0"/>
          </a:p>
        </p:txBody>
      </p:sp>
      <p:sp>
        <p:nvSpPr>
          <p:cNvPr id="8" name="Text 4"/>
          <p:cNvSpPr txBox="1"/>
          <p:nvPr/>
        </p:nvSpPr>
        <p:spPr>
          <a:xfrm>
            <a:off x="539496" y="6176772"/>
            <a:ext cx="6483096" cy="55270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700" dirty="0"/>
          </a:p>
        </p:txBody>
      </p:sp>
      <p:sp>
        <p:nvSpPr>
          <p:cNvPr id="9" name="Text 5"/>
          <p:cNvSpPr txBox="1"/>
          <p:nvPr/>
        </p:nvSpPr>
        <p:spPr>
          <a:xfrm>
            <a:off x="539496" y="672947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700" dirty="0"/>
          </a:p>
        </p:txBody>
      </p:sp>
      <p:sp>
        <p:nvSpPr>
          <p:cNvPr id="10" name="Text 6"/>
          <p:cNvSpPr txBox="1"/>
          <p:nvPr/>
        </p:nvSpPr>
        <p:spPr>
          <a:xfrm>
            <a:off x="539496" y="7157720"/>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700" dirty="0"/>
          </a:p>
        </p:txBody>
      </p:sp>
      <p:sp>
        <p:nvSpPr>
          <p:cNvPr id="11" name="Text 7"/>
          <p:cNvSpPr txBox="1"/>
          <p:nvPr/>
        </p:nvSpPr>
        <p:spPr>
          <a:xfrm>
            <a:off x="539496" y="7585964"/>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700" dirty="0"/>
          </a:p>
        </p:txBody>
      </p:sp>
      <p:sp>
        <p:nvSpPr>
          <p:cNvPr id="12" name="Text 8"/>
          <p:cNvSpPr txBox="1"/>
          <p:nvPr/>
        </p:nvSpPr>
        <p:spPr>
          <a:xfrm>
            <a:off x="539496" y="8387588"/>
            <a:ext cx="6483096" cy="30378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700" dirty="0"/>
          </a:p>
        </p:txBody>
      </p:sp>
      <p:sp>
        <p:nvSpPr>
          <p:cNvPr id="13" name="Text 9"/>
          <p:cNvSpPr txBox="1"/>
          <p:nvPr/>
        </p:nvSpPr>
        <p:spPr>
          <a:xfrm>
            <a:off x="539496" y="8691372"/>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700" dirty="0"/>
          </a:p>
        </p:txBody>
      </p:sp>
      <p:sp>
        <p:nvSpPr>
          <p:cNvPr id="14" name="Text 10"/>
          <p:cNvSpPr txBox="1"/>
          <p:nvPr/>
        </p:nvSpPr>
        <p:spPr>
          <a:xfrm>
            <a:off x="539496" y="949299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ASML Q3 2026: orders confirm the upcycle, valuation leaves little slack</dc:title>
  <dc:subject>PptxGenJS Presentation</dc:subject>
  <dc:creator>Syz Research</dc:creator>
  <cp:lastModifiedBy>Syz Research</cp:lastModifiedBy>
  <cp:revision>1</cp:revision>
  <dcterms:created xsi:type="dcterms:W3CDTF">2026-10-26T16:07:07Z</dcterms:created>
  <dcterms:modified xsi:type="dcterms:W3CDTF">2026-10-26T16:07:07Z</dcterms:modified>
</cp:coreProperties>
</file>