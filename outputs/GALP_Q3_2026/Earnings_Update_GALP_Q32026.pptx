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 · Integrated oil and gas</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Galp Q3 2026: Moeve collapse hits the stock, not the case</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26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“While discussions with Moeve regarding a potential combination of our downstream businesses have concluded without an agreement, Galp’s strategic direction and investment proposition remain unchanged.”</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Maria João Carioca and João Marques da Silva, co-CEOs, Q3 2026 results release, 26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Deal</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Moeve downstream merger ended after ten months of talks, removing c.EUR 1.1 per share of synergies.</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RCA EBITDA of EUR 1,522m rose 67%, 3.5% above consensus, on Bacalhau and refining.</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Full-year EBITDA guidance lifted to c.EUR 5bn from c.EUR 4bn, operating cash flow to c.EUR 3.9bn.</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8.8% fall, nearly twice the synergy value, leaves 8.4x forward earnings, 27% below average.</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Lost synergies per share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c.EUR 1.1</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EUR 750 to 800m in total</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Results-day share move</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-8.8%</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-EUR 2.03 per share</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RCA EBITDA</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EUR 1,522m</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+3.5% vs. consensus</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FY26 EBITDA guide</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c.EUR 5.0bn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+25% vs. prior guide</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deal, not the quarter, drove the stock</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good: RCA (replacement cost adjusted) EBITDA beat consensus by 3.5% and full-year guidance rose 25%. The share price followed the deal: on results day Galp confirmed that ten months of talks to merge its Iberian refining and retail businesses with Moeve (formerly Cepsa) had ended without agreement. The shares fell 8.8%, about EUR 2.0 per share, close to twice the c.EUR 1.1 of synergy value analysts had assigned. The market is pricing a lost strategic option.</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GALP: results-day share price fall vs. lost synergy value</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EUR per share · synergies: analyst estimates of EUR 750 to 800m · share price fall: 23 October close to the 26 October results-day print</a:t>
            </a:r>
            <a:endParaRPr lang="en-US" sz="720" dirty="0"/>
          </a:p>
        </p:txBody>
      </p:sp>
      <p:pic>
        <p:nvPicPr>
          <p:cNvPr id="41" name="Image 2" descr="/home/claude/galp/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shares lost EUR 2.03 on results day, almost twice the c.EUR 1.1 of synergies analysts had assigned to the deal. We read the extra EUR 0.9 as the lost option to shrink Galp’s refining exposure: Galp would have kept only 20% of the combined refineries, moving it closer to an upstream growth story.</a:t>
            </a:r>
            <a:endParaRPr lang="en-US" sz="870" dirty="0"/>
          </a:p>
        </p:txBody>
      </p:sp>
      <p:sp>
        <p:nvSpPr>
          <p:cNvPr id="43" name="Text 38"/>
          <p:cNvSpPr txBox="1"/>
          <p:nvPr/>
        </p:nvSpPr>
        <p:spPr>
          <a:xfrm>
            <a:off x="539496" y="754557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79246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Galp and would add on the results-day weakness. The sell-off prices the failed merger as a permanent loss of value, too harshly in our view: the synergies were worth about EUR 1.1 per share, the shares lost EUR 2.0, and Galp keeps a standalone downstream that earned EUR 639m of EBITDA in Q3. We underwrite the new c.EUR 5bn EBITDA and c.EUR 3.9bn cash flow guidance, with a proposed 10% dividend rise to EUR 0.70 and the EUR 250m buyback. Management still backs consolidation; the next test is whether it sets out another route for downstream at full-year results.</a:t>
            </a:r>
            <a:endParaRPr lang="en-US" sz="870" dirty="0"/>
          </a:p>
        </p:txBody>
      </p:sp>
      <p:sp>
        <p:nvSpPr>
          <p:cNvPr id="45" name="Shape 40"/>
          <p:cNvSpPr/>
          <p:nvPr/>
        </p:nvSpPr>
        <p:spPr>
          <a:xfrm>
            <a:off x="3781044" y="8711362"/>
            <a:ext cx="0" cy="985647"/>
          </a:xfrm>
          <a:prstGeom prst="line">
            <a:avLst/>
          </a:prstGeom>
          <a:noFill/>
          <a:ln w="7620">
            <a:solidFill>
              <a:srgbClr val="D6D9DE"/>
            </a:solidFill>
            <a:prstDash val="solid"/>
          </a:ln>
        </p:spPr>
      </p:sp>
      <p:sp>
        <p:nvSpPr>
          <p:cNvPr id="46" name="Text 41"/>
          <p:cNvSpPr txBox="1"/>
          <p:nvPr/>
        </p:nvSpPr>
        <p:spPr>
          <a:xfrm>
            <a:off x="539496" y="8711362"/>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8903386"/>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new route for downstream at full-year results, such as a Sines partner or a smaller retail deal; Moeve or another party returns on revised terms; Q4 EBITDA beats the c.EUR 1.26bn implied by guidance; a larger 2027 buyback.</a:t>
            </a:r>
            <a:endParaRPr lang="en-US" sz="870" dirty="0"/>
          </a:p>
        </p:txBody>
      </p:sp>
      <p:sp>
        <p:nvSpPr>
          <p:cNvPr id="48" name="Text 43"/>
          <p:cNvSpPr txBox="1"/>
          <p:nvPr/>
        </p:nvSpPr>
        <p:spPr>
          <a:xfrm>
            <a:off x="3963924" y="8711362"/>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8903386"/>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Galp turns buyer and raises its refining exposure through a large acquisition; refining margins fall back towards the USD 13 per barrel of the original guidance, cutting the value of the standalone business; Brazil makes its temporary oil export tax permanent.</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Bacalhau and refining did the work</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RCA EBITDA rose 67% to EUR 1,522m. Upstream gained 53% to EUR 708m as the Bacalhau FPSO lifted working-interest production 14% to 131 kboe/d, with oil realisations up 32% to USD 87.3/bbl. Industrial &amp; Midstream doubled to EUR 639m: the refining margin reached USD 34.0/boe against USD 9.5/boe a year ago, on diesel cracks of USD 590/t, despite EUR 172m of hedge losses and EUR 125m of pricing-formula lags. Commercial rose 24% to EUR 147m and Renewables tripled to EUR 48m. RCA net income rose 68% to EUR 682m, about EUR 0.94 per share on our count, and operating cash flow of EUR 1,223m (+63%) left net debt at EUR 1.43bn, or 0.35x EBITDA.</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raised 2026 RCA EBITDA guidance to c.EUR 5bn from c.EUR 4bn and operating cash flow to c.EUR 3.9bn from c.EUR 3bn, on Brent at USD 90/bbl (from 80) and a realised refining margin of c.USD 25/boe (from 13). The guide implies Q4 EBITDA of about EUR 1.26bn and, on our arithmetic, a Q4 Brent near USD 78/bbl against USD 97 in Q3, so oil leaves room for a beat. Two items temper the read-across: the Sines hydrocracker turnaround that began in late September, and Brazil’s temporary oil export tax, which lifted RCA taxes 79% to EUR 493m.</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deal: a valuation gap at peak margins</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Announced in January, the plan would have created two Iberian platforms: a 50/50 RetailCo with about 3,500 service stations, and an IndustrialCo holding the Huelva, Cádiz and Sines refineries, 80% owned by Moeve and 20% by Galp. Talks failed on valuation. With refining margins high but volatile, the sides could not agree what the refineries were worth, and Q3’s EUR 639m of Industrial EBITDA shows why Galp would not sell at a discount. Handing Sines, Portugal’s only refinery, to a platform controlled by Mubadala and Carlyle also raised energy-security concerns, and press reports say the Amorim family, Galp’s largest shareholder, rejected some of Moeve’s demands.</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earnings ran ahead of the price</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GALP: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GALP PL Equity, weekly from January 2022 (the 2020 earnings collapse lifted the P/E above 130x) · BEst 12m-forward consensus · 200-day (c. 40-week) simple MA · log scale · P/E shaded vs. its 2022 to 2026 average · last price is the 26 October results-day print; consensus EPS not yet revised</a:t>
            </a:r>
            <a:endParaRPr lang="en-US" sz="720" dirty="0"/>
          </a:p>
        </p:txBody>
      </p:sp>
      <p:pic>
        <p:nvPicPr>
          <p:cNvPr id="15" name="Image 2" descr="/home/claude/galp/c2_crop.png">    </p:cNvPr>
          <p:cNvPicPr>
            <a:picLocks noChangeAspect="1"/>
          </p:cNvPicPr>
          <p:nvPr/>
        </p:nvPicPr>
        <p:blipFill>
          <a:blip r:embed="rId3"/>
          <a:stretch>
            <a:fillRect/>
          </a:stretch>
        </p:blipFill>
        <p:spPr>
          <a:xfrm>
            <a:off x="928482" y="5425059"/>
            <a:ext cx="5705124" cy="3413946"/>
          </a:xfrm>
          <a:prstGeom prst="rect">
            <a:avLst/>
          </a:prstGeom>
        </p:spPr>
      </p:pic>
      <p:sp>
        <p:nvSpPr>
          <p:cNvPr id="16" name="Text 11"/>
          <p:cNvSpPr txBox="1"/>
          <p:nvPr/>
        </p:nvSpPr>
        <p:spPr>
          <a:xfrm>
            <a:off x="539496" y="8893869"/>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have run well ahead of the share price. Over 12 months, consensus 12m-forward EPS rose 87% to EUR 2.48 while the price gained 24%, so the forward P/E fell from 12.7x to 8.4x, 27% below its 11.6x average since 2022 and under the 10.9x one-year average; results day alone took it down from 9.2x. Removing the full EUR 1.1 of synergy value from the pre-results EUR 22.96 would leave EUR 21.86, or 8.8x: the stock now trades below that, though still 6% above its 40-week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26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company filings, Galp Q3 2026 results release of 26 October 2026, analyst research notes, press reports of October 2026</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Galp Q3 2026: Moeve collapse hits the stock, not the case</dc:title>
  <dc:subject>PptxGenJS Presentation</dc:subject>
  <dc:creator>Syz Research</dc:creator>
  <cp:lastModifiedBy>Syz Research</cp:lastModifiedBy>
  <cp:revision>1</cp:revision>
  <dcterms:created xsi:type="dcterms:W3CDTF">2026-10-26T13:27:21Z</dcterms:created>
  <dcterms:modified xsi:type="dcterms:W3CDTF">2026-10-26T13:27:21Z</dcterms:modified>
</cp:coreProperties>
</file>