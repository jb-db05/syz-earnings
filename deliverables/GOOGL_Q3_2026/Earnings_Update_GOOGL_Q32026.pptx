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55448"/>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Earnings update</a:t>
            </a:r>
            <a:endParaRPr lang="en-US" sz="700" dirty="0"/>
          </a:p>
        </p:txBody>
      </p:sp>
      <p:sp>
        <p:nvSpPr>
          <p:cNvPr id="7" name="Text 3"/>
          <p:cNvSpPr txBox="1"/>
          <p:nvPr/>
        </p:nvSpPr>
        <p:spPr>
          <a:xfrm>
            <a:off x="539496" y="1019556"/>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Alphabet Q3 2026: good for AI growth, tough on margins</a:t>
            </a:r>
            <a:endParaRPr lang="en-US" sz="1700" dirty="0"/>
          </a:p>
        </p:txBody>
      </p:sp>
      <p:sp>
        <p:nvSpPr>
          <p:cNvPr id="8" name="Text 4"/>
          <p:cNvSpPr txBox="1"/>
          <p:nvPr/>
        </p:nvSpPr>
        <p:spPr>
          <a:xfrm>
            <a:off x="539496" y="1319530"/>
            <a:ext cx="6483096" cy="164592"/>
          </a:xfrm>
          <a:prstGeom prst="rect">
            <a:avLst/>
          </a:prstGeom>
          <a:noFill/>
          <a:ln/>
        </p:spPr>
        <p:txBody>
          <a:bodyPr wrap="square" lIns="0" tIns="0" rIns="0" bIns="0" rtlCol="0" anchor="t"/>
          <a:lstStyle/>
          <a:p>
            <a:pPr indent="0" marL="0">
              <a:buNone/>
            </a:pPr>
            <a:r>
              <a:rPr lang="en-US" sz="870" b="1" dirty="0">
                <a:solidFill>
                  <a:srgbClr val="6B7280"/>
                </a:solidFill>
                <a:latin typeface="Nunito" pitchFamily="34" charset="0"/>
                <a:ea typeface="Nunito" pitchFamily="34" charset="-122"/>
                <a:cs typeface="Nunito" pitchFamily="34" charset="-120"/>
              </a:rPr>
              <a:t>29 October 2026 · Syz Research</a:t>
            </a:r>
            <a:endParaRPr lang="en-US" sz="870" dirty="0"/>
          </a:p>
        </p:txBody>
      </p:sp>
      <p:sp>
        <p:nvSpPr>
          <p:cNvPr id="9" name="Shape 5"/>
          <p:cNvSpPr/>
          <p:nvPr/>
        </p:nvSpPr>
        <p:spPr>
          <a:xfrm>
            <a:off x="539496" y="1602994"/>
            <a:ext cx="42977" cy="536067"/>
          </a:xfrm>
          <a:prstGeom prst="rect">
            <a:avLst/>
          </a:prstGeom>
          <a:solidFill>
            <a:srgbClr val="FF6C0E"/>
          </a:solidFill>
          <a:ln w="12700">
            <a:solidFill>
              <a:srgbClr val="FF6C0E"/>
            </a:solidFill>
            <a:prstDash val="solid"/>
          </a:ln>
        </p:spPr>
      </p:sp>
      <p:sp>
        <p:nvSpPr>
          <p:cNvPr id="10" name="Text 6"/>
          <p:cNvSpPr txBox="1"/>
          <p:nvPr/>
        </p:nvSpPr>
        <p:spPr>
          <a:xfrm>
            <a:off x="722376" y="1621282"/>
            <a:ext cx="6300216" cy="298323"/>
          </a:xfrm>
          <a:prstGeom prst="rect">
            <a:avLst/>
          </a:prstGeom>
          <a:noFill/>
          <a:ln/>
        </p:spPr>
        <p:txBody>
          <a:bodyPr wrap="square" lIns="0" tIns="0" rIns="0" bIns="0" rtlCol="0" anchor="t"/>
          <a:lstStyle/>
          <a:p>
            <a:pPr indent="0" marL="0">
              <a:lnSpc>
                <a:spcPct val="112500"/>
              </a:lnSpc>
              <a:buNone/>
            </a:pPr>
            <a:r>
              <a:rPr lang="en-US" sz="870" b="1" dirty="0">
                <a:solidFill>
                  <a:srgbClr val="202945"/>
                </a:solidFill>
                <a:latin typeface="Nunito" pitchFamily="34" charset="0"/>
                <a:ea typeface="Nunito" pitchFamily="34" charset="-122"/>
                <a:cs typeface="Nunito" pitchFamily="34" charset="-120"/>
              </a:rPr>
              <a:t>“The strong growth in AI Mode queries had an impact because of the lower monetization we were seeing in AI Mode. To be clear, we feel very good about our trajectory here.”</a:t>
            </a:r>
            <a:endParaRPr lang="en-US" sz="870" dirty="0"/>
          </a:p>
        </p:txBody>
      </p:sp>
      <p:sp>
        <p:nvSpPr>
          <p:cNvPr id="11" name="Text 7"/>
          <p:cNvSpPr txBox="1"/>
          <p:nvPr/>
        </p:nvSpPr>
        <p:spPr>
          <a:xfrm>
            <a:off x="722376" y="1956181"/>
            <a:ext cx="6300216" cy="155448"/>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Philipp Schindler, Chief Business Officer, Google, Alphabet Q3 2026 earnings call, 28 October 2026</a:t>
            </a:r>
            <a:endParaRPr lang="en-US" sz="700" dirty="0"/>
          </a:p>
        </p:txBody>
      </p:sp>
      <p:sp>
        <p:nvSpPr>
          <p:cNvPr id="12" name="Text 8"/>
          <p:cNvSpPr txBox="1"/>
          <p:nvPr/>
        </p:nvSpPr>
        <p:spPr>
          <a:xfrm>
            <a:off x="539496" y="2257933"/>
            <a:ext cx="6483096" cy="332080"/>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Alphabet owns Google Search, YouTube, Android and Google Cloud. Google Services, mostly advertising, brings in 75% of revenue and Google Cloud 24%. Revenue now runs above USD 500bn a year; the shares trade on Nasdaq.</a:t>
            </a:r>
            <a:endParaRPr lang="en-US" sz="870" dirty="0"/>
          </a:p>
        </p:txBody>
      </p:sp>
      <p:sp>
        <p:nvSpPr>
          <p:cNvPr id="13" name="Text 9"/>
          <p:cNvSpPr txBox="1"/>
          <p:nvPr/>
        </p:nvSpPr>
        <p:spPr>
          <a:xfrm>
            <a:off x="539496" y="270888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4" name="Text 10"/>
          <p:cNvSpPr txBox="1"/>
          <p:nvPr/>
        </p:nvSpPr>
        <p:spPr>
          <a:xfrm>
            <a:off x="539496" y="2969489"/>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Miss</a:t>
            </a:r>
            <a:endParaRPr lang="en-US" sz="700" dirty="0"/>
          </a:p>
        </p:txBody>
      </p:sp>
      <p:sp>
        <p:nvSpPr>
          <p:cNvPr id="15" name="Text 11"/>
          <p:cNvSpPr txBox="1"/>
          <p:nvPr/>
        </p:nvSpPr>
        <p:spPr>
          <a:xfrm>
            <a:off x="1133856" y="2946629"/>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EPS of USD 2.12 missed consensus by 30%, mostly on a USD 0.55 loss on the SpaceX stake.</a:t>
            </a:r>
            <a:endParaRPr lang="en-US" sz="870" dirty="0"/>
          </a:p>
        </p:txBody>
      </p:sp>
      <p:sp>
        <p:nvSpPr>
          <p:cNvPr id="16" name="Text 12"/>
          <p:cNvSpPr txBox="1"/>
          <p:nvPr/>
        </p:nvSpPr>
        <p:spPr>
          <a:xfrm>
            <a:off x="539496" y="3172104"/>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Margin</a:t>
            </a:r>
            <a:endParaRPr lang="en-US" sz="700" dirty="0"/>
          </a:p>
        </p:txBody>
      </p:sp>
      <p:sp>
        <p:nvSpPr>
          <p:cNvPr id="17" name="Text 13"/>
          <p:cNvSpPr txBox="1"/>
          <p:nvPr/>
        </p:nvSpPr>
        <p:spPr>
          <a:xfrm>
            <a:off x="1133856" y="3149244"/>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Operating margin fell to 31.8% from 34.0% as depreciation rose; operating profit missed by about 6%.</a:t>
            </a:r>
            <a:endParaRPr lang="en-US" sz="870" dirty="0"/>
          </a:p>
        </p:txBody>
      </p:sp>
      <p:sp>
        <p:nvSpPr>
          <p:cNvPr id="18" name="Text 14"/>
          <p:cNvSpPr txBox="1"/>
          <p:nvPr/>
        </p:nvSpPr>
        <p:spPr>
          <a:xfrm>
            <a:off x="539496" y="3374720"/>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Growth</a:t>
            </a:r>
            <a:endParaRPr lang="en-US" sz="700" dirty="0"/>
          </a:p>
        </p:txBody>
      </p:sp>
      <p:sp>
        <p:nvSpPr>
          <p:cNvPr id="19" name="Text 15"/>
          <p:cNvSpPr txBox="1"/>
          <p:nvPr/>
        </p:nvSpPr>
        <p:spPr>
          <a:xfrm>
            <a:off x="1133856" y="335186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grew 25% and Google Cloud doubled to USD 30.7bn, with USD 561bn of contracts booked.</a:t>
            </a:r>
            <a:endParaRPr lang="en-US" sz="870" dirty="0"/>
          </a:p>
        </p:txBody>
      </p:sp>
      <p:sp>
        <p:nvSpPr>
          <p:cNvPr id="20" name="Text 16"/>
          <p:cNvSpPr txBox="1"/>
          <p:nvPr/>
        </p:nvSpPr>
        <p:spPr>
          <a:xfrm>
            <a:off x="539496" y="3577336"/>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Reaction</a:t>
            </a:r>
            <a:endParaRPr lang="en-US" sz="700" dirty="0"/>
          </a:p>
        </p:txBody>
      </p:sp>
      <p:sp>
        <p:nvSpPr>
          <p:cNvPr id="21" name="Text 17"/>
          <p:cNvSpPr txBox="1"/>
          <p:nvPr/>
        </p:nvSpPr>
        <p:spPr>
          <a:xfrm>
            <a:off x="1133856" y="3554476"/>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Shares are down over 10% pre-market on 29 October, to about 17.7x forward earnings, below average.</a:t>
            </a:r>
            <a:endParaRPr lang="en-US" sz="870" dirty="0"/>
          </a:p>
        </p:txBody>
      </p:sp>
      <p:sp>
        <p:nvSpPr>
          <p:cNvPr id="22" name="Shape 18"/>
          <p:cNvSpPr/>
          <p:nvPr/>
        </p:nvSpPr>
        <p:spPr>
          <a:xfrm>
            <a:off x="539496" y="3839388"/>
            <a:ext cx="6483096" cy="640080"/>
          </a:xfrm>
          <a:prstGeom prst="roundRect">
            <a:avLst>
              <a:gd name="adj" fmla="val 14286"/>
            </a:avLst>
          </a:prstGeom>
          <a:solidFill>
            <a:srgbClr val="FFFFFF"/>
          </a:solidFill>
          <a:ln w="16510">
            <a:solidFill>
              <a:srgbClr val="202945"/>
            </a:solidFill>
            <a:prstDash val="solid"/>
          </a:ln>
        </p:spPr>
      </p:sp>
      <p:sp>
        <p:nvSpPr>
          <p:cNvPr id="23" name="Text 19"/>
          <p:cNvSpPr txBox="1"/>
          <p:nvPr/>
        </p:nvSpPr>
        <p:spPr>
          <a:xfrm>
            <a:off x="649224"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EPS</a:t>
            </a:r>
            <a:endParaRPr lang="en-US" sz="700" dirty="0"/>
          </a:p>
        </p:txBody>
      </p:sp>
      <p:sp>
        <p:nvSpPr>
          <p:cNvPr id="24" name="Text 20"/>
          <p:cNvSpPr txBox="1"/>
          <p:nvPr/>
        </p:nvSpPr>
        <p:spPr>
          <a:xfrm>
            <a:off x="649224"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2.12</a:t>
            </a:r>
            <a:endParaRPr lang="en-US" sz="1100" dirty="0"/>
          </a:p>
        </p:txBody>
      </p:sp>
      <p:sp>
        <p:nvSpPr>
          <p:cNvPr id="25" name="Text 21"/>
          <p:cNvSpPr txBox="1"/>
          <p:nvPr/>
        </p:nvSpPr>
        <p:spPr>
          <a:xfrm>
            <a:off x="649224" y="4260012"/>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-29.6% vs. consensus</a:t>
            </a:r>
            <a:endParaRPr lang="en-US" sz="700" dirty="0"/>
          </a:p>
        </p:txBody>
      </p:sp>
      <p:sp>
        <p:nvSpPr>
          <p:cNvPr id="26" name="Shape 22"/>
          <p:cNvSpPr/>
          <p:nvPr/>
        </p:nvSpPr>
        <p:spPr>
          <a:xfrm>
            <a:off x="2160270" y="3839388"/>
            <a:ext cx="0" cy="640080"/>
          </a:xfrm>
          <a:prstGeom prst="line">
            <a:avLst/>
          </a:prstGeom>
          <a:noFill/>
          <a:ln w="7620">
            <a:solidFill>
              <a:srgbClr val="D6D9DE"/>
            </a:solidFill>
            <a:prstDash val="solid"/>
          </a:ln>
        </p:spPr>
      </p:sp>
      <p:sp>
        <p:nvSpPr>
          <p:cNvPr id="27" name="Text 23"/>
          <p:cNvSpPr txBox="1"/>
          <p:nvPr/>
        </p:nvSpPr>
        <p:spPr>
          <a:xfrm>
            <a:off x="2269998"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Operating margin</a:t>
            </a:r>
            <a:endParaRPr lang="en-US" sz="700" dirty="0"/>
          </a:p>
        </p:txBody>
      </p:sp>
      <p:sp>
        <p:nvSpPr>
          <p:cNvPr id="28" name="Text 24"/>
          <p:cNvSpPr txBox="1"/>
          <p:nvPr/>
        </p:nvSpPr>
        <p:spPr>
          <a:xfrm>
            <a:off x="2269998"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31.8%</a:t>
            </a:r>
            <a:endParaRPr lang="en-US" sz="1100" dirty="0"/>
          </a:p>
        </p:txBody>
      </p:sp>
      <p:sp>
        <p:nvSpPr>
          <p:cNvPr id="29" name="Text 25"/>
          <p:cNvSpPr txBox="1"/>
          <p:nvPr/>
        </p:nvSpPr>
        <p:spPr>
          <a:xfrm>
            <a:off x="2269998" y="4260012"/>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34.0% in Q2 2026</a:t>
            </a:r>
            <a:endParaRPr lang="en-US" sz="700" dirty="0"/>
          </a:p>
        </p:txBody>
      </p:sp>
      <p:sp>
        <p:nvSpPr>
          <p:cNvPr id="30" name="Shape 26"/>
          <p:cNvSpPr/>
          <p:nvPr/>
        </p:nvSpPr>
        <p:spPr>
          <a:xfrm>
            <a:off x="3781044" y="3839388"/>
            <a:ext cx="0" cy="640080"/>
          </a:xfrm>
          <a:prstGeom prst="line">
            <a:avLst/>
          </a:prstGeom>
          <a:noFill/>
          <a:ln w="7620">
            <a:solidFill>
              <a:srgbClr val="D6D9DE"/>
            </a:solidFill>
            <a:prstDash val="solid"/>
          </a:ln>
        </p:spPr>
      </p:sp>
      <p:sp>
        <p:nvSpPr>
          <p:cNvPr id="31" name="Text 27"/>
          <p:cNvSpPr txBox="1"/>
          <p:nvPr/>
        </p:nvSpPr>
        <p:spPr>
          <a:xfrm>
            <a:off x="3890772"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Google Cloud revenue</a:t>
            </a:r>
            <a:endParaRPr lang="en-US" sz="700" dirty="0"/>
          </a:p>
        </p:txBody>
      </p:sp>
      <p:sp>
        <p:nvSpPr>
          <p:cNvPr id="32" name="Text 28"/>
          <p:cNvSpPr txBox="1"/>
          <p:nvPr/>
        </p:nvSpPr>
        <p:spPr>
          <a:xfrm>
            <a:off x="3890772"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30.7bn</a:t>
            </a:r>
            <a:endParaRPr lang="en-US" sz="1100" dirty="0"/>
          </a:p>
        </p:txBody>
      </p:sp>
      <p:sp>
        <p:nvSpPr>
          <p:cNvPr id="33" name="Text 29"/>
          <p:cNvSpPr txBox="1"/>
          <p:nvPr/>
        </p:nvSpPr>
        <p:spPr>
          <a:xfrm>
            <a:off x="3890772" y="4260012"/>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+5.4% vs. consensus</a:t>
            </a:r>
            <a:endParaRPr lang="en-US" sz="700" dirty="0"/>
          </a:p>
        </p:txBody>
      </p:sp>
      <p:sp>
        <p:nvSpPr>
          <p:cNvPr id="34" name="Shape 30"/>
          <p:cNvSpPr/>
          <p:nvPr/>
        </p:nvSpPr>
        <p:spPr>
          <a:xfrm>
            <a:off x="5401818" y="3839388"/>
            <a:ext cx="0" cy="640080"/>
          </a:xfrm>
          <a:prstGeom prst="line">
            <a:avLst/>
          </a:prstGeom>
          <a:noFill/>
          <a:ln w="7620">
            <a:solidFill>
              <a:srgbClr val="D6D9DE"/>
            </a:solidFill>
            <a:prstDash val="solid"/>
          </a:ln>
        </p:spPr>
      </p:sp>
      <p:sp>
        <p:nvSpPr>
          <p:cNvPr id="35" name="Text 31"/>
          <p:cNvSpPr txBox="1"/>
          <p:nvPr/>
        </p:nvSpPr>
        <p:spPr>
          <a:xfrm>
            <a:off x="5511546" y="3912540"/>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Free cash flow</a:t>
            </a:r>
            <a:endParaRPr lang="en-US" sz="700" dirty="0"/>
          </a:p>
        </p:txBody>
      </p:sp>
      <p:sp>
        <p:nvSpPr>
          <p:cNvPr id="36" name="Text 32"/>
          <p:cNvSpPr txBox="1"/>
          <p:nvPr/>
        </p:nvSpPr>
        <p:spPr>
          <a:xfrm>
            <a:off x="5511546" y="4049700"/>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USD -9.1bn</a:t>
            </a:r>
            <a:endParaRPr lang="en-US" sz="1100" dirty="0"/>
          </a:p>
        </p:txBody>
      </p:sp>
      <p:sp>
        <p:nvSpPr>
          <p:cNvPr id="37" name="Text 33"/>
          <p:cNvSpPr txBox="1"/>
          <p:nvPr/>
        </p:nvSpPr>
        <p:spPr>
          <a:xfrm>
            <a:off x="5511546" y="4260012"/>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Consensus USD -2.7bn</a:t>
            </a:r>
            <a:endParaRPr lang="en-US" sz="700" dirty="0"/>
          </a:p>
        </p:txBody>
      </p:sp>
      <p:sp>
        <p:nvSpPr>
          <p:cNvPr id="38" name="Text 34"/>
          <p:cNvSpPr txBox="1"/>
          <p:nvPr/>
        </p:nvSpPr>
        <p:spPr>
          <a:xfrm>
            <a:off x="539496" y="4598340"/>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Margins explain the fall better than EPS</a:t>
            </a:r>
            <a:endParaRPr lang="en-US" sz="1100" dirty="0"/>
          </a:p>
        </p:txBody>
      </p:sp>
      <p:sp>
        <p:nvSpPr>
          <p:cNvPr id="39" name="Text 35"/>
          <p:cNvSpPr txBox="1"/>
          <p:nvPr/>
        </p:nvSpPr>
        <p:spPr>
          <a:xfrm>
            <a:off x="539496" y="4845228"/>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EPS missed consensus by 30% and the shares are down over 10% pre-market on 29 October, below USD 300. The EPS miss says little about Search, YouTube or Cloud: most of it is a loss on the SpaceX stake. The margin matters more. It fell to 31.8% from 34.0% in Q2 as depreciation on the AI build-out rose, and operating profit missed by about 6%.</a:t>
            </a:r>
            <a:endParaRPr lang="en-US" sz="870" dirty="0"/>
          </a:p>
        </p:txBody>
      </p:sp>
      <p:sp>
        <p:nvSpPr>
          <p:cNvPr id="40" name="Text 36"/>
          <p:cNvSpPr txBox="1"/>
          <p:nvPr/>
        </p:nvSpPr>
        <p:spPr>
          <a:xfrm>
            <a:off x="539496" y="5413756"/>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1</a:t>
            </a:r>
            <a:pPr indent="0" marL="0">
              <a:buNone/>
            </a:pPr>
            <a:r>
              <a:rPr lang="en-US" sz="870" b="1" dirty="0">
                <a:solidFill>
                  <a:srgbClr val="202945"/>
                </a:solidFill>
                <a:latin typeface="Nunito" pitchFamily="34" charset="0"/>
                <a:ea typeface="Nunito" pitchFamily="34" charset="-122"/>
                <a:cs typeface="Nunito" pitchFamily="34" charset="-120"/>
              </a:rPr>
              <a:t> · GOOGL: Q3 2026 results vs. consensus</a:t>
            </a:r>
            <a:endParaRPr lang="en-US" sz="870" dirty="0"/>
          </a:p>
        </p:txBody>
      </p:sp>
      <p:sp>
        <p:nvSpPr>
          <p:cNvPr id="41" name="Text 37"/>
          <p:cNvSpPr txBox="1"/>
          <p:nvPr/>
        </p:nvSpPr>
        <p:spPr>
          <a:xfrm>
            <a:off x="539496" y="5587492"/>
            <a:ext cx="6483096" cy="11557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Reported vs. consensus before the release, % · Cloud profit = Google Cloud operating income · EPS includes a USD 0.55 loss on equity securities</a:t>
            </a:r>
            <a:endParaRPr lang="en-US" sz="700" dirty="0"/>
          </a:p>
        </p:txBody>
      </p:sp>
      <p:pic>
        <p:nvPicPr>
          <p:cNvPr id="42" name="Image 2" descr="/home/claude/work/c1_crop.png">    </p:cNvPr>
          <p:cNvPicPr>
            <a:picLocks noChangeAspect="1"/>
          </p:cNvPicPr>
          <p:nvPr/>
        </p:nvPicPr>
        <p:blipFill>
          <a:blip r:embed="rId3"/>
          <a:stretch>
            <a:fillRect/>
          </a:stretch>
        </p:blipFill>
        <p:spPr>
          <a:xfrm>
            <a:off x="1641622" y="5748782"/>
            <a:ext cx="4278843" cy="1334999"/>
          </a:xfrm>
          <a:prstGeom prst="rect">
            <a:avLst/>
          </a:prstGeom>
        </p:spPr>
      </p:pic>
      <p:sp>
        <p:nvSpPr>
          <p:cNvPr id="43" name="Text 38"/>
          <p:cNvSpPr txBox="1"/>
          <p:nvPr/>
        </p:nvSpPr>
        <p:spPr>
          <a:xfrm>
            <a:off x="539496" y="7138645"/>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Google Cloud beat consensus by 5% on revenue and by 14% on operating income. Advertising fell short: total ads of USD 82bn were 1.8% below estimates. Excluding the equity loss, EPS of USD 2.67 sits 11% under consensus. Negative free cash flow of USD 9.1bn includes a USD 5.2bn EC fine; without it, the outflow is about USD 3.9bn.</a:t>
            </a:r>
            <a:endParaRPr lang="en-US" sz="870" dirty="0"/>
          </a:p>
        </p:txBody>
      </p:sp>
      <p:sp>
        <p:nvSpPr>
          <p:cNvPr id="44" name="Text 39"/>
          <p:cNvSpPr txBox="1"/>
          <p:nvPr/>
        </p:nvSpPr>
        <p:spPr>
          <a:xfrm>
            <a:off x="658368" y="7789469"/>
            <a:ext cx="6245352"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5" name="Text 40"/>
          <p:cNvSpPr txBox="1"/>
          <p:nvPr/>
        </p:nvSpPr>
        <p:spPr>
          <a:xfrm>
            <a:off x="658368" y="8036357"/>
            <a:ext cx="6245352"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investment case remains intact: good for AI growth, tough on near-term earnings. We underwrite revenue growth of around 20% into 2027. Cloud offsets part of the Search pressure in profit, with just over 55% of its USD 561bn backlog due within 24 months; the cash payback comes later. Consensus EPS should come down as depreciation rises and capex grows again in 2027. Near USD 292, the stock trades 10% below its long-run multiple and the risk/reward has improved. The next test is the Q4 report in February.</a:t>
            </a:r>
            <a:endParaRPr lang="en-US" sz="870" dirty="0"/>
          </a:p>
        </p:txBody>
      </p:sp>
      <p:sp>
        <p:nvSpPr>
          <p:cNvPr id="46" name="Shape 41"/>
          <p:cNvSpPr/>
          <p:nvPr/>
        </p:nvSpPr>
        <p:spPr>
          <a:xfrm>
            <a:off x="658368" y="8918677"/>
            <a:ext cx="6245352" cy="0"/>
          </a:xfrm>
          <a:prstGeom prst="line">
            <a:avLst/>
          </a:prstGeom>
          <a:noFill/>
          <a:ln w="7620">
            <a:solidFill>
              <a:srgbClr val="D6D9DE"/>
            </a:solidFill>
            <a:prstDash val="solid"/>
          </a:ln>
        </p:spPr>
      </p:sp>
      <p:sp>
        <p:nvSpPr>
          <p:cNvPr id="47" name="Shape 42"/>
          <p:cNvSpPr/>
          <p:nvPr/>
        </p:nvSpPr>
        <p:spPr>
          <a:xfrm>
            <a:off x="3781044" y="9028405"/>
            <a:ext cx="0" cy="828751"/>
          </a:xfrm>
          <a:prstGeom prst="line">
            <a:avLst/>
          </a:prstGeom>
          <a:noFill/>
          <a:ln w="7620">
            <a:solidFill>
              <a:srgbClr val="D6D9DE"/>
            </a:solidFill>
            <a:prstDash val="solid"/>
          </a:ln>
        </p:spPr>
      </p:sp>
      <p:sp>
        <p:nvSpPr>
          <p:cNvPr id="48" name="Text 43"/>
          <p:cNvSpPr txBox="1"/>
          <p:nvPr/>
        </p:nvSpPr>
        <p:spPr>
          <a:xfrm>
            <a:off x="658368" y="9028405"/>
            <a:ext cx="2939796"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strengthen our view</a:t>
            </a:r>
            <a:endParaRPr lang="en-US" sz="700" dirty="0"/>
          </a:p>
        </p:txBody>
      </p:sp>
      <p:sp>
        <p:nvSpPr>
          <p:cNvPr id="49" name="Text 44"/>
          <p:cNvSpPr txBox="1"/>
          <p:nvPr/>
        </p:nvSpPr>
        <p:spPr>
          <a:xfrm>
            <a:off x="658368" y="9220429"/>
            <a:ext cx="2939796"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Ads in AI Mode closing the monetisation gap as they roll out abroad; Search growth holding in Q4 despite FX; Cloud margin above 30% through the third-party capacity ramp; buybacks resuming.</a:t>
            </a:r>
            <a:endParaRPr lang="en-US" sz="870" dirty="0"/>
          </a:p>
        </p:txBody>
      </p:sp>
      <p:sp>
        <p:nvSpPr>
          <p:cNvPr id="50" name="Text 45"/>
          <p:cNvSpPr txBox="1"/>
          <p:nvPr/>
        </p:nvSpPr>
        <p:spPr>
          <a:xfrm>
            <a:off x="3963924" y="9028405"/>
            <a:ext cx="2939796"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change our view</a:t>
            </a:r>
            <a:endParaRPr lang="en-US" sz="700" dirty="0"/>
          </a:p>
        </p:txBody>
      </p:sp>
      <p:sp>
        <p:nvSpPr>
          <p:cNvPr id="51" name="Text 46"/>
          <p:cNvSpPr txBox="1"/>
          <p:nvPr/>
        </p:nvSpPr>
        <p:spPr>
          <a:xfrm>
            <a:off x="3963924" y="9220429"/>
            <a:ext cx="2939796"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Free cash flow negative again in Q4 without a fine payment; Search slowing further as AI Mode takes queries; 2027 capex rising faster than the USD 561bn Cloud backlog turns into revenue.</a:t>
            </a:r>
            <a:endParaRPr lang="en-US" sz="870" dirty="0"/>
          </a:p>
        </p:txBody>
      </p:sp>
      <p:sp>
        <p:nvSpPr>
          <p:cNvPr id="52" name="Shape 47"/>
          <p:cNvSpPr/>
          <p:nvPr/>
        </p:nvSpPr>
        <p:spPr>
          <a:xfrm>
            <a:off x="539496" y="7725461"/>
            <a:ext cx="6483096" cy="2195703"/>
          </a:xfrm>
          <a:prstGeom prst="roundRect">
            <a:avLst>
              <a:gd name="adj" fmla="val 4164"/>
            </a:avLst>
          </a:prstGeom>
          <a:ln w="16510">
            <a:solidFill>
              <a:srgbClr val="20294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329184"/>
          </a:xfrm>
          <a:prstGeom prst="rect">
            <a:avLst/>
          </a:prstGeom>
          <a:noFill/>
          <a:ln/>
        </p:spPr>
        <p:txBody>
          <a:bodyPr wrap="square" lIns="0" tIns="0" rIns="0" bIns="0" rtlCol="0" anchor="t"/>
          <a:lstStyle/>
          <a:p>
            <a:pPr indent="0" marL="0">
              <a:buNone/>
            </a:pPr>
            <a:r>
              <a:rPr lang="en-US" sz="1700" b="1" dirty="0">
                <a:solidFill>
                  <a:srgbClr val="202945"/>
                </a:solidFill>
                <a:latin typeface="Nunito" pitchFamily="34" charset="0"/>
                <a:ea typeface="Nunito" pitchFamily="34" charset="-122"/>
                <a:cs typeface="Nunito" pitchFamily="34" charset="-120"/>
              </a:rPr>
              <a:t>Beyond the key takeaways</a:t>
            </a:r>
            <a:endParaRPr lang="en-US" sz="1700" dirty="0"/>
          </a:p>
        </p:txBody>
      </p:sp>
      <p:sp>
        <p:nvSpPr>
          <p:cNvPr id="7" name="Text 3"/>
          <p:cNvSpPr txBox="1"/>
          <p:nvPr/>
        </p:nvSpPr>
        <p:spPr>
          <a:xfrm>
            <a:off x="539496" y="123901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Search slowed on FX and AI Mode</a:t>
            </a:r>
            <a:endParaRPr lang="en-US" sz="1100" dirty="0"/>
          </a:p>
        </p:txBody>
      </p:sp>
      <p:sp>
        <p:nvSpPr>
          <p:cNvPr id="8" name="Text 4"/>
          <p:cNvSpPr txBox="1"/>
          <p:nvPr/>
        </p:nvSpPr>
        <p:spPr>
          <a:xfrm>
            <a:off x="539496" y="1485900"/>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rose 25% to USD 127.6bn and operating income 30% to USD 40.6bn. Search grew 12% to USD 63.3bn, down from 17% in Q2. Philipp Schindler named FX the single largest driver of that slowdown, then APAC retailers hit by the end of the EU de minimis exemption, World Cup budgets spent in June and lower monetisation in AI Mode. The FX comment covers the slowdown versus Q2 and leaves the miss versus consensus open. The numbers show monetisation pressure as queries move to AI Mode, where Google is now scaling ads, abroad for the first time. Management did not cite OpenAI, and nothing in the results shows it taking material ad budgets.</a:t>
            </a:r>
            <a:endParaRPr lang="en-US" sz="870" dirty="0"/>
          </a:p>
        </p:txBody>
      </p:sp>
      <p:sp>
        <p:nvSpPr>
          <p:cNvPr id="9" name="Text 5"/>
          <p:cNvSpPr txBox="1"/>
          <p:nvPr/>
        </p:nvSpPr>
        <p:spPr>
          <a:xfrm>
            <a:off x="539496" y="2525116"/>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miss and the pre-market fall of more than 10% on 29 October point the same way, and the size of the move tracks the margin, hit by depreciation and a USD 7.7bn Alphabet-level loss, mainly from shared AI research. Negative free cash flow of USD 9.1bn needs a split. The USD 5.2bn payment for a 2018 EC fine is exceptional; without it, the outflow would be about USD 3.9bn, our calculation. The rest reflects ongoing AI investment and TPU inventory and remains a heavy drain. No shares were bought back. We think investors now question the payback on capex.</a:t>
            </a:r>
            <a:endParaRPr lang="en-US" sz="870" dirty="0"/>
          </a:p>
        </p:txBody>
      </p:sp>
      <p:sp>
        <p:nvSpPr>
          <p:cNvPr id="10" name="Text 6"/>
          <p:cNvSpPr txBox="1"/>
          <p:nvPr/>
        </p:nvSpPr>
        <p:spPr>
          <a:xfrm>
            <a:off x="539496" y="344401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Cloud covers profit, cash lags</a:t>
            </a:r>
            <a:endParaRPr lang="en-US" sz="1100" dirty="0"/>
          </a:p>
        </p:txBody>
      </p:sp>
      <p:sp>
        <p:nvSpPr>
          <p:cNvPr id="11" name="Text 7"/>
          <p:cNvSpPr txBox="1"/>
          <p:nvPr/>
        </p:nvSpPr>
        <p:spPr>
          <a:xfrm>
            <a:off x="539496" y="3690899"/>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Google Cloud revenue grew 103% to USD 30.7bn and operating income more than tripled to USD 11.1bn, a 36.2% margin. Cloud profit rose by about USD 7.5bn year on year, our estimate, against a USD 27bn rise in quarterly capex. The segment margin leaves out the shared AI research costs, and the CFO expects “margin headwinds in the near term” as Google uses third-party compute in Q4. Cloud can cover weaker Search monetisation at the profit line; cash returns lag until TPU system revenue ramps in 2027. Management kept the 2026 capex range of USD 195bn to 205bn and expects a steep rise in 2027.</a:t>
            </a:r>
            <a:endParaRPr lang="en-US" sz="870" dirty="0"/>
          </a:p>
        </p:txBody>
      </p:sp>
      <p:sp>
        <p:nvSpPr>
          <p:cNvPr id="12" name="Text 8"/>
          <p:cNvSpPr txBox="1"/>
          <p:nvPr/>
        </p:nvSpPr>
        <p:spPr>
          <a:xfrm>
            <a:off x="539496" y="460979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the premium is gone</a:t>
            </a:r>
            <a:endParaRPr lang="en-US" sz="1100" dirty="0"/>
          </a:p>
        </p:txBody>
      </p:sp>
      <p:sp>
        <p:nvSpPr>
          <p:cNvPr id="13" name="Text 9"/>
          <p:cNvSpPr txBox="1"/>
          <p:nvPr/>
        </p:nvSpPr>
        <p:spPr>
          <a:xfrm>
            <a:off x="539496" y="4856683"/>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2</a:t>
            </a:r>
            <a:pPr indent="0" marL="0">
              <a:buNone/>
            </a:pPr>
            <a:r>
              <a:rPr lang="en-US" sz="870" b="1" dirty="0">
                <a:solidFill>
                  <a:srgbClr val="202945"/>
                </a:solidFill>
                <a:latin typeface="Nunito" pitchFamily="34" charset="0"/>
                <a:ea typeface="Nunito" pitchFamily="34" charset="-122"/>
                <a:cs typeface="Nunito" pitchFamily="34" charset="-120"/>
              </a:rPr>
              <a:t> · GOOGL: share price vs. consensus earnings and valuation</a:t>
            </a:r>
            <a:endParaRPr lang="en-US" sz="870" dirty="0"/>
          </a:p>
        </p:txBody>
      </p:sp>
      <p:sp>
        <p:nvSpPr>
          <p:cNvPr id="14" name="Text 10"/>
          <p:cNvSpPr txBox="1"/>
          <p:nvPr/>
        </p:nvSpPr>
        <p:spPr>
          <a:xfrm>
            <a:off x="539496" y="5030419"/>
            <a:ext cx="6483096" cy="11557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Weekly, 2010 to 28 Oct 2026 · Bloomberg 12m-forward consensus EPS · 40-week MA · Log scale · Last price is the 28 October close, before the release</a:t>
            </a:r>
            <a:endParaRPr lang="en-US" sz="700" dirty="0"/>
          </a:p>
        </p:txBody>
      </p:sp>
      <p:pic>
        <p:nvPicPr>
          <p:cNvPr id="15" name="Image 2" descr="/home/claude/work/c2_crop.png">    </p:cNvPr>
          <p:cNvPicPr>
            <a:picLocks noChangeAspect="1"/>
          </p:cNvPicPr>
          <p:nvPr/>
        </p:nvPicPr>
        <p:blipFill>
          <a:blip r:embed="rId3"/>
          <a:stretch>
            <a:fillRect/>
          </a:stretch>
        </p:blipFill>
        <p:spPr>
          <a:xfrm>
            <a:off x="928482" y="5191709"/>
            <a:ext cx="5705124" cy="3413946"/>
          </a:xfrm>
          <a:prstGeom prst="rect">
            <a:avLst/>
          </a:prstGeom>
        </p:spPr>
      </p:pic>
      <p:sp>
        <p:nvSpPr>
          <p:cNvPr id="16" name="Text 11"/>
          <p:cNvSpPr txBox="1"/>
          <p:nvPr/>
        </p:nvSpPr>
        <p:spPr>
          <a:xfrm>
            <a:off x="539496" y="8660520"/>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At the 28 October close of USD 324.9, before the release, the stock traded on 19.7x 12-month forward EPS of USD 16.5, in line with its 19.6x average since 2010 and far below the 28.2x peak of January 2026. Over 12 months the price rose 25% and consensus EPS 46%, so earnings did the work and the multiple compressed. The price sat 5% below its 40-week average of USD 340.8. Near USD 292 pre-market, the multiple drops to 17.7x, 10% below average. A 5% cut to consensus EPS at that price would lift it to 18.6x, still under the average.</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29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664708"/>
            <a:ext cx="6483096" cy="18288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SYZ</a:t>
            </a:r>
            <a:pPr indent="0" marL="0">
              <a:buNone/>
            </a:pPr>
            <a:r>
              <a:rPr lang="en-US" sz="700" b="1" dirty="0">
                <a:solidFill>
                  <a:srgbClr val="9AA0A8"/>
                </a:solidFill>
                <a:latin typeface="Nunito" pitchFamily="34" charset="0"/>
                <a:ea typeface="Nunito" pitchFamily="34" charset="-122"/>
                <a:cs typeface="Nunito" pitchFamily="34" charset="-120"/>
              </a:rPr>
              <a:t> Source: Syz Research, Bloomberg, company filings, Alphabet Q3 2026 earnings call of 28 October 2026, press coverage and analyst research notes of 29 October 2026</a:t>
            </a:r>
            <a:endParaRPr lang="en-US" sz="700" dirty="0"/>
          </a:p>
        </p:txBody>
      </p:sp>
      <p:sp>
        <p:nvSpPr>
          <p:cNvPr id="7" name="Text 3"/>
          <p:cNvSpPr txBox="1"/>
          <p:nvPr/>
        </p:nvSpPr>
        <p:spPr>
          <a:xfrm>
            <a:off x="539496" y="5993892"/>
            <a:ext cx="6483096" cy="182880"/>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Disclaimer</a:t>
            </a:r>
            <a:endParaRPr lang="en-US" sz="700" dirty="0"/>
          </a:p>
        </p:txBody>
      </p:sp>
      <p:sp>
        <p:nvSpPr>
          <p:cNvPr id="8" name="Text 4"/>
          <p:cNvSpPr txBox="1"/>
          <p:nvPr/>
        </p:nvSpPr>
        <p:spPr>
          <a:xfrm>
            <a:off x="539496" y="6176772"/>
            <a:ext cx="6483096" cy="55270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700" dirty="0"/>
          </a:p>
        </p:txBody>
      </p:sp>
      <p:sp>
        <p:nvSpPr>
          <p:cNvPr id="9" name="Text 5"/>
          <p:cNvSpPr txBox="1"/>
          <p:nvPr/>
        </p:nvSpPr>
        <p:spPr>
          <a:xfrm>
            <a:off x="539496" y="672947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700" dirty="0"/>
          </a:p>
        </p:txBody>
      </p:sp>
      <p:sp>
        <p:nvSpPr>
          <p:cNvPr id="10" name="Text 6"/>
          <p:cNvSpPr txBox="1"/>
          <p:nvPr/>
        </p:nvSpPr>
        <p:spPr>
          <a:xfrm>
            <a:off x="539496" y="7157720"/>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700" dirty="0"/>
          </a:p>
        </p:txBody>
      </p:sp>
      <p:sp>
        <p:nvSpPr>
          <p:cNvPr id="11" name="Text 7"/>
          <p:cNvSpPr txBox="1"/>
          <p:nvPr/>
        </p:nvSpPr>
        <p:spPr>
          <a:xfrm>
            <a:off x="539496" y="7585964"/>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700" dirty="0"/>
          </a:p>
        </p:txBody>
      </p:sp>
      <p:sp>
        <p:nvSpPr>
          <p:cNvPr id="12" name="Text 8"/>
          <p:cNvSpPr txBox="1"/>
          <p:nvPr/>
        </p:nvSpPr>
        <p:spPr>
          <a:xfrm>
            <a:off x="539496" y="8387588"/>
            <a:ext cx="6483096" cy="30378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700" dirty="0"/>
          </a:p>
        </p:txBody>
      </p:sp>
      <p:sp>
        <p:nvSpPr>
          <p:cNvPr id="13" name="Text 9"/>
          <p:cNvSpPr txBox="1"/>
          <p:nvPr/>
        </p:nvSpPr>
        <p:spPr>
          <a:xfrm>
            <a:off x="539496" y="8691372"/>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700" dirty="0"/>
          </a:p>
        </p:txBody>
      </p:sp>
      <p:sp>
        <p:nvSpPr>
          <p:cNvPr id="14" name="Text 10"/>
          <p:cNvSpPr txBox="1"/>
          <p:nvPr/>
        </p:nvSpPr>
        <p:spPr>
          <a:xfrm>
            <a:off x="539496" y="949299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Alphabet Q3 2026: good for AI growth, tough on margins</dc:title>
  <dc:subject>PptxGenJS Presentation</dc:subject>
  <dc:creator>Syz Research</dc:creator>
  <cp:lastModifiedBy>Syz Research</cp:lastModifiedBy>
  <cp:revision>1</cp:revision>
  <dcterms:created xsi:type="dcterms:W3CDTF">2026-10-29T08:48:00Z</dcterms:created>
  <dcterms:modified xsi:type="dcterms:W3CDTF">2026-10-29T08:48:00Z</dcterms:modified>
</cp:coreProperties>
</file>