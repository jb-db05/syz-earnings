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Airbus Q3 2026: the guide holds, Q4 must deliver</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29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“Overall, we feel comfortable with the ramp up. As you see, we are confirming the outlook for this year. We were comfortable enough at the Farnborough Airshow to give a 2029 mid-term target.”</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Guillaume Faury, CEO, Q3 2026 earnings call, 28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Airbus builds commercial aircraft (A220, A320, A330, A350), helicopters and defence and space systems. Commercial aircraft were 73% of Q3 revenue; nine-month revenue EUR 50.6bn. Listed in Paris, Frankfurt and Madrid.</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In line</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Q3 adjusted EBIT of EUR 1.77bn matched consensus; revenue missed by 5% on fewer deliveries.</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Reaction</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closed 3.3% higher on 29 October, against 0.8% for the Stoxx Europe 600.</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unchanged guide needs about 323 Q4 deliveries and EUR 5.8bn of Q4 free cash flow.</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23.5x forward earnings, 35% above the 17.4x average since 2005, below January’s 27.7x.</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Q3 adjusted EBIT</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EUR 1.77bn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+1.0%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Q3 revenue</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EUR 17.5bn</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-5.0%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Q3 free cash flow</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EUR -0.10bn</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vs. EUR +0.33bn consensus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EBIT guide</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EUR 7.5bn</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4B5F80"/>
                </a:solidFill>
                <a:latin typeface="Nunito" pitchFamily="34" charset="0"/>
                <a:ea typeface="Nunito" pitchFamily="34" charset="-122"/>
                <a:cs typeface="Nunito" pitchFamily="34" charset="-120"/>
              </a:rPr>
              <a:t>Held, 2.5% below consensus</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Relief on the guide, the cash test is Q4</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Q3 adjusted EBIT matched consensus while revenue missed by 5% and free cash flow by about EUR 0.4bn, yet the shares closed 3.3% higher on 29 October, against 0.8% for the Stoxx Europe 600. The guide and the buyback plan held, and orders keep building: 1,105 net orders in nine months, double last year. The case now rests on delivering Q4.</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AIR: Q3 2026 results and 2026 guide vs. consensus</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Q3 reported vs. Q3 consensus · maintained 2026 guide vs. 2026 consensus, % · free cash flow before customer financing</a:t>
            </a:r>
            <a:endParaRPr lang="en-US" sz="700" dirty="0"/>
          </a:p>
        </p:txBody>
      </p:sp>
      <p:pic>
        <p:nvPicPr>
          <p:cNvPr id="42" name="Image 2" descr="/home/claude/air/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misses are volume and cash, not margin: commercial EBIT held up as fewer aircraft left the line. The maintained 2026 guide sits 2.5% below consensus on EBIT and 6% below on free cash flow, a gap that already existed before the release; the delivery guide is slightly above consensus.</a:t>
            </a:r>
            <a:endParaRPr lang="en-US" sz="870" dirty="0"/>
          </a:p>
        </p:txBody>
      </p:sp>
      <p:sp>
        <p:nvSpPr>
          <p:cNvPr id="44" name="Text 39"/>
          <p:cNvSpPr txBox="1"/>
          <p:nvPr/>
        </p:nvSpPr>
        <p:spPr>
          <a:xfrm>
            <a:off x="658368" y="778946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036357"/>
            <a:ext cx="6245352"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are constructive on Airbus. We underwrite about 870 deliveries this year, adjusted EBIT of about EUR 7.5bn and a 2027 ramp paced by engines, backed by a backlog of 9,310 aircraft. Forward EPS of EUR 8.4 is 15% above its 2019 peak, and defence orders, up 70%, add a second leg. The debate has moved from demand to execution: the Spirit integration and the cash release from about EUR 10bn of extra inventory. At 23.5x, delivery must follow. Next test: the full-year results in February.</a:t>
            </a:r>
            <a:endParaRPr lang="en-US" sz="870" dirty="0"/>
          </a:p>
        </p:txBody>
      </p:sp>
      <p:sp>
        <p:nvSpPr>
          <p:cNvPr id="46" name="Shape 41"/>
          <p:cNvSpPr/>
          <p:nvPr/>
        </p:nvSpPr>
        <p:spPr>
          <a:xfrm>
            <a:off x="658368" y="8918677"/>
            <a:ext cx="6245352" cy="0"/>
          </a:xfrm>
          <a:prstGeom prst="line">
            <a:avLst/>
          </a:prstGeom>
          <a:noFill/>
          <a:ln w="7620">
            <a:solidFill>
              <a:srgbClr val="D6D9DE"/>
            </a:solidFill>
            <a:prstDash val="solid"/>
          </a:ln>
        </p:spPr>
      </p:sp>
      <p:sp>
        <p:nvSpPr>
          <p:cNvPr id="47" name="Shape 42"/>
          <p:cNvSpPr/>
          <p:nvPr/>
        </p:nvSpPr>
        <p:spPr>
          <a:xfrm>
            <a:off x="3781044" y="9028405"/>
            <a:ext cx="0" cy="828751"/>
          </a:xfrm>
          <a:prstGeom prst="line">
            <a:avLst/>
          </a:prstGeom>
          <a:noFill/>
          <a:ln w="7620">
            <a:solidFill>
              <a:srgbClr val="D6D9DE"/>
            </a:solidFill>
            <a:prstDash val="solid"/>
          </a:ln>
        </p:spPr>
      </p:sp>
      <p:sp>
        <p:nvSpPr>
          <p:cNvPr id="48" name="Text 43"/>
          <p:cNvSpPr txBox="1"/>
          <p:nvPr/>
        </p:nvSpPr>
        <p:spPr>
          <a:xfrm>
            <a:off x="658368"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deliveries at or above 323 with free cash flow before customer financing of at least EUR 4.5bn; the EUR 5bn buyback launched before year-end; Project Bromo signed in 2026 as planned.</a:t>
            </a:r>
            <a:endParaRPr lang="en-US" sz="870" dirty="0"/>
          </a:p>
        </p:txBody>
      </p:sp>
      <p:sp>
        <p:nvSpPr>
          <p:cNvPr id="50" name="Text 45"/>
          <p:cNvSpPr txBox="1"/>
          <p:nvPr/>
        </p:nvSpPr>
        <p:spPr>
          <a:xfrm>
            <a:off x="3963924"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Deliveries below 850, the low end of the range; free cash flow short of EUR 4bn as inventory fails to unwind; Spirit costs above the guided effect; fewer engines than planned for 2027.</a:t>
            </a:r>
            <a:endParaRPr lang="en-US" sz="870" dirty="0"/>
          </a:p>
        </p:txBody>
      </p:sp>
      <p:sp>
        <p:nvSpPr>
          <p:cNvPr id="52" name="Shape 47"/>
          <p:cNvSpPr/>
          <p:nvPr/>
        </p:nvSpPr>
        <p:spPr>
          <a:xfrm>
            <a:off x="539496" y="7725461"/>
            <a:ext cx="6483096" cy="2195703"/>
          </a:xfrm>
          <a:prstGeom prst="roundRect">
            <a:avLst>
              <a:gd name="adj" fmla="val 4164"/>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fewer deliveries, firmer margins</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Q3 revenue fell 2% to EUR 17.5bn and adjusted EBIT 9% to EUR 1.77bn on 196 deliveries. Commercial Aircraft revenue fell 2% to EUR 12.8bn and its adjusted EBIT 12% to EUR 1.38bn, a 10.8% margin against the 10.4% analysts expected, on fewer deliveries, a less favourable mix and the integration of the former Spirit AeroSystems work packages, which also cost EUR 112m in charges below adjusted EBIT. Helicopters fell 17% to EUR 205m and Defence and Space rose 19% to EUR 185m. Free cash flow before customer financing was EUR -102m, as inventory rose about EUR 10bn since January to support the ramp. Net cash fell to EUR 7.0bn from EUR 12.2bn at end-2025.</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reaction diverged from the misses: the shares closed 3.3% higher on 29 October, against 0.8% for the Stoxx Europe 600. Confirmed drivers: the guide held; management said the A321 stringer issue would not push deliveries toward the low end of the 850 to 890 range nor affect 2027; commercial margins beat; and the CFO said the plan to start the EUR 5bn buyback in the second half was unchanged. We think relief did the rest: the shares went into the print 12% below their January peak, at 22.9x, under the one-year average of 24.2x.</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a heavy fourth quarter</a:t>
            </a:r>
            <a:endParaRPr lang="en-US" sz="1100" dirty="0"/>
          </a:p>
        </p:txBody>
      </p:sp>
      <p:sp>
        <p:nvSpPr>
          <p:cNvPr id="11" name="Text 7"/>
          <p:cNvSpPr txBox="1"/>
          <p:nvPr/>
        </p:nvSpPr>
        <p:spPr>
          <a:xfrm>
            <a:off x="539496" y="3690899"/>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unchanged guide of about 870 deliveries, EUR 7.5bn of adjusted EBIT and EUR 4.5bn of free cash flow before customer financing leaves a heavy Q4: about 323 deliveries, 37 more than a year earlier; about EUR 3.0bn of EBIT, roughly flat as the A220 mix, Spirit costs and back-loaded R&amp;D absorb the volume; and about EUR 5.8bn of cash, which depends on unwinding the inventory built this year. Engines pace 2027, and Airbus will not build extra airframes ahead of them. An A350 rate above 12 is under review, and the 2029 target set in July, EUR 12bn to 13bn of adjusted EBIT at USD 1.22, stands.</a:t>
            </a:r>
            <a:endParaRPr lang="en-US" sz="870" dirty="0"/>
          </a:p>
        </p:txBody>
      </p:sp>
      <p:sp>
        <p:nvSpPr>
          <p:cNvPr id="12" name="Text 8"/>
          <p:cNvSpPr txBox="1"/>
          <p:nvPr/>
        </p:nvSpPr>
        <p:spPr>
          <a:xfrm>
            <a:off x="539496" y="476669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a premium to history, not to 2026</a:t>
            </a:r>
            <a:endParaRPr lang="en-US" sz="1100" dirty="0"/>
          </a:p>
        </p:txBody>
      </p:sp>
      <p:sp>
        <p:nvSpPr>
          <p:cNvPr id="13" name="Text 9"/>
          <p:cNvSpPr txBox="1"/>
          <p:nvPr/>
        </p:nvSpPr>
        <p:spPr>
          <a:xfrm>
            <a:off x="539496" y="5013579"/>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AIR: share price vs. consensus earnings and valuation</a:t>
            </a:r>
            <a:endParaRPr lang="en-US" sz="870" dirty="0"/>
          </a:p>
        </p:txBody>
      </p:sp>
      <p:sp>
        <p:nvSpPr>
          <p:cNvPr id="14" name="Text 10"/>
          <p:cNvSpPr txBox="1"/>
          <p:nvPr/>
        </p:nvSpPr>
        <p:spPr>
          <a:xfrm>
            <a:off x="539496" y="5187315"/>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AIR FP Equity, weekly, April 2005 to October 2026 · BEst 12m-forward consensus · 40-week simple MA · log scale · P/E shaded vs. its 2005 to 2026 average · last price EUR 198.30 is the 29 October close, the first session after the release</a:t>
            </a:r>
            <a:endParaRPr lang="en-US" sz="700" dirty="0"/>
          </a:p>
        </p:txBody>
      </p:sp>
      <p:pic>
        <p:nvPicPr>
          <p:cNvPr id="15" name="Image 2" descr="/home/claude/air/c2_crop.png">    </p:cNvPr>
          <p:cNvPicPr>
            <a:picLocks noChangeAspect="1"/>
          </p:cNvPicPr>
          <p:nvPr/>
        </p:nvPicPr>
        <p:blipFill>
          <a:blip r:embed="rId3"/>
          <a:stretch>
            <a:fillRect/>
          </a:stretch>
        </p:blipFill>
        <p:spPr>
          <a:xfrm>
            <a:off x="928482" y="5464175"/>
            <a:ext cx="5705124" cy="3413946"/>
          </a:xfrm>
          <a:prstGeom prst="rect">
            <a:avLst/>
          </a:prstGeom>
        </p:spPr>
      </p:pic>
      <p:sp>
        <p:nvSpPr>
          <p:cNvPr id="16" name="Text 11"/>
          <p:cNvSpPr txBox="1"/>
          <p:nvPr/>
        </p:nvSpPr>
        <p:spPr>
          <a:xfrm>
            <a:off x="539496" y="893298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Earnings have outrun the price: over 12 months consensus forward EPS rose 8% to EUR 8.4 while the shares fell 7%, so the forward P/E fell from 27.5x to 23.5x. That is 35% above the 17.4x average since 2005 and above the ten-year average of 20.8x, but below the one-year average of 24.2x and the 27.7x reached at the January record of EUR 217. The 2021 peak of 35.8x reflected depressed post-pandemic earnings. The price is 6% above its 40-week average. A 10% EPS upgrade at an unchanged price would take the multiple to 21.4x, the five-year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Airbus nine-month 2026 release and call of 28 October 2026, analyst research notes of 29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Airbus Q3 2026: the guide holds, Q4 must deliver</dc:title>
  <dc:subject>PptxGenJS Presentation</dc:subject>
  <dc:creator>Syz Research</dc:creator>
  <cp:lastModifiedBy>Syz Research</cp:lastModifiedBy>
  <cp:revision>1</cp:revision>
  <dcterms:created xsi:type="dcterms:W3CDTF">2026-10-29T17:49:15Z</dcterms:created>
  <dcterms:modified xsi:type="dcterms:W3CDTF">2026-10-29T17:49:15Z</dcterms:modified>
</cp:coreProperties>
</file>