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PACCAR Q3 2026: trucks carry the quarter, 2027 rules weigh</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28 October 2026 · Syz Research</a:t>
            </a:r>
            <a:endParaRPr lang="en-US" sz="870" dirty="0"/>
          </a:p>
        </p:txBody>
      </p:sp>
      <p:sp>
        <p:nvSpPr>
          <p:cNvPr id="9" name="Text 5"/>
          <p:cNvSpPr txBox="1"/>
          <p:nvPr/>
        </p:nvSpPr>
        <p:spPr>
          <a:xfrm>
            <a:off x="539496" y="1602994"/>
            <a:ext cx="6483096" cy="332080"/>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PACCAR designs and builds Kenworth, Peterbilt and DAF heavy trucks, sells aftermarket parts and finances customers’ vehicles. Trucks were 76% of third-quarter truck and parts sales. Nasdaq-listed, market value around USD 55bn.</a:t>
            </a:r>
            <a:endParaRPr lang="en-US" sz="870" dirty="0"/>
          </a:p>
        </p:txBody>
      </p:sp>
      <p:sp>
        <p:nvSpPr>
          <p:cNvPr id="10" name="Text 6"/>
          <p:cNvSpPr txBox="1"/>
          <p:nvPr/>
        </p:nvSpPr>
        <p:spPr>
          <a:xfrm>
            <a:off x="539496" y="2053946"/>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1" name="Text 7"/>
          <p:cNvSpPr txBox="1"/>
          <p:nvPr/>
        </p:nvSpPr>
        <p:spPr>
          <a:xfrm>
            <a:off x="539496" y="2314550"/>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2" name="Text 8"/>
          <p:cNvSpPr txBox="1"/>
          <p:nvPr/>
        </p:nvSpPr>
        <p:spPr>
          <a:xfrm>
            <a:off x="1133856" y="229169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Truck pretax profit of USD 455m beat estimates by 43%, lifting net income 44% to USD 848m.</a:t>
            </a:r>
            <a:endParaRPr lang="en-US" sz="870" dirty="0"/>
          </a:p>
        </p:txBody>
      </p:sp>
      <p:sp>
        <p:nvSpPr>
          <p:cNvPr id="13" name="Text 9"/>
          <p:cNvSpPr txBox="1"/>
          <p:nvPr/>
        </p:nvSpPr>
        <p:spPr>
          <a:xfrm>
            <a:off x="539496" y="2517165"/>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Reaction</a:t>
            </a:r>
            <a:endParaRPr lang="en-US" sz="700" dirty="0"/>
          </a:p>
        </p:txBody>
      </p:sp>
      <p:sp>
        <p:nvSpPr>
          <p:cNvPr id="14" name="Text 10"/>
          <p:cNvSpPr txBox="1"/>
          <p:nvPr/>
        </p:nvSpPr>
        <p:spPr>
          <a:xfrm>
            <a:off x="1133856" y="2494305"/>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Shares eased 0.6% on 27 October: EPS met consensus at USD 1.61, sales missed by 1.3%.</a:t>
            </a:r>
            <a:endParaRPr lang="en-US" sz="870" dirty="0"/>
          </a:p>
        </p:txBody>
      </p:sp>
      <p:sp>
        <p:nvSpPr>
          <p:cNvPr id="15" name="Text 11"/>
          <p:cNvSpPr txBox="1"/>
          <p:nvPr/>
        </p:nvSpPr>
        <p:spPr>
          <a:xfrm>
            <a:off x="539496" y="2719781"/>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6" name="Text 12"/>
          <p:cNvSpPr txBox="1"/>
          <p:nvPr/>
        </p:nvSpPr>
        <p:spPr>
          <a:xfrm>
            <a:off x="1133856" y="2696921"/>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Unfinalised 2027 emission penalties delay orders; supplier shortfalls held deliveries 4.5% below guidance.</a:t>
            </a:r>
            <a:endParaRPr lang="en-US" sz="870" dirty="0"/>
          </a:p>
        </p:txBody>
      </p:sp>
      <p:sp>
        <p:nvSpPr>
          <p:cNvPr id="17" name="Text 13"/>
          <p:cNvSpPr txBox="1"/>
          <p:nvPr/>
        </p:nvSpPr>
        <p:spPr>
          <a:xfrm>
            <a:off x="539496" y="2922397"/>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18" name="Text 14"/>
          <p:cNvSpPr txBox="1"/>
          <p:nvPr/>
        </p:nvSpPr>
        <p:spPr>
          <a:xfrm>
            <a:off x="1133856" y="289953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17.6x forward earnings, down from 23.9x in July while consensus EPS rose 3%: the derating looks done.</a:t>
            </a:r>
            <a:endParaRPr lang="en-US" sz="870" dirty="0"/>
          </a:p>
        </p:txBody>
      </p:sp>
      <p:sp>
        <p:nvSpPr>
          <p:cNvPr id="19" name="Shape 15"/>
          <p:cNvSpPr/>
          <p:nvPr/>
        </p:nvSpPr>
        <p:spPr>
          <a:xfrm>
            <a:off x="539496" y="3184449"/>
            <a:ext cx="6483096" cy="640080"/>
          </a:xfrm>
          <a:prstGeom prst="rect">
            <a:avLst/>
          </a:prstGeom>
          <a:solidFill>
            <a:srgbClr val="FFFFFF"/>
          </a:solidFill>
          <a:ln w="16510">
            <a:solidFill>
              <a:srgbClr val="202945"/>
            </a:solidFill>
            <a:prstDash val="solid"/>
          </a:ln>
        </p:spPr>
      </p:sp>
      <p:sp>
        <p:nvSpPr>
          <p:cNvPr id="20" name="Text 16"/>
          <p:cNvSpPr txBox="1"/>
          <p:nvPr/>
        </p:nvSpPr>
        <p:spPr>
          <a:xfrm>
            <a:off x="649224" y="3257601"/>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Sales ex financial services</a:t>
            </a:r>
            <a:endParaRPr lang="en-US" sz="700" dirty="0"/>
          </a:p>
        </p:txBody>
      </p:sp>
      <p:sp>
        <p:nvSpPr>
          <p:cNvPr id="21" name="Text 17"/>
          <p:cNvSpPr txBox="1"/>
          <p:nvPr/>
        </p:nvSpPr>
        <p:spPr>
          <a:xfrm>
            <a:off x="649224" y="3394761"/>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7.38bn</a:t>
            </a:r>
            <a:endParaRPr lang="en-US" sz="1100" dirty="0"/>
          </a:p>
        </p:txBody>
      </p:sp>
      <p:sp>
        <p:nvSpPr>
          <p:cNvPr id="22" name="Text 18"/>
          <p:cNvSpPr txBox="1"/>
          <p:nvPr/>
        </p:nvSpPr>
        <p:spPr>
          <a:xfrm>
            <a:off x="649224" y="3605073"/>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-1.3% vs. consensus</a:t>
            </a:r>
            <a:endParaRPr lang="en-US" sz="700" dirty="0"/>
          </a:p>
        </p:txBody>
      </p:sp>
      <p:sp>
        <p:nvSpPr>
          <p:cNvPr id="23" name="Shape 19"/>
          <p:cNvSpPr/>
          <p:nvPr/>
        </p:nvSpPr>
        <p:spPr>
          <a:xfrm>
            <a:off x="2160270" y="3184449"/>
            <a:ext cx="0" cy="640080"/>
          </a:xfrm>
          <a:prstGeom prst="line">
            <a:avLst/>
          </a:prstGeom>
          <a:noFill/>
          <a:ln w="7620">
            <a:solidFill>
              <a:srgbClr val="D6D9DE"/>
            </a:solidFill>
            <a:prstDash val="solid"/>
          </a:ln>
        </p:spPr>
      </p:sp>
      <p:sp>
        <p:nvSpPr>
          <p:cNvPr id="24" name="Text 20"/>
          <p:cNvSpPr txBox="1"/>
          <p:nvPr/>
        </p:nvSpPr>
        <p:spPr>
          <a:xfrm>
            <a:off x="2269998" y="3257601"/>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Diluted EPS</a:t>
            </a:r>
            <a:endParaRPr lang="en-US" sz="700" dirty="0"/>
          </a:p>
        </p:txBody>
      </p:sp>
      <p:sp>
        <p:nvSpPr>
          <p:cNvPr id="25" name="Text 21"/>
          <p:cNvSpPr txBox="1"/>
          <p:nvPr/>
        </p:nvSpPr>
        <p:spPr>
          <a:xfrm>
            <a:off x="2269998" y="3394761"/>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1.61</a:t>
            </a:r>
            <a:endParaRPr lang="en-US" sz="1100" dirty="0"/>
          </a:p>
        </p:txBody>
      </p:sp>
      <p:sp>
        <p:nvSpPr>
          <p:cNvPr id="26" name="Text 22"/>
          <p:cNvSpPr txBox="1"/>
          <p:nvPr/>
        </p:nvSpPr>
        <p:spPr>
          <a:xfrm>
            <a:off x="2269998" y="3605073"/>
            <a:ext cx="1437894" cy="137160"/>
          </a:xfrm>
          <a:prstGeom prst="rect">
            <a:avLst/>
          </a:prstGeom>
          <a:noFill/>
          <a:ln/>
        </p:spPr>
        <p:txBody>
          <a:bodyPr wrap="square" lIns="0" tIns="0" rIns="0" bIns="0" rtlCol="0" anchor="t"/>
          <a:lstStyle/>
          <a:p>
            <a:pPr indent="0" marL="0">
              <a:buNone/>
            </a:pPr>
            <a:r>
              <a:rPr lang="en-US" sz="700" b="1" dirty="0">
                <a:solidFill>
                  <a:srgbClr val="4B5F80"/>
                </a:solidFill>
                <a:latin typeface="Nunito" pitchFamily="34" charset="0"/>
                <a:ea typeface="Nunito" pitchFamily="34" charset="-122"/>
                <a:cs typeface="Nunito" pitchFamily="34" charset="-120"/>
              </a:rPr>
              <a:t>In line with consensus</a:t>
            </a:r>
            <a:endParaRPr lang="en-US" sz="700" dirty="0"/>
          </a:p>
        </p:txBody>
      </p:sp>
      <p:sp>
        <p:nvSpPr>
          <p:cNvPr id="27" name="Shape 23"/>
          <p:cNvSpPr/>
          <p:nvPr/>
        </p:nvSpPr>
        <p:spPr>
          <a:xfrm>
            <a:off x="3781044" y="3184449"/>
            <a:ext cx="0" cy="640080"/>
          </a:xfrm>
          <a:prstGeom prst="line">
            <a:avLst/>
          </a:prstGeom>
          <a:noFill/>
          <a:ln w="7620">
            <a:solidFill>
              <a:srgbClr val="D6D9DE"/>
            </a:solidFill>
            <a:prstDash val="solid"/>
          </a:ln>
        </p:spPr>
      </p:sp>
      <p:sp>
        <p:nvSpPr>
          <p:cNvPr id="28" name="Text 24"/>
          <p:cNvSpPr txBox="1"/>
          <p:nvPr/>
        </p:nvSpPr>
        <p:spPr>
          <a:xfrm>
            <a:off x="3890772" y="3257601"/>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Truck pretax profit</a:t>
            </a:r>
            <a:endParaRPr lang="en-US" sz="700" dirty="0"/>
          </a:p>
        </p:txBody>
      </p:sp>
      <p:sp>
        <p:nvSpPr>
          <p:cNvPr id="29" name="Text 25"/>
          <p:cNvSpPr txBox="1"/>
          <p:nvPr/>
        </p:nvSpPr>
        <p:spPr>
          <a:xfrm>
            <a:off x="3890772" y="3394761"/>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455m</a:t>
            </a:r>
            <a:endParaRPr lang="en-US" sz="1100" dirty="0"/>
          </a:p>
        </p:txBody>
      </p:sp>
      <p:sp>
        <p:nvSpPr>
          <p:cNvPr id="30" name="Text 26"/>
          <p:cNvSpPr txBox="1"/>
          <p:nvPr/>
        </p:nvSpPr>
        <p:spPr>
          <a:xfrm>
            <a:off x="3890772" y="3605073"/>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+43% vs. estimates</a:t>
            </a:r>
            <a:endParaRPr lang="en-US" sz="700" dirty="0"/>
          </a:p>
        </p:txBody>
      </p:sp>
      <p:sp>
        <p:nvSpPr>
          <p:cNvPr id="31" name="Shape 27"/>
          <p:cNvSpPr/>
          <p:nvPr/>
        </p:nvSpPr>
        <p:spPr>
          <a:xfrm>
            <a:off x="5401818" y="3184449"/>
            <a:ext cx="0" cy="640080"/>
          </a:xfrm>
          <a:prstGeom prst="line">
            <a:avLst/>
          </a:prstGeom>
          <a:noFill/>
          <a:ln w="7620">
            <a:solidFill>
              <a:srgbClr val="D6D9DE"/>
            </a:solidFill>
            <a:prstDash val="solid"/>
          </a:ln>
        </p:spPr>
      </p:sp>
      <p:sp>
        <p:nvSpPr>
          <p:cNvPr id="32" name="Text 28"/>
          <p:cNvSpPr txBox="1"/>
          <p:nvPr/>
        </p:nvSpPr>
        <p:spPr>
          <a:xfrm>
            <a:off x="5511546" y="3257601"/>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Q4 delivery guide</a:t>
            </a:r>
            <a:endParaRPr lang="en-US" sz="700" dirty="0"/>
          </a:p>
        </p:txBody>
      </p:sp>
      <p:sp>
        <p:nvSpPr>
          <p:cNvPr id="33" name="Text 29"/>
          <p:cNvSpPr txBox="1"/>
          <p:nvPr/>
        </p:nvSpPr>
        <p:spPr>
          <a:xfrm>
            <a:off x="5511546" y="3394761"/>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41,000–43,000</a:t>
            </a:r>
            <a:endParaRPr lang="en-US" sz="1100" dirty="0"/>
          </a:p>
        </p:txBody>
      </p:sp>
      <p:sp>
        <p:nvSpPr>
          <p:cNvPr id="34" name="Text 30"/>
          <p:cNvSpPr txBox="1"/>
          <p:nvPr/>
        </p:nvSpPr>
        <p:spPr>
          <a:xfrm>
            <a:off x="5511546" y="3605073"/>
            <a:ext cx="1437894" cy="137160"/>
          </a:xfrm>
          <a:prstGeom prst="rect">
            <a:avLst/>
          </a:prstGeom>
          <a:noFill/>
          <a:ln/>
        </p:spPr>
        <p:txBody>
          <a:bodyPr wrap="square" lIns="0" tIns="0" rIns="0" bIns="0" rtlCol="0" anchor="t"/>
          <a:lstStyle/>
          <a:p>
            <a:pPr indent="0" marL="0">
              <a:buNone/>
            </a:pPr>
            <a:r>
              <a:rPr lang="en-US" sz="700" b="1" dirty="0">
                <a:solidFill>
                  <a:srgbClr val="4B5F80"/>
                </a:solidFill>
                <a:latin typeface="Nunito" pitchFamily="34" charset="0"/>
                <a:ea typeface="Nunito" pitchFamily="34" charset="-122"/>
                <a:cs typeface="Nunito" pitchFamily="34" charset="-120"/>
              </a:rPr>
              <a:t>Midpoint +4.7% vs. Q3</a:t>
            </a:r>
            <a:endParaRPr lang="en-US" sz="700" dirty="0"/>
          </a:p>
        </p:txBody>
      </p:sp>
      <p:sp>
        <p:nvSpPr>
          <p:cNvPr id="35" name="Text 31"/>
          <p:cNvSpPr txBox="1"/>
          <p:nvPr/>
        </p:nvSpPr>
        <p:spPr>
          <a:xfrm>
            <a:off x="539496" y="394340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Earnings are recovering, the multiple is not</a:t>
            </a:r>
            <a:endParaRPr lang="en-US" sz="1100" dirty="0"/>
          </a:p>
        </p:txBody>
      </p:sp>
      <p:sp>
        <p:nvSpPr>
          <p:cNvPr id="36" name="Text 32"/>
          <p:cNvSpPr txBox="1"/>
          <p:nvPr/>
        </p:nvSpPr>
        <p:spPr>
          <a:xfrm>
            <a:off x="539496" y="4190289"/>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EPS of USD 1.61 met consensus and truck profit beat estimates by 43%, yet sales missed by 1.3% and the shares eased 0.6% on 27 October, a reaction in line with a mixed print. Earnings are recovering on truck margins rather than volume. What holds the stock back is not this print but the unresolved 2027 emission rules and the timing of a pull-forward.</a:t>
            </a:r>
            <a:endParaRPr lang="en-US" sz="870" dirty="0"/>
          </a:p>
        </p:txBody>
      </p:sp>
      <p:sp>
        <p:nvSpPr>
          <p:cNvPr id="37" name="Text 33"/>
          <p:cNvSpPr txBox="1"/>
          <p:nvPr/>
        </p:nvSpPr>
        <p:spPr>
          <a:xfrm>
            <a:off x="539496" y="4758817"/>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PCAR: Q3 2026 results vs. consensus and guidance</a:t>
            </a:r>
            <a:endParaRPr lang="en-US" sz="870" dirty="0"/>
          </a:p>
        </p:txBody>
      </p:sp>
      <p:sp>
        <p:nvSpPr>
          <p:cNvPr id="38" name="Text 34"/>
          <p:cNvSpPr txBox="1"/>
          <p:nvPr/>
        </p:nvSpPr>
        <p:spPr>
          <a:xfrm>
            <a:off x="539496" y="4932553"/>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Surprise vs. pre-results consensus or analyst estimates, % · sales of truck, parts and other · deliveries vs. the ~42,000 company guide</a:t>
            </a:r>
            <a:endParaRPr lang="en-US" sz="700" dirty="0"/>
          </a:p>
        </p:txBody>
      </p:sp>
      <p:pic>
        <p:nvPicPr>
          <p:cNvPr id="39" name="Image 2" descr="/home/claude/c1_crop.png">    </p:cNvPr>
          <p:cNvPicPr>
            <a:picLocks noChangeAspect="1"/>
          </p:cNvPicPr>
          <p:nvPr/>
        </p:nvPicPr>
        <p:blipFill>
          <a:blip r:embed="rId3"/>
          <a:stretch>
            <a:fillRect/>
          </a:stretch>
        </p:blipFill>
        <p:spPr>
          <a:xfrm>
            <a:off x="1511960" y="5093843"/>
            <a:ext cx="4538167" cy="1415908"/>
          </a:xfrm>
          <a:prstGeom prst="rect">
            <a:avLst/>
          </a:prstGeom>
        </p:spPr>
      </p:pic>
      <p:sp>
        <p:nvSpPr>
          <p:cNvPr id="40" name="Text 35"/>
          <p:cNvSpPr txBox="1"/>
          <p:nvPr/>
        </p:nvSpPr>
        <p:spPr>
          <a:xfrm>
            <a:off x="539496" y="6564615"/>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quarter splits in two. Trucks delivered a 43% profit surprise on revenue up 28% year on year, a pretax margin of 8.1%. Parts, the steadiest earner, posted record revenue but pretax profit 14% below estimates. Supplier shortfalls cost about 1,900 deliveries against guidance, which we think explains most of the sales miss.</a:t>
            </a:r>
            <a:endParaRPr lang="en-US" sz="870" dirty="0"/>
          </a:p>
        </p:txBody>
      </p:sp>
      <p:sp>
        <p:nvSpPr>
          <p:cNvPr id="41" name="Text 36"/>
          <p:cNvSpPr txBox="1"/>
          <p:nvPr/>
        </p:nvSpPr>
        <p:spPr>
          <a:xfrm>
            <a:off x="539496" y="7169719"/>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2" name="Text 37"/>
          <p:cNvSpPr txBox="1"/>
          <p:nvPr/>
        </p:nvSpPr>
        <p:spPr>
          <a:xfrm>
            <a:off x="539496" y="7416607"/>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keep the position and would add once the 2027 emission penalties are finalised. We underwrite consensus forward EPS of USD 5.90, 16% above a year ago and 34% below the 2023 peak, carried by truck margins and record Parts revenue. The debate has moved from the freight recession to the 2027 rules and the pull-forward. At 17.6x, the July premium is gone and sentiment is negative, which we think limits the downside. The next test is Q4 deliveries of 41,000 to 43,000, due in late January 2027.</a:t>
            </a:r>
            <a:endParaRPr lang="en-US" sz="870" dirty="0"/>
          </a:p>
        </p:txBody>
      </p:sp>
      <p:sp>
        <p:nvSpPr>
          <p:cNvPr id="43" name="Shape 38"/>
          <p:cNvSpPr/>
          <p:nvPr/>
        </p:nvSpPr>
        <p:spPr>
          <a:xfrm>
            <a:off x="3781044" y="8335503"/>
            <a:ext cx="0" cy="828751"/>
          </a:xfrm>
          <a:prstGeom prst="line">
            <a:avLst/>
          </a:prstGeom>
          <a:noFill/>
          <a:ln w="7620">
            <a:solidFill>
              <a:srgbClr val="D6D9DE"/>
            </a:solidFill>
            <a:prstDash val="solid"/>
          </a:ln>
        </p:spPr>
      </p:sp>
      <p:sp>
        <p:nvSpPr>
          <p:cNvPr id="44" name="Text 39"/>
          <p:cNvSpPr txBox="1"/>
          <p:nvPr/>
        </p:nvSpPr>
        <p:spPr>
          <a:xfrm>
            <a:off x="539496" y="8335503"/>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5" name="Text 40"/>
          <p:cNvSpPr txBox="1"/>
          <p:nvPr/>
        </p:nvSpPr>
        <p:spPr>
          <a:xfrm>
            <a:off x="539496" y="8527527"/>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Final EPA non-conformance penalties before year-end that release held-back 2027 orders; Q4 deliveries at the top of the 41,000 to 43,000 range; a Q4 Truck, Parts and Other gross margin at 15%, the top of guidance.</a:t>
            </a:r>
            <a:endParaRPr lang="en-US" sz="870" dirty="0"/>
          </a:p>
        </p:txBody>
      </p:sp>
      <p:sp>
        <p:nvSpPr>
          <p:cNvPr id="46" name="Text 41"/>
          <p:cNvSpPr txBox="1"/>
          <p:nvPr/>
        </p:nvSpPr>
        <p:spPr>
          <a:xfrm>
            <a:off x="3963924" y="8335503"/>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47" name="Text 42"/>
          <p:cNvSpPr txBox="1"/>
          <p:nvPr/>
        </p:nvSpPr>
        <p:spPr>
          <a:xfrm>
            <a:off x="3963924" y="8527527"/>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Q4 deliveries below 41,000, a sign that supplier constraints run into 2027; a gross margin below the 14% low end of guidance; a 2027 US and Canada market heading below 240,000 units if the pull-forward fails to materialise.</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truck margins beat, parts slipped</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Consolidated revenue rose 19% to USD 7.94bn and net income 44% to USD 847.5m, or USD 1.61 per diluted share against USD 1.12 a year ago. Truck revenue grew 28% to USD 5.6bn on deliveries of 40,100, up 26%, which implies revenue per truck about 2% higher. Truck pretax profit reached USD 454.5m, a margin of 8.1%, against analyst estimates of USD 317m: operating leverage on higher volumes did the work. Parts revenue grew 3.2% to a record USD 1.78bn, but pretax profit of USD 404.4m, a 22.7% margin, came in 14% below estimates. Financial Services added USD 138.1m pretax, up 9.4%, on stable finance margins and a firmer used truck market.</a:t>
            </a:r>
            <a:endParaRPr lang="en-US" sz="870" dirty="0"/>
          </a:p>
        </p:txBody>
      </p:sp>
      <p:sp>
        <p:nvSpPr>
          <p:cNvPr id="9" name="Text 5"/>
          <p:cNvSpPr txBox="1"/>
          <p:nvPr/>
        </p:nvSpPr>
        <p:spPr>
          <a:xfrm>
            <a:off x="539496" y="252511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Against consensus the print was mixed: EPS in line, sales 1.3% short at USD 7.38bn, truck profit ahead, Parts profit behind. The shares eased 0.6% on 27 October, a move in proportion to that mix, so surprise and reaction are aligned. The confirmed drivers are the delivery shortfall, which management attributed to supplier constraints, and an unchanged regulatory picture: customers are still waiting for the EPA’s non-conformance penalties before placing 2027 orders. We think the muted move reflects expectations that were already low: the stock fell 4.8% in the three sessions before the release and trades 25% below its July high.</a:t>
            </a:r>
            <a:endParaRPr lang="en-US" sz="870" dirty="0"/>
          </a:p>
        </p:txBody>
      </p:sp>
      <p:sp>
        <p:nvSpPr>
          <p:cNvPr id="10" name="Text 6"/>
          <p:cNvSpPr txBox="1"/>
          <p:nvPr/>
        </p:nvSpPr>
        <p:spPr>
          <a:xfrm>
            <a:off x="539496" y="360090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Q4 recovers, 2027 hinges on rules</a:t>
            </a:r>
            <a:endParaRPr lang="en-US" sz="1100" dirty="0"/>
          </a:p>
        </p:txBody>
      </p:sp>
      <p:sp>
        <p:nvSpPr>
          <p:cNvPr id="11" name="Text 7"/>
          <p:cNvSpPr txBox="1"/>
          <p:nvPr/>
        </p:nvSpPr>
        <p:spPr>
          <a:xfrm>
            <a:off x="539496" y="3847795"/>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Management expects Q4 deliveries of 41,000 to 43,000 as supplier performance improves, a midpoint 5% above Q3, and a Truck, Parts and Other gross margin of 14% to 15%: price-cost is favourable, but production inefficiencies add cost. The 2026 US and Canada heavy truck market was narrowed to 240,000 to 260,000 units, and the first 2027 range of 240,000 to 280,000 has a midpoint 4% higher, supported by infrastructure-led vocational demand, where PACCAR holds a 40% share, and replacement. Europe is seen at 300,000 to 320,000 in both. Capital spending of USD 650m to 700m and research of USD 460m to 500m in 2027 fund clean-diesel, hybrid and battery-electric powertrains.</a:t>
            </a:r>
            <a:endParaRPr lang="en-US" sz="870" dirty="0"/>
          </a:p>
        </p:txBody>
      </p:sp>
      <p:sp>
        <p:nvSpPr>
          <p:cNvPr id="12" name="Text 8"/>
          <p:cNvSpPr txBox="1"/>
          <p:nvPr/>
        </p:nvSpPr>
        <p:spPr>
          <a:xfrm>
            <a:off x="539496" y="492358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earnings up, the multiple derated</a:t>
            </a:r>
            <a:endParaRPr lang="en-US" sz="1100" dirty="0"/>
          </a:p>
        </p:txBody>
      </p:sp>
      <p:sp>
        <p:nvSpPr>
          <p:cNvPr id="13" name="Text 9"/>
          <p:cNvSpPr txBox="1"/>
          <p:nvPr/>
        </p:nvSpPr>
        <p:spPr>
          <a:xfrm>
            <a:off x="539496" y="5170475"/>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PCAR: share price vs. consensus earnings and valuation</a:t>
            </a:r>
            <a:endParaRPr lang="en-US" sz="870" dirty="0"/>
          </a:p>
        </p:txBody>
      </p:sp>
      <p:sp>
        <p:nvSpPr>
          <p:cNvPr id="14" name="Text 10"/>
          <p:cNvSpPr txBox="1"/>
          <p:nvPr/>
        </p:nvSpPr>
        <p:spPr>
          <a:xfrm>
            <a:off x="539496" y="5344211"/>
            <a:ext cx="6483096" cy="23114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PCAR US Equity, daily data resampled to weekly, from January 2011 · BEst 12m-forward consensus · 40-week simple MA · log scale · P/E shaded above (orange) / below (blue) its 2011 to 2026 average · last price is the 27 October close, after the release</a:t>
            </a:r>
            <a:endParaRPr lang="en-US" sz="700" dirty="0"/>
          </a:p>
        </p:txBody>
      </p:sp>
      <p:pic>
        <p:nvPicPr>
          <p:cNvPr id="15" name="Image 2" descr="/home/claude/c2_crop.png">    </p:cNvPr>
          <p:cNvPicPr>
            <a:picLocks noChangeAspect="1"/>
          </p:cNvPicPr>
          <p:nvPr/>
        </p:nvPicPr>
        <p:blipFill>
          <a:blip r:embed="rId3"/>
          <a:stretch>
            <a:fillRect/>
          </a:stretch>
        </p:blipFill>
        <p:spPr>
          <a:xfrm>
            <a:off x="928482" y="5621071"/>
            <a:ext cx="5705124" cy="3413946"/>
          </a:xfrm>
          <a:prstGeom prst="rect">
            <a:avLst/>
          </a:prstGeom>
        </p:spPr>
      </p:pic>
      <p:sp>
        <p:nvSpPr>
          <p:cNvPr id="16" name="Text 11"/>
          <p:cNvSpPr txBox="1"/>
          <p:nvPr/>
        </p:nvSpPr>
        <p:spPr>
          <a:xfrm>
            <a:off x="539496" y="9089881"/>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Over 12 months consensus forward EPS has risen 16.4% to USD 5.90 while the share price is up only 2.6%, so the multiple has done the adjusting. The derating is recent: at the 28 July peak of USD 138.2, after Q2, the stock traded on 23.9x; it now trades on 17.6x, the lowest since July 2025, 16% above the 15.1x average since 2011 and below the 20.9x one-year average. The price sits 13% below its 40-week average of USD 120. A 10% upgrade at an unchanged price would take the multiple to 16.0x, close to the long-run average.</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PACCAR results release of 27 October 2026, analyst research notes of 8 and 27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PACCAR Q3 2026: trucks carry the quarter, 2027 rules weigh</dc:title>
  <dc:subject>PptxGenJS Presentation</dc:subject>
  <dc:creator>Syz Research</dc:creator>
  <cp:lastModifiedBy>Syz Research</cp:lastModifiedBy>
  <cp:revision>1</cp:revision>
  <dcterms:created xsi:type="dcterms:W3CDTF">2026-10-28T08:43:32Z</dcterms:created>
  <dcterms:modified xsi:type="dcterms:W3CDTF">2026-10-28T08:43:32Z</dcterms:modified>
</cp:coreProperties>
</file>