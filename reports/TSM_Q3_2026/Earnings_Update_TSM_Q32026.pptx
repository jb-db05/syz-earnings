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15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Semiconductors</a:t>
            </a:r>
            <a:endParaRPr lang="en-US" sz="800" dirty="0"/>
          </a:p>
        </p:txBody>
      </p:sp>
      <p:sp>
        <p:nvSpPr>
          <p:cNvPr id="7" name="Text 3"/>
          <p:cNvSpPr txBox="1"/>
          <p:nvPr/>
        </p:nvSpPr>
        <p:spPr>
          <a:xfrm>
            <a:off x="539496" y="1028700"/>
            <a:ext cx="6483096" cy="526796"/>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TSMC Q3 2026: AI demand lifts the bar again, 2nm is the margin cost</a:t>
            </a:r>
            <a:endParaRPr lang="en-US" sz="1700" dirty="0"/>
          </a:p>
        </p:txBody>
      </p:sp>
      <p:sp>
        <p:nvSpPr>
          <p:cNvPr id="8" name="Text 4"/>
          <p:cNvSpPr txBox="1"/>
          <p:nvPr/>
        </p:nvSpPr>
        <p:spPr>
          <a:xfrm>
            <a:off x="539496" y="1592072"/>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15 October 2026 · Syz Research</a:t>
            </a:r>
            <a:endParaRPr lang="en-US" sz="850" dirty="0"/>
          </a:p>
        </p:txBody>
      </p:sp>
      <p:sp>
        <p:nvSpPr>
          <p:cNvPr id="9" name="Text 5"/>
          <p:cNvSpPr txBox="1"/>
          <p:nvPr/>
        </p:nvSpPr>
        <p:spPr>
          <a:xfrm>
            <a:off x="539496" y="187553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0" name="Text 6"/>
          <p:cNvSpPr txBox="1"/>
          <p:nvPr/>
        </p:nvSpPr>
        <p:spPr>
          <a:xfrm>
            <a:off x="539496" y="213614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1" name="Text 7"/>
          <p:cNvSpPr txBox="1"/>
          <p:nvPr/>
        </p:nvSpPr>
        <p:spPr>
          <a:xfrm>
            <a:off x="1133856" y="211328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of TWD 1,494bn, up 51% on the year and 2.2% above consensus, on AI datacentre demand.</a:t>
            </a:r>
            <a:endParaRPr lang="en-US" sz="870" dirty="0"/>
          </a:p>
        </p:txBody>
      </p:sp>
      <p:sp>
        <p:nvSpPr>
          <p:cNvPr id="12" name="Text 8"/>
          <p:cNvSpPr txBox="1"/>
          <p:nvPr/>
        </p:nvSpPr>
        <p:spPr>
          <a:xfrm>
            <a:off x="539496" y="2338756"/>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3" name="Text 9"/>
          <p:cNvSpPr txBox="1"/>
          <p:nvPr/>
        </p:nvSpPr>
        <p:spPr>
          <a:xfrm>
            <a:off x="1133856" y="231589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fourth-quarter guide of 12% to 16% sequential growth lifts 2026 growth to about 44%.</a:t>
            </a:r>
            <a:endParaRPr lang="en-US" sz="870" dirty="0"/>
          </a:p>
        </p:txBody>
      </p:sp>
      <p:sp>
        <p:nvSpPr>
          <p:cNvPr id="14" name="Text 10"/>
          <p:cNvSpPr txBox="1"/>
          <p:nvPr/>
        </p:nvSpPr>
        <p:spPr>
          <a:xfrm>
            <a:off x="539496" y="2541372"/>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5" name="Text 11"/>
          <p:cNvSpPr txBox="1"/>
          <p:nvPr/>
        </p:nvSpPr>
        <p:spPr>
          <a:xfrm>
            <a:off x="1133856" y="251851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Gross margin of 66.4% sat within guidance but below the 67% to 68% expected, on 2nm dilution.</a:t>
            </a:r>
            <a:endParaRPr lang="en-US" sz="870" dirty="0"/>
          </a:p>
        </p:txBody>
      </p:sp>
      <p:sp>
        <p:nvSpPr>
          <p:cNvPr id="16" name="Text 12"/>
          <p:cNvSpPr txBox="1"/>
          <p:nvPr/>
        </p:nvSpPr>
        <p:spPr>
          <a:xfrm>
            <a:off x="539496" y="2743987"/>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17" name="Text 13"/>
          <p:cNvSpPr txBox="1"/>
          <p:nvPr/>
        </p:nvSpPr>
        <p:spPr>
          <a:xfrm>
            <a:off x="1133856" y="272112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19.7x forward earnings: 16% above the 2010 to 2026 average, well below the 23.3x one-year mean.</a:t>
            </a:r>
            <a:endParaRPr lang="en-US" sz="870" dirty="0"/>
          </a:p>
        </p:txBody>
      </p:sp>
      <p:sp>
        <p:nvSpPr>
          <p:cNvPr id="18" name="Shape 14"/>
          <p:cNvSpPr/>
          <p:nvPr/>
        </p:nvSpPr>
        <p:spPr>
          <a:xfrm>
            <a:off x="539496" y="3006039"/>
            <a:ext cx="6483096" cy="676656"/>
          </a:xfrm>
          <a:prstGeom prst="rect">
            <a:avLst/>
          </a:prstGeom>
          <a:solidFill>
            <a:srgbClr val="FFFFFF"/>
          </a:solidFill>
          <a:ln w="16510">
            <a:solidFill>
              <a:srgbClr val="202945"/>
            </a:solidFill>
            <a:prstDash val="solid"/>
          </a:ln>
        </p:spPr>
      </p:sp>
      <p:sp>
        <p:nvSpPr>
          <p:cNvPr id="19" name="Text 15"/>
          <p:cNvSpPr txBox="1"/>
          <p:nvPr/>
        </p:nvSpPr>
        <p:spPr>
          <a:xfrm>
            <a:off x="649224" y="308833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Revenue</a:t>
            </a:r>
            <a:endParaRPr lang="en-US" sz="720" dirty="0"/>
          </a:p>
        </p:txBody>
      </p:sp>
      <p:sp>
        <p:nvSpPr>
          <p:cNvPr id="20" name="Text 16"/>
          <p:cNvSpPr txBox="1"/>
          <p:nvPr/>
        </p:nvSpPr>
        <p:spPr>
          <a:xfrm>
            <a:off x="649224" y="323463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TWD 1,494bn</a:t>
            </a:r>
            <a:endParaRPr lang="en-US" sz="1300" dirty="0"/>
          </a:p>
        </p:txBody>
      </p:sp>
      <p:sp>
        <p:nvSpPr>
          <p:cNvPr id="21" name="Text 17"/>
          <p:cNvSpPr txBox="1"/>
          <p:nvPr/>
        </p:nvSpPr>
        <p:spPr>
          <a:xfrm>
            <a:off x="649224" y="347238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+2.2% vs. consensus</a:t>
            </a:r>
            <a:endParaRPr lang="en-US" sz="720" dirty="0"/>
          </a:p>
        </p:txBody>
      </p:sp>
      <p:sp>
        <p:nvSpPr>
          <p:cNvPr id="22" name="Shape 18"/>
          <p:cNvSpPr/>
          <p:nvPr/>
        </p:nvSpPr>
        <p:spPr>
          <a:xfrm>
            <a:off x="2160270" y="3006039"/>
            <a:ext cx="0" cy="676656"/>
          </a:xfrm>
          <a:prstGeom prst="line">
            <a:avLst/>
          </a:prstGeom>
          <a:noFill/>
          <a:ln w="7620">
            <a:solidFill>
              <a:srgbClr val="D6D9DE"/>
            </a:solidFill>
            <a:prstDash val="solid"/>
          </a:ln>
        </p:spPr>
      </p:sp>
      <p:sp>
        <p:nvSpPr>
          <p:cNvPr id="23" name="Text 19"/>
          <p:cNvSpPr txBox="1"/>
          <p:nvPr/>
        </p:nvSpPr>
        <p:spPr>
          <a:xfrm>
            <a:off x="2269998" y="308833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Gross margin</a:t>
            </a:r>
            <a:endParaRPr lang="en-US" sz="720" dirty="0"/>
          </a:p>
        </p:txBody>
      </p:sp>
      <p:sp>
        <p:nvSpPr>
          <p:cNvPr id="24" name="Text 20"/>
          <p:cNvSpPr txBox="1"/>
          <p:nvPr/>
        </p:nvSpPr>
        <p:spPr>
          <a:xfrm>
            <a:off x="2269998" y="323463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66.4%</a:t>
            </a:r>
            <a:endParaRPr lang="en-US" sz="1300" dirty="0"/>
          </a:p>
        </p:txBody>
      </p:sp>
      <p:sp>
        <p:nvSpPr>
          <p:cNvPr id="25" name="Text 21"/>
          <p:cNvSpPr txBox="1"/>
          <p:nvPr/>
        </p:nvSpPr>
        <p:spPr>
          <a:xfrm>
            <a:off x="2269998" y="3472383"/>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Below 67–68% expected</a:t>
            </a:r>
            <a:endParaRPr lang="en-US" sz="720" dirty="0"/>
          </a:p>
        </p:txBody>
      </p:sp>
      <p:sp>
        <p:nvSpPr>
          <p:cNvPr id="26" name="Shape 22"/>
          <p:cNvSpPr/>
          <p:nvPr/>
        </p:nvSpPr>
        <p:spPr>
          <a:xfrm>
            <a:off x="3781044" y="3006039"/>
            <a:ext cx="0" cy="676656"/>
          </a:xfrm>
          <a:prstGeom prst="line">
            <a:avLst/>
          </a:prstGeom>
          <a:noFill/>
          <a:ln w="7620">
            <a:solidFill>
              <a:srgbClr val="D6D9DE"/>
            </a:solidFill>
            <a:prstDash val="solid"/>
          </a:ln>
        </p:spPr>
      </p:sp>
      <p:sp>
        <p:nvSpPr>
          <p:cNvPr id="27" name="Text 23"/>
          <p:cNvSpPr txBox="1"/>
          <p:nvPr/>
        </p:nvSpPr>
        <p:spPr>
          <a:xfrm>
            <a:off x="3890772" y="308833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Q4 revenue guide</a:t>
            </a:r>
            <a:endParaRPr lang="en-US" sz="720" dirty="0"/>
          </a:p>
        </p:txBody>
      </p:sp>
      <p:sp>
        <p:nvSpPr>
          <p:cNvPr id="28" name="Text 24"/>
          <p:cNvSpPr txBox="1"/>
          <p:nvPr/>
        </p:nvSpPr>
        <p:spPr>
          <a:xfrm>
            <a:off x="3890772" y="323463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+12–16% q/q</a:t>
            </a:r>
            <a:endParaRPr lang="en-US" sz="1300" dirty="0"/>
          </a:p>
        </p:txBody>
      </p:sp>
      <p:sp>
        <p:nvSpPr>
          <p:cNvPr id="29" name="Text 25"/>
          <p:cNvSpPr txBox="1"/>
          <p:nvPr/>
        </p:nvSpPr>
        <p:spPr>
          <a:xfrm>
            <a:off x="3890772" y="3472383"/>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Midpoint +14% q/q</a:t>
            </a:r>
            <a:endParaRPr lang="en-US" sz="720" dirty="0"/>
          </a:p>
        </p:txBody>
      </p:sp>
      <p:sp>
        <p:nvSpPr>
          <p:cNvPr id="30" name="Shape 26"/>
          <p:cNvSpPr/>
          <p:nvPr/>
        </p:nvSpPr>
        <p:spPr>
          <a:xfrm>
            <a:off x="5401818" y="3006039"/>
            <a:ext cx="0" cy="676656"/>
          </a:xfrm>
          <a:prstGeom prst="line">
            <a:avLst/>
          </a:prstGeom>
          <a:noFill/>
          <a:ln w="7620">
            <a:solidFill>
              <a:srgbClr val="D6D9DE"/>
            </a:solidFill>
            <a:prstDash val="solid"/>
          </a:ln>
        </p:spPr>
      </p:sp>
      <p:sp>
        <p:nvSpPr>
          <p:cNvPr id="31" name="Text 27"/>
          <p:cNvSpPr txBox="1"/>
          <p:nvPr/>
        </p:nvSpPr>
        <p:spPr>
          <a:xfrm>
            <a:off x="5511546" y="308833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2026 revenue growth</a:t>
            </a:r>
            <a:endParaRPr lang="en-US" sz="720" dirty="0"/>
          </a:p>
        </p:txBody>
      </p:sp>
      <p:sp>
        <p:nvSpPr>
          <p:cNvPr id="32" name="Text 28"/>
          <p:cNvSpPr txBox="1"/>
          <p:nvPr/>
        </p:nvSpPr>
        <p:spPr>
          <a:xfrm>
            <a:off x="5511546" y="323463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c. 44%</a:t>
            </a:r>
            <a:endParaRPr lang="en-US" sz="1300" dirty="0"/>
          </a:p>
        </p:txBody>
      </p:sp>
      <p:sp>
        <p:nvSpPr>
          <p:cNvPr id="33" name="Text 29"/>
          <p:cNvSpPr txBox="1"/>
          <p:nvPr/>
        </p:nvSpPr>
        <p:spPr>
          <a:xfrm>
            <a:off x="5511546" y="347238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3–4% above prior estimates</a:t>
            </a:r>
            <a:endParaRPr lang="en-US" sz="720" dirty="0"/>
          </a:p>
        </p:txBody>
      </p:sp>
      <p:sp>
        <p:nvSpPr>
          <p:cNvPr id="34" name="Text 30"/>
          <p:cNvSpPr txBox="1"/>
          <p:nvPr/>
        </p:nvSpPr>
        <p:spPr>
          <a:xfrm>
            <a:off x="539496" y="380156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debate moves from demand to margins</a:t>
            </a:r>
            <a:endParaRPr lang="en-US" sz="1100" dirty="0"/>
          </a:p>
        </p:txBody>
      </p:sp>
      <p:sp>
        <p:nvSpPr>
          <p:cNvPr id="35" name="Text 31"/>
          <p:cNvSpPr txBox="1"/>
          <p:nvPr/>
        </p:nvSpPr>
        <p:spPr>
          <a:xfrm>
            <a:off x="539496" y="4048455"/>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TSMC remains the bottleneck of the artificial intelligence (AI) build-out. Revenue cleared the top of guidance by 2% to 3%, and management now expects 2026 growth of “slightly above 40%”, up from “above 30%”. Demand is not the question: the gap between supply and demand for leading-edge wafers is still described as large. The question is the cost of growth, as the 2nm ramp, overseas fabs and rising investment hold the gross margin below its second-quarter peak.</a:t>
            </a:r>
            <a:endParaRPr lang="en-US" sz="870" dirty="0"/>
          </a:p>
        </p:txBody>
      </p:sp>
      <p:sp>
        <p:nvSpPr>
          <p:cNvPr id="36" name="Text 32"/>
          <p:cNvSpPr txBox="1"/>
          <p:nvPr/>
        </p:nvSpPr>
        <p:spPr>
          <a:xfrm>
            <a:off x="539496" y="4773879"/>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TSM: Q3 2026 revenue vs. consensus and history</a:t>
            </a:r>
            <a:endParaRPr lang="en-US" sz="950" dirty="0"/>
          </a:p>
        </p:txBody>
      </p:sp>
      <p:sp>
        <p:nvSpPr>
          <p:cNvPr id="37" name="Text 33"/>
          <p:cNvSpPr txBox="1"/>
          <p:nvPr/>
        </p:nvSpPr>
        <p:spPr>
          <a:xfrm>
            <a:off x="539496" y="4956759"/>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Quarterly revenue, TWD bn · Q3 2026 consensus is the pre-results estimate · Q3 2026 reported in orange</a:t>
            </a:r>
            <a:endParaRPr lang="en-US" sz="720" dirty="0"/>
          </a:p>
        </p:txBody>
      </p:sp>
      <p:pic>
        <p:nvPicPr>
          <p:cNvPr id="38" name="Image 2" descr="/home/claude/c1_crop.png">    </p:cNvPr>
          <p:cNvPicPr>
            <a:picLocks noChangeAspect="1"/>
          </p:cNvPicPr>
          <p:nvPr/>
        </p:nvPicPr>
        <p:blipFill>
          <a:blip r:embed="rId3"/>
          <a:stretch>
            <a:fillRect/>
          </a:stretch>
        </p:blipFill>
        <p:spPr>
          <a:xfrm>
            <a:off x="1511960" y="5121351"/>
            <a:ext cx="4538167" cy="1415908"/>
          </a:xfrm>
          <a:prstGeom prst="rect">
            <a:avLst/>
          </a:prstGeom>
        </p:spPr>
      </p:pic>
      <p:sp>
        <p:nvSpPr>
          <p:cNvPr id="39" name="Text 34"/>
          <p:cNvSpPr txBox="1"/>
          <p:nvPr/>
        </p:nvSpPr>
        <p:spPr>
          <a:xfrm>
            <a:off x="539496" y="6592123"/>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Third-quarter revenue rose 51% on the year and 17.6% on the quarter, TWD 32bn above the pre-results estimate. High-performance computing, the platform that carries AI accelerators, grew 22% sequentially, smartphones 10% and automotive 23% on electric-vehicle and driver-assistance demand. The beat came from the leading edge: 3nm capacity is still tight and the 2nm ramp is steeper than planned.</a:t>
            </a:r>
            <a:endParaRPr lang="en-US" sz="870" dirty="0"/>
          </a:p>
        </p:txBody>
      </p:sp>
      <p:sp>
        <p:nvSpPr>
          <p:cNvPr id="40" name="Text 35"/>
          <p:cNvSpPr txBox="1"/>
          <p:nvPr/>
        </p:nvSpPr>
        <p:spPr>
          <a:xfrm>
            <a:off x="539496" y="735412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1" name="Text 36"/>
          <p:cNvSpPr txBox="1"/>
          <p:nvPr/>
        </p:nvSpPr>
        <p:spPr>
          <a:xfrm>
            <a:off x="539496" y="7601011"/>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TSMC and would add on the 13% pullback from the 2 October record. We back the AI-led earnings path: consensus 12-month forward EPS has risen 86% in a year, and the fourth-quarter guide should lift 2026 estimates by a further 2% to 3%. The debate has moved from demand to the margin cost of growth, with 2nm dilution and overseas fabs keeping gross margin in a 66% to 68% band. At 19.7x forward earnings the stock sits below its one-year average after a 39% rise, so earnings, not the multiple, carry the return. The next test is the January 2027 print and the 2027 capex guide.</a:t>
            </a:r>
            <a:endParaRPr lang="en-US" sz="870" dirty="0"/>
          </a:p>
        </p:txBody>
      </p:sp>
      <p:sp>
        <p:nvSpPr>
          <p:cNvPr id="42" name="Shape 37"/>
          <p:cNvSpPr/>
          <p:nvPr/>
        </p:nvSpPr>
        <p:spPr>
          <a:xfrm>
            <a:off x="3781044" y="8519907"/>
            <a:ext cx="0" cy="828751"/>
          </a:xfrm>
          <a:prstGeom prst="line">
            <a:avLst/>
          </a:prstGeom>
          <a:noFill/>
          <a:ln w="7620">
            <a:solidFill>
              <a:srgbClr val="D6D9DE"/>
            </a:solidFill>
            <a:prstDash val="solid"/>
          </a:ln>
        </p:spPr>
      </p:sp>
      <p:sp>
        <p:nvSpPr>
          <p:cNvPr id="43" name="Text 38"/>
          <p:cNvSpPr txBox="1"/>
          <p:nvPr/>
        </p:nvSpPr>
        <p:spPr>
          <a:xfrm>
            <a:off x="539496" y="8519907"/>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4" name="Text 39"/>
          <p:cNvSpPr txBox="1"/>
          <p:nvPr/>
        </p:nvSpPr>
        <p:spPr>
          <a:xfrm>
            <a:off x="539496" y="8711931"/>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 first-quarter 2027 gross margin guide at 67% or above despite the 2nm ramp; a 2027 capex budget of USD 80bn or more backed by customer commitments; confirmation of 2027 risk production for the next-generation A14 node.</a:t>
            </a:r>
            <a:endParaRPr lang="en-US" sz="870" dirty="0"/>
          </a:p>
        </p:txBody>
      </p:sp>
      <p:sp>
        <p:nvSpPr>
          <p:cNvPr id="45" name="Text 40"/>
          <p:cNvSpPr txBox="1"/>
          <p:nvPr/>
        </p:nvSpPr>
        <p:spPr>
          <a:xfrm>
            <a:off x="3963924" y="8519907"/>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6" name="Text 41"/>
          <p:cNvSpPr txBox="1"/>
          <p:nvPr/>
        </p:nvSpPr>
        <p:spPr>
          <a:xfrm>
            <a:off x="3963924" y="8711931"/>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Gross margin below 65% as 2nm and overseas fab dilution compound; capex heading for USD 100bn without matching price increases; any sign that hyperscaler AI budgets for 2027 stall, or new US tariffs on Taiwan-made chips.</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15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volume beat, margin held in range</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of TWD 1,494bn beat the TWD 1,462bn pre-results estimate by TWD 32bn and exceeded the top of the guided range by 2% to 3%. The quarter added TWD 224bn of revenue on the second quarter and TWD 504bn on a year ago. The mix tells the story: high-performance computing grew more than twice as fast as smartphones on the quarter, as datacentre accelerators for NVIDIA, AMD and the hyperscalers absorbed most leading-edge output, while automotive added a cyclical leg. Supply, not demand, capped the quarter: N3 capacity remains tight, and a steeper N2 ramp than planned is what lifted revenue above the guided range.</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Gross margin came in at 66.4%, within guidance and 695bp above the 59.5% of Q3 2025, but 130bp below the 67.7% of Q2 2026 and short of the 67% to 68% expected. The dilution is N2: a new node carries heavy depreciation before it scales. On reported revenue, the margin implies gross profit of about TWD 992bn, 2% above the TWD 973bn estimate, so the revenue beat more than offset the margin shortfall in absolute profit. We read the margin as the price of the node transition, not a loss of pricing power.</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capacity, not demand, sets the pace</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fourth-quarter guide of 12% to 16% sequential growth, 14% at the midpoint, rests on continued high-performance computing strength and flagship smartphone builds and implies about 44% growth for 2026, 3% to 4% above prior estimates. The 2026 capex budget of USD 60bn to 64bn was reiterated, with “significantly higher” spending flagged for 2027 and 2028; analyst estimates run to USD 80bn to 85bn in 2027 and up to USD 100bn in 2028. The A14 node has been pulled in, with risk production in 2027 and volume manufacturing in 2028, and customer activity already above N2 at the same stage. Advanced packaging moves to 9x reticle sizes in 2027.</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have outrun the price</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TSM: share price vs. consensus earnings and valuation</a:t>
            </a:r>
            <a:endParaRPr lang="en-US" sz="950" dirty="0"/>
          </a:p>
        </p:txBody>
      </p:sp>
      <p:sp>
        <p:nvSpPr>
          <p:cNvPr id="14" name="Text 10"/>
          <p:cNvSpPr txBox="1"/>
          <p:nvPr/>
        </p:nvSpPr>
        <p:spPr>
          <a:xfrm>
            <a:off x="539496" y="5141595"/>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TSM US (ADR), weekly, Jan 2010 to 15 Oct 2026 · Price in USD, consensus 12m-forward EPS in TWD per ADR · 40-week MA · Log scale · Last price on results day</a:t>
            </a:r>
            <a:endParaRPr lang="en-US" sz="720" dirty="0"/>
          </a:p>
        </p:txBody>
      </p:sp>
      <p:pic>
        <p:nvPicPr>
          <p:cNvPr id="15" name="Image 2" descr="/home/claude/c2_crop.png">    </p:cNvPr>
          <p:cNvPicPr>
            <a:picLocks noChangeAspect="1"/>
          </p:cNvPicPr>
          <p:nvPr/>
        </p:nvPicPr>
        <p:blipFill>
          <a:blip r:embed="rId3"/>
          <a:stretch>
            <a:fillRect/>
          </a:stretch>
        </p:blipFill>
        <p:spPr>
          <a:xfrm>
            <a:off x="863651" y="5425059"/>
            <a:ext cx="5834786" cy="3491536"/>
          </a:xfrm>
          <a:prstGeom prst="rect">
            <a:avLst/>
          </a:prstGeom>
        </p:spPr>
      </p:pic>
      <p:sp>
        <p:nvSpPr>
          <p:cNvPr id="16" name="Text 11"/>
          <p:cNvSpPr txBox="1"/>
          <p:nvPr/>
        </p:nvSpPr>
        <p:spPr>
          <a:xfrm>
            <a:off x="539496" y="8971459"/>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ADR has risen 39% while consensus 12-month forward EPS rose 86%, so the multiple has compressed from 24.9x a year ago and a 26.4x peak in June to 19.7x, its lowest since June 2025. That is still 16% above the 16.9x average since 2010, but below the 23.3x one-year average. The price stands 3.4% above its 40-week moving average of USD 397 after a 9.3% weekly fall. A further 16% of upgrades at an unchanged price would take the multiple back to its long-run average; analysts put the stock at about 16x 2027 earnings.</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15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company filings, TSMC Q3 2026 results of 15 October 2026, analyst research notes of 12 to 15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TSMC Q3 2026: AI demand lifts the bar again, 2nm is the margin cost</dc:title>
  <dc:subject>PptxGenJS Presentation</dc:subject>
  <dc:creator>Syz Research</dc:creator>
  <cp:lastModifiedBy>Syz Research</cp:lastModifiedBy>
  <cp:revision>1</cp:revision>
  <dcterms:created xsi:type="dcterms:W3CDTF">2026-10-15T14:12:17Z</dcterms:created>
  <dcterms:modified xsi:type="dcterms:W3CDTF">2026-10-15T14:12:17Z</dcterms:modified>
</cp:coreProperties>
</file>