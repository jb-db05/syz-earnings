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Sales update · 22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64592"/>
          </a:xfrm>
          <a:prstGeom prst="rect">
            <a:avLst/>
          </a:prstGeom>
          <a:noFill/>
          <a:ln/>
        </p:spPr>
        <p:txBody>
          <a:bodyPr wrap="square" lIns="0" tIns="0" rIns="0" bIns="0" rtlCol="0" anchor="t"/>
          <a:lstStyle/>
          <a:p>
            <a:pPr indent="0" marL="0">
              <a:buNone/>
            </a:pPr>
            <a:r>
              <a:rPr lang="en-US" sz="800" b="1" spc="120" kern="0" dirty="0">
                <a:solidFill>
                  <a:srgbClr val="FF6C0E"/>
                </a:solidFill>
                <a:latin typeface="Nunito" pitchFamily="34" charset="0"/>
                <a:ea typeface="Nunito" pitchFamily="34" charset="-122"/>
                <a:cs typeface="Nunito" pitchFamily="34" charset="-120"/>
              </a:rPr>
              <a:t>Sales update</a:t>
            </a:r>
            <a:endParaRPr lang="en-US" sz="800" dirty="0"/>
          </a:p>
        </p:txBody>
      </p:sp>
      <p:sp>
        <p:nvSpPr>
          <p:cNvPr id="7" name="Text 3"/>
          <p:cNvSpPr txBox="1"/>
          <p:nvPr/>
        </p:nvSpPr>
        <p:spPr>
          <a:xfrm>
            <a:off x="539496" y="1028700"/>
            <a:ext cx="6483096" cy="263398"/>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Galderma Q3 2026: a beat, a raise and a rally</a:t>
            </a:r>
            <a:endParaRPr lang="en-US" sz="1700" dirty="0"/>
          </a:p>
        </p:txBody>
      </p:sp>
      <p:sp>
        <p:nvSpPr>
          <p:cNvPr id="8" name="Text 4"/>
          <p:cNvSpPr txBox="1"/>
          <p:nvPr/>
        </p:nvSpPr>
        <p:spPr>
          <a:xfrm>
            <a:off x="539496" y="1328674"/>
            <a:ext cx="6483096" cy="164592"/>
          </a:xfrm>
          <a:prstGeom prst="rect">
            <a:avLst/>
          </a:prstGeom>
          <a:noFill/>
          <a:ln/>
        </p:spPr>
        <p:txBody>
          <a:bodyPr wrap="square" lIns="0" tIns="0" rIns="0" bIns="0" rtlCol="0" anchor="t"/>
          <a:lstStyle/>
          <a:p>
            <a:pPr indent="0" marL="0">
              <a:buNone/>
            </a:pPr>
            <a:r>
              <a:rPr lang="en-US" sz="850" b="1" dirty="0">
                <a:solidFill>
                  <a:srgbClr val="6B7280"/>
                </a:solidFill>
                <a:latin typeface="Nunito" pitchFamily="34" charset="0"/>
                <a:ea typeface="Nunito" pitchFamily="34" charset="-122"/>
                <a:cs typeface="Nunito" pitchFamily="34" charset="-120"/>
              </a:rPr>
              <a:t>22 October 2026 · Syz Research</a:t>
            </a:r>
            <a:endParaRPr lang="en-US" sz="850" dirty="0"/>
          </a:p>
        </p:txBody>
      </p:sp>
      <p:sp>
        <p:nvSpPr>
          <p:cNvPr id="9" name="Shape 5"/>
          <p:cNvSpPr/>
          <p:nvPr/>
        </p:nvSpPr>
        <p:spPr>
          <a:xfrm>
            <a:off x="539496" y="1612138"/>
            <a:ext cx="42977" cy="741807"/>
          </a:xfrm>
          <a:prstGeom prst="rect">
            <a:avLst/>
          </a:prstGeom>
          <a:solidFill>
            <a:srgbClr val="FF6C0E"/>
          </a:solidFill>
          <a:ln w="12700">
            <a:solidFill>
              <a:srgbClr val="FF6C0E"/>
            </a:solidFill>
            <a:prstDash val="solid"/>
          </a:ln>
        </p:spPr>
      </p:sp>
      <p:sp>
        <p:nvSpPr>
          <p:cNvPr id="10" name="Text 6"/>
          <p:cNvSpPr txBox="1"/>
          <p:nvPr/>
        </p:nvSpPr>
        <p:spPr>
          <a:xfrm>
            <a:off x="722376" y="1630426"/>
            <a:ext cx="6300216" cy="504063"/>
          </a:xfrm>
          <a:prstGeom prst="rect">
            <a:avLst/>
          </a:prstGeom>
          <a:noFill/>
          <a:ln/>
        </p:spPr>
        <p:txBody>
          <a:bodyPr wrap="square" lIns="0" tIns="0" rIns="0" bIns="0" rtlCol="0" anchor="t"/>
          <a:lstStyle/>
          <a:p>
            <a:pPr indent="0" marL="0">
              <a:lnSpc>
                <a:spcPct val="112500"/>
              </a:lnSpc>
              <a:buNone/>
            </a:pPr>
            <a:r>
              <a:rPr lang="en-US" sz="980" b="1" dirty="0">
                <a:solidFill>
                  <a:srgbClr val="202945"/>
                </a:solidFill>
                <a:latin typeface="Nunito" pitchFamily="34" charset="0"/>
                <a:ea typeface="Nunito" pitchFamily="34" charset="-122"/>
                <a:cs typeface="Nunito" pitchFamily="34" charset="-120"/>
              </a:rPr>
              <a:t>“With a stronger-than-anticipated trajectory in the first nine months, especially in Therapeutic Dermatology, across both Nemluvio and the mature portfolio, as well as in Dermatological Skincare and Neuromodulators, Galderma is raising its full-year 2026 net sales growth guidance”</a:t>
            </a:r>
            <a:endParaRPr lang="en-US" sz="980" dirty="0"/>
          </a:p>
        </p:txBody>
      </p:sp>
      <p:sp>
        <p:nvSpPr>
          <p:cNvPr id="11" name="Text 7"/>
          <p:cNvSpPr txBox="1"/>
          <p:nvPr/>
        </p:nvSpPr>
        <p:spPr>
          <a:xfrm>
            <a:off x="722376" y="2171065"/>
            <a:ext cx="6300216" cy="155448"/>
          </a:xfrm>
          <a:prstGeom prst="rect">
            <a:avLst/>
          </a:prstGeom>
          <a:noFill/>
          <a:ln/>
        </p:spPr>
        <p:txBody>
          <a:bodyPr wrap="square" lIns="0" tIns="0" rIns="0" bIns="0" rtlCol="0" anchor="t"/>
          <a:lstStyle/>
          <a:p>
            <a:pPr indent="0" marL="0">
              <a:buNone/>
            </a:pPr>
            <a:r>
              <a:rPr lang="en-US" sz="760" b="1" dirty="0">
                <a:solidFill>
                  <a:srgbClr val="6B7280"/>
                </a:solidFill>
                <a:latin typeface="Nunito" pitchFamily="34" charset="0"/>
                <a:ea typeface="Nunito" pitchFamily="34" charset="-122"/>
                <a:cs typeface="Nunito" pitchFamily="34" charset="-120"/>
              </a:rPr>
              <a:t>Galderma, Q3 2026 trading update, release of 22 October 2026 (company statement)</a:t>
            </a:r>
            <a:endParaRPr lang="en-US" sz="760" dirty="0"/>
          </a:p>
        </p:txBody>
      </p:sp>
      <p:sp>
        <p:nvSpPr>
          <p:cNvPr id="12" name="Text 8"/>
          <p:cNvSpPr txBox="1"/>
          <p:nvPr/>
        </p:nvSpPr>
        <p:spPr>
          <a:xfrm>
            <a:off x="539496" y="247281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3" name="Text 9"/>
          <p:cNvSpPr txBox="1"/>
          <p:nvPr/>
        </p:nvSpPr>
        <p:spPr>
          <a:xfrm>
            <a:off x="539496" y="2733421"/>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Beat</a:t>
            </a:r>
            <a:endParaRPr lang="en-US" sz="700" dirty="0"/>
          </a:p>
        </p:txBody>
      </p:sp>
      <p:sp>
        <p:nvSpPr>
          <p:cNvPr id="14" name="Text 10"/>
          <p:cNvSpPr txBox="1"/>
          <p:nvPr/>
        </p:nvSpPr>
        <p:spPr>
          <a:xfrm>
            <a:off x="1133856" y="2710561"/>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Q3 sales USD 1,632m, up 26% at constant currency and 5.1% above consensus, with every category contributing.</a:t>
            </a:r>
            <a:endParaRPr lang="en-US" sz="870" dirty="0"/>
          </a:p>
        </p:txBody>
      </p:sp>
      <p:sp>
        <p:nvSpPr>
          <p:cNvPr id="15" name="Text 11"/>
          <p:cNvSpPr txBox="1"/>
          <p:nvPr/>
        </p:nvSpPr>
        <p:spPr>
          <a:xfrm>
            <a:off x="539496" y="2936037"/>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Raised</a:t>
            </a:r>
            <a:endParaRPr lang="en-US" sz="700" dirty="0"/>
          </a:p>
        </p:txBody>
      </p:sp>
      <p:sp>
        <p:nvSpPr>
          <p:cNvPr id="16" name="Text 12"/>
          <p:cNvSpPr txBox="1"/>
          <p:nvPr/>
        </p:nvSpPr>
        <p:spPr>
          <a:xfrm>
            <a:off x="1133856" y="2913177"/>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2026 sales growth guide raised to 22.5–23.5% from 19–21%; core operating margin (EBITDA) held at about 26%.</a:t>
            </a:r>
            <a:endParaRPr lang="en-US" sz="870" dirty="0"/>
          </a:p>
        </p:txBody>
      </p:sp>
      <p:sp>
        <p:nvSpPr>
          <p:cNvPr id="17" name="Text 13"/>
          <p:cNvSpPr txBox="1"/>
          <p:nvPr/>
        </p:nvSpPr>
        <p:spPr>
          <a:xfrm>
            <a:off x="539496" y="3138653"/>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Watch</a:t>
            </a:r>
            <a:endParaRPr lang="en-US" sz="700" dirty="0"/>
          </a:p>
        </p:txBody>
      </p:sp>
      <p:sp>
        <p:nvSpPr>
          <p:cNvPr id="18" name="Text 14"/>
          <p:cNvSpPr txBox="1"/>
          <p:nvPr/>
        </p:nvSpPr>
        <p:spPr>
          <a:xfrm>
            <a:off x="1133856" y="3115793"/>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Fillers grew only 4.8%, mature brands face generics, and the US Relfydess refiling waits until early 2027.</a:t>
            </a:r>
            <a:endParaRPr lang="en-US" sz="870" dirty="0"/>
          </a:p>
        </p:txBody>
      </p:sp>
      <p:sp>
        <p:nvSpPr>
          <p:cNvPr id="19" name="Text 15"/>
          <p:cNvSpPr txBox="1"/>
          <p:nvPr/>
        </p:nvSpPr>
        <p:spPr>
          <a:xfrm>
            <a:off x="539496" y="3341268"/>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20" name="Text 16"/>
          <p:cNvSpPr txBox="1"/>
          <p:nvPr/>
        </p:nvSpPr>
        <p:spPr>
          <a:xfrm>
            <a:off x="1133856" y="3318408"/>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46.7x this year’s consensus earnings with the shares just below their record: upgrades must now do the work.</a:t>
            </a:r>
            <a:endParaRPr lang="en-US" sz="870" dirty="0"/>
          </a:p>
        </p:txBody>
      </p:sp>
      <p:sp>
        <p:nvSpPr>
          <p:cNvPr id="21" name="Shape 17"/>
          <p:cNvSpPr/>
          <p:nvPr/>
        </p:nvSpPr>
        <p:spPr>
          <a:xfrm>
            <a:off x="539496" y="3603320"/>
            <a:ext cx="6483096" cy="676656"/>
          </a:xfrm>
          <a:prstGeom prst="rect">
            <a:avLst/>
          </a:prstGeom>
          <a:solidFill>
            <a:srgbClr val="FFFFFF"/>
          </a:solidFill>
          <a:ln w="16510">
            <a:solidFill>
              <a:srgbClr val="202945"/>
            </a:solidFill>
            <a:prstDash val="solid"/>
          </a:ln>
        </p:spPr>
      </p:sp>
      <p:sp>
        <p:nvSpPr>
          <p:cNvPr id="22" name="Text 18"/>
          <p:cNvSpPr txBox="1"/>
          <p:nvPr/>
        </p:nvSpPr>
        <p:spPr>
          <a:xfrm>
            <a:off x="649224" y="3685616"/>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Q3 net sales</a:t>
            </a:r>
            <a:endParaRPr lang="en-US" sz="720" dirty="0"/>
          </a:p>
        </p:txBody>
      </p:sp>
      <p:sp>
        <p:nvSpPr>
          <p:cNvPr id="23" name="Text 19"/>
          <p:cNvSpPr txBox="1"/>
          <p:nvPr/>
        </p:nvSpPr>
        <p:spPr>
          <a:xfrm>
            <a:off x="649224" y="3831920"/>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1,632m</a:t>
            </a:r>
            <a:endParaRPr lang="en-US" sz="1300" dirty="0"/>
          </a:p>
        </p:txBody>
      </p:sp>
      <p:sp>
        <p:nvSpPr>
          <p:cNvPr id="24" name="Text 20"/>
          <p:cNvSpPr txBox="1"/>
          <p:nvPr/>
        </p:nvSpPr>
        <p:spPr>
          <a:xfrm>
            <a:off x="649224" y="4069664"/>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+5.1% vs. consensus</a:t>
            </a:r>
            <a:endParaRPr lang="en-US" sz="720" dirty="0"/>
          </a:p>
        </p:txBody>
      </p:sp>
      <p:sp>
        <p:nvSpPr>
          <p:cNvPr id="25" name="Shape 21"/>
          <p:cNvSpPr/>
          <p:nvPr/>
        </p:nvSpPr>
        <p:spPr>
          <a:xfrm>
            <a:off x="2160270" y="3603320"/>
            <a:ext cx="0" cy="676656"/>
          </a:xfrm>
          <a:prstGeom prst="line">
            <a:avLst/>
          </a:prstGeom>
          <a:noFill/>
          <a:ln w="7620">
            <a:solidFill>
              <a:srgbClr val="D6D9DE"/>
            </a:solidFill>
            <a:prstDash val="solid"/>
          </a:ln>
        </p:spPr>
      </p:sp>
      <p:sp>
        <p:nvSpPr>
          <p:cNvPr id="26" name="Text 22"/>
          <p:cNvSpPr txBox="1"/>
          <p:nvPr/>
        </p:nvSpPr>
        <p:spPr>
          <a:xfrm>
            <a:off x="2269998" y="3685616"/>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Q3 growth, constant FX</a:t>
            </a:r>
            <a:endParaRPr lang="en-US" sz="720" dirty="0"/>
          </a:p>
        </p:txBody>
      </p:sp>
      <p:sp>
        <p:nvSpPr>
          <p:cNvPr id="27" name="Text 23"/>
          <p:cNvSpPr txBox="1"/>
          <p:nvPr/>
        </p:nvSpPr>
        <p:spPr>
          <a:xfrm>
            <a:off x="2269998" y="3831920"/>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+26.0%</a:t>
            </a:r>
            <a:endParaRPr lang="en-US" sz="1300" dirty="0"/>
          </a:p>
        </p:txBody>
      </p:sp>
      <p:sp>
        <p:nvSpPr>
          <p:cNvPr id="28" name="Text 24"/>
          <p:cNvSpPr txBox="1"/>
          <p:nvPr/>
        </p:nvSpPr>
        <p:spPr>
          <a:xfrm>
            <a:off x="2269998" y="4069664"/>
            <a:ext cx="1437894" cy="146304"/>
          </a:xfrm>
          <a:prstGeom prst="rect">
            <a:avLst/>
          </a:prstGeom>
          <a:noFill/>
          <a:ln/>
        </p:spPr>
        <p:txBody>
          <a:bodyPr wrap="square" lIns="0" tIns="0" rIns="0" bIns="0" rtlCol="0" anchor="t"/>
          <a:lstStyle/>
          <a:p>
            <a:pPr indent="0" marL="0">
              <a:buNone/>
            </a:pPr>
            <a:r>
              <a:rPr lang="en-US" sz="720" b="1" dirty="0">
                <a:solidFill>
                  <a:srgbClr val="4B5F80"/>
                </a:solidFill>
                <a:latin typeface="Nunito" pitchFamily="34" charset="0"/>
                <a:ea typeface="Nunito" pitchFamily="34" charset="-122"/>
                <a:cs typeface="Nunito" pitchFamily="34" charset="-120"/>
              </a:rPr>
              <a:t>Nine months: +25.1%</a:t>
            </a:r>
            <a:endParaRPr lang="en-US" sz="720" dirty="0"/>
          </a:p>
        </p:txBody>
      </p:sp>
      <p:sp>
        <p:nvSpPr>
          <p:cNvPr id="29" name="Shape 25"/>
          <p:cNvSpPr/>
          <p:nvPr/>
        </p:nvSpPr>
        <p:spPr>
          <a:xfrm>
            <a:off x="3781044" y="3603320"/>
            <a:ext cx="0" cy="676656"/>
          </a:xfrm>
          <a:prstGeom prst="line">
            <a:avLst/>
          </a:prstGeom>
          <a:noFill/>
          <a:ln w="7620">
            <a:solidFill>
              <a:srgbClr val="D6D9DE"/>
            </a:solidFill>
            <a:prstDash val="solid"/>
          </a:ln>
        </p:spPr>
      </p:sp>
      <p:sp>
        <p:nvSpPr>
          <p:cNvPr id="30" name="Text 26"/>
          <p:cNvSpPr txBox="1"/>
          <p:nvPr/>
        </p:nvSpPr>
        <p:spPr>
          <a:xfrm>
            <a:off x="3890772" y="3685616"/>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Nemluvio Q3 sales</a:t>
            </a:r>
            <a:endParaRPr lang="en-US" sz="720" dirty="0"/>
          </a:p>
        </p:txBody>
      </p:sp>
      <p:sp>
        <p:nvSpPr>
          <p:cNvPr id="31" name="Text 27"/>
          <p:cNvSpPr txBox="1"/>
          <p:nvPr/>
        </p:nvSpPr>
        <p:spPr>
          <a:xfrm>
            <a:off x="3890772" y="3831920"/>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302m</a:t>
            </a:r>
            <a:endParaRPr lang="en-US" sz="1300" dirty="0"/>
          </a:p>
        </p:txBody>
      </p:sp>
      <p:sp>
        <p:nvSpPr>
          <p:cNvPr id="32" name="Text 28"/>
          <p:cNvSpPr txBox="1"/>
          <p:nvPr/>
        </p:nvSpPr>
        <p:spPr>
          <a:xfrm>
            <a:off x="3890772" y="4069664"/>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About +7% vs. consensus</a:t>
            </a:r>
            <a:endParaRPr lang="en-US" sz="720" dirty="0"/>
          </a:p>
        </p:txBody>
      </p:sp>
      <p:sp>
        <p:nvSpPr>
          <p:cNvPr id="33" name="Shape 29"/>
          <p:cNvSpPr/>
          <p:nvPr/>
        </p:nvSpPr>
        <p:spPr>
          <a:xfrm>
            <a:off x="5401818" y="3603320"/>
            <a:ext cx="0" cy="676656"/>
          </a:xfrm>
          <a:prstGeom prst="line">
            <a:avLst/>
          </a:prstGeom>
          <a:noFill/>
          <a:ln w="7620">
            <a:solidFill>
              <a:srgbClr val="D6D9DE"/>
            </a:solidFill>
            <a:prstDash val="solid"/>
          </a:ln>
        </p:spPr>
      </p:sp>
      <p:sp>
        <p:nvSpPr>
          <p:cNvPr id="34" name="Text 30"/>
          <p:cNvSpPr txBox="1"/>
          <p:nvPr/>
        </p:nvSpPr>
        <p:spPr>
          <a:xfrm>
            <a:off x="5511546" y="3685616"/>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FY26 sales growth guide</a:t>
            </a:r>
            <a:endParaRPr lang="en-US" sz="720" dirty="0"/>
          </a:p>
        </p:txBody>
      </p:sp>
      <p:sp>
        <p:nvSpPr>
          <p:cNvPr id="35" name="Text 31"/>
          <p:cNvSpPr txBox="1"/>
          <p:nvPr/>
        </p:nvSpPr>
        <p:spPr>
          <a:xfrm>
            <a:off x="5511546" y="3831920"/>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+22.5–23.5%</a:t>
            </a:r>
            <a:endParaRPr lang="en-US" sz="1300" dirty="0"/>
          </a:p>
        </p:txBody>
      </p:sp>
      <p:sp>
        <p:nvSpPr>
          <p:cNvPr id="36" name="Text 32"/>
          <p:cNvSpPr txBox="1"/>
          <p:nvPr/>
        </p:nvSpPr>
        <p:spPr>
          <a:xfrm>
            <a:off x="5511546" y="4069664"/>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Raised from +19–21%</a:t>
            </a:r>
            <a:endParaRPr lang="en-US" sz="720" dirty="0"/>
          </a:p>
        </p:txBody>
      </p:sp>
      <p:sp>
        <p:nvSpPr>
          <p:cNvPr id="37" name="Text 33"/>
          <p:cNvSpPr txBox="1"/>
          <p:nvPr/>
        </p:nvSpPr>
        <p:spPr>
          <a:xfrm>
            <a:off x="539496" y="4398848"/>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What the quarter means for the investment case</a:t>
            </a:r>
            <a:endParaRPr lang="en-US" sz="1100" dirty="0"/>
          </a:p>
        </p:txBody>
      </p:sp>
      <p:sp>
        <p:nvSpPr>
          <p:cNvPr id="38" name="Text 34"/>
          <p:cNvSpPr txBox="1"/>
          <p:nvPr/>
        </p:nvSpPr>
        <p:spPr>
          <a:xfrm>
            <a:off x="539496" y="4645736"/>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This is the second beat and raise in a row, and the key message is breadth. Therapeutic dermatology grew 58.9%, but neuromodulators (+24.1%) and dermatological skincare (+15.6%) also ran well ahead of their markets: the quarter does not rest on Nemluvio alone. With the sales guide raised by more than three points and the margin target held, analysts expect 2026 sales and core EBITDA about 1.5% above prior consensus.</a:t>
            </a:r>
            <a:endParaRPr lang="en-US" sz="870" dirty="0"/>
          </a:p>
        </p:txBody>
      </p:sp>
      <p:sp>
        <p:nvSpPr>
          <p:cNvPr id="39" name="Text 35"/>
          <p:cNvSpPr txBox="1"/>
          <p:nvPr/>
        </p:nvSpPr>
        <p:spPr>
          <a:xfrm>
            <a:off x="539496" y="5371160"/>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1</a:t>
            </a:r>
            <a:pPr indent="0" marL="0">
              <a:buNone/>
            </a:pPr>
            <a:r>
              <a:rPr lang="en-US" sz="950" b="1" dirty="0">
                <a:solidFill>
                  <a:srgbClr val="202945"/>
                </a:solidFill>
                <a:latin typeface="Nunito" pitchFamily="34" charset="0"/>
                <a:ea typeface="Nunito" pitchFamily="34" charset="-122"/>
                <a:cs typeface="Nunito" pitchFamily="34" charset="-120"/>
              </a:rPr>
              <a:t> · GALD: contribution to Q3 2026 group growth (bridge)</a:t>
            </a:r>
            <a:endParaRPr lang="en-US" sz="950" dirty="0"/>
          </a:p>
        </p:txBody>
      </p:sp>
      <p:sp>
        <p:nvSpPr>
          <p:cNvPr id="40" name="Text 36"/>
          <p:cNvSpPr txBox="1"/>
          <p:nvPr/>
        </p:nvSpPr>
        <p:spPr>
          <a:xfrm>
            <a:off x="539496" y="5554040"/>
            <a:ext cx="6483096" cy="118872"/>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Contribution to group growth at constant currency, pp · weighted by Q3 2025 sales mix (USD 1,289m) · sum 26.2pp vs. 26.0% reported (rounding)</a:t>
            </a:r>
            <a:endParaRPr lang="en-US" sz="720" dirty="0"/>
          </a:p>
        </p:txBody>
      </p:sp>
      <p:pic>
        <p:nvPicPr>
          <p:cNvPr id="41" name="Image 2" descr="/home/claude/galderma/c1_crop.png">    </p:cNvPr>
          <p:cNvPicPr>
            <a:picLocks noChangeAspect="1"/>
          </p:cNvPicPr>
          <p:nvPr/>
        </p:nvPicPr>
        <p:blipFill>
          <a:blip r:embed="rId3"/>
          <a:stretch>
            <a:fillRect/>
          </a:stretch>
        </p:blipFill>
        <p:spPr>
          <a:xfrm>
            <a:off x="1576791" y="5718632"/>
            <a:ext cx="4408505" cy="1375454"/>
          </a:xfrm>
          <a:prstGeom prst="rect">
            <a:avLst/>
          </a:prstGeom>
        </p:spPr>
      </p:pic>
      <p:sp>
        <p:nvSpPr>
          <p:cNvPr id="42" name="Text 37"/>
          <p:cNvSpPr txBox="1"/>
          <p:nvPr/>
        </p:nvSpPr>
        <p:spPr>
          <a:xfrm>
            <a:off x="539496" y="7148950"/>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Therapeutic dermatology added 14.4 points of the 26.0% growth, but neuromodulators (6.5), dermatological skincare (4.2) and fillers (1.1) delivered close to 12 points. Neuromodulators were helped by US shipments shifted from Q2, which flatters the quarter. Fillers and biostimulators, up only 4.8%, remain the soft spot after last year’s Sculptra launch in China.</a:t>
            </a:r>
            <a:endParaRPr lang="en-US" sz="870" dirty="0"/>
          </a:p>
        </p:txBody>
      </p:sp>
      <p:sp>
        <p:nvSpPr>
          <p:cNvPr id="43" name="Text 38"/>
          <p:cNvSpPr txBox="1"/>
          <p:nvPr/>
        </p:nvSpPr>
        <p:spPr>
          <a:xfrm>
            <a:off x="539496" y="7754054"/>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4" name="Text 39"/>
          <p:cNvSpPr txBox="1"/>
          <p:nvPr/>
        </p:nvSpPr>
        <p:spPr>
          <a:xfrm>
            <a:off x="539496" y="8000942"/>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We stay positive on Galderma. Our base case is 2026 sales growth of about 23% at constant currency, a core EBITDA margin near 26% and consensus earnings per share of USD 4.80 edging higher after the raise. The debate has moved from whether Galderma can grow to whether it can hold the pace through generic erosion, the Relfydess delay and the ZO Skin Health integration. With the shares up 6% on the day and just below their June record, the easy re-rating is done. The next test is the full-year release in early 2027.</a:t>
            </a:r>
            <a:endParaRPr lang="en-US" sz="870" dirty="0"/>
          </a:p>
        </p:txBody>
      </p:sp>
      <p:sp>
        <p:nvSpPr>
          <p:cNvPr id="45" name="Shape 40"/>
          <p:cNvSpPr/>
          <p:nvPr/>
        </p:nvSpPr>
        <p:spPr>
          <a:xfrm>
            <a:off x="3781044" y="8919838"/>
            <a:ext cx="0" cy="985647"/>
          </a:xfrm>
          <a:prstGeom prst="line">
            <a:avLst/>
          </a:prstGeom>
          <a:noFill/>
          <a:ln w="7620">
            <a:solidFill>
              <a:srgbClr val="D6D9DE"/>
            </a:solidFill>
            <a:prstDash val="solid"/>
          </a:ln>
        </p:spPr>
      </p:sp>
      <p:sp>
        <p:nvSpPr>
          <p:cNvPr id="46" name="Text 41"/>
          <p:cNvSpPr txBox="1"/>
          <p:nvPr/>
        </p:nvSpPr>
        <p:spPr>
          <a:xfrm>
            <a:off x="539496" y="8919838"/>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strengthen our view</a:t>
            </a:r>
            <a:endParaRPr lang="en-US" sz="780" dirty="0"/>
          </a:p>
        </p:txBody>
      </p:sp>
      <p:sp>
        <p:nvSpPr>
          <p:cNvPr id="47" name="Text 42"/>
          <p:cNvSpPr txBox="1"/>
          <p:nvPr/>
        </p:nvSpPr>
        <p:spPr>
          <a:xfrm>
            <a:off x="539496" y="9111862"/>
            <a:ext cx="3058668"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Consensus 2026 earnings per share above USD 4.90; Nemluvio above USD 300m again in Q4, taking the year beyond USD 1bn; fillers growth back towards double digits in 2027; the US Relfydess refiling on time in Q1 2027.</a:t>
            </a:r>
            <a:endParaRPr lang="en-US" sz="870" dirty="0"/>
          </a:p>
        </p:txBody>
      </p:sp>
      <p:sp>
        <p:nvSpPr>
          <p:cNvPr id="48" name="Text 43"/>
          <p:cNvSpPr txBox="1"/>
          <p:nvPr/>
        </p:nvSpPr>
        <p:spPr>
          <a:xfrm>
            <a:off x="3963924" y="8919838"/>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change our view</a:t>
            </a:r>
            <a:endParaRPr lang="en-US" sz="780" dirty="0"/>
          </a:p>
        </p:txBody>
      </p:sp>
      <p:sp>
        <p:nvSpPr>
          <p:cNvPr id="49" name="Text 44"/>
          <p:cNvSpPr txBox="1"/>
          <p:nvPr/>
        </p:nvSpPr>
        <p:spPr>
          <a:xfrm>
            <a:off x="3963924" y="9111862"/>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Mature therapeutic brands falling faster than expected as generics arrive; a 2026 core EBITDA margin below 26% or a weak 2027 margin outlook once ZO Skin Health is consolidated; a further Relfydess delay; the shares breaking below CHF 162.</a:t>
            </a:r>
            <a:endParaRPr lang="en-US" sz="8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Sales update · 22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274320"/>
          </a:xfrm>
          <a:prstGeom prst="rect">
            <a:avLst/>
          </a:prstGeom>
          <a:noFill/>
          <a:ln/>
        </p:spPr>
        <p:txBody>
          <a:bodyPr wrap="square" lIns="0" tIns="0" rIns="0" bIns="0" rtlCol="0" anchor="t"/>
          <a:lstStyle/>
          <a:p>
            <a:pPr indent="0" marL="0">
              <a:buNone/>
            </a:pPr>
            <a:r>
              <a:rPr lang="en-US" sz="1400" b="1" dirty="0">
                <a:solidFill>
                  <a:srgbClr val="202945"/>
                </a:solidFill>
                <a:latin typeface="Nunito" pitchFamily="34" charset="0"/>
                <a:ea typeface="Nunito" pitchFamily="34" charset="-122"/>
                <a:cs typeface="Nunito" pitchFamily="34" charset="-120"/>
              </a:rPr>
              <a:t>Beyond the key takeaways</a:t>
            </a:r>
            <a:endParaRPr lang="en-US" sz="1400" dirty="0"/>
          </a:p>
        </p:txBody>
      </p:sp>
      <p:sp>
        <p:nvSpPr>
          <p:cNvPr id="7" name="Text 3"/>
          <p:cNvSpPr txBox="1"/>
          <p:nvPr/>
        </p:nvSpPr>
        <p:spPr>
          <a:xfrm>
            <a:off x="539496" y="1184148"/>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the beat came from every category</a:t>
            </a:r>
            <a:endParaRPr lang="en-US" sz="1100" dirty="0"/>
          </a:p>
        </p:txBody>
      </p:sp>
      <p:sp>
        <p:nvSpPr>
          <p:cNvPr id="8" name="Text 4"/>
          <p:cNvSpPr txBox="1"/>
          <p:nvPr/>
        </p:nvSpPr>
        <p:spPr>
          <a:xfrm>
            <a:off x="539496" y="1431036"/>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Injectable aesthetics, the largest category, delivered USD 736m (+15.4% at constant currency). Neuromodulators reached USD 433m (+24.1%) as unfavourable US shipment phasing from Q2 unwound on top of continued Dysport share gains and the international Relfydess launch; part of the 24.1% is therefore timing, not demand. Fillers and biostimulators grew 4.8% to USD 303m against a soft market and the prior-year Sculptra launch in China, but nine-month growth of 8.5% and double-digit Sculptra growth in the US and abroad point to continued share gains. Dermatological skincare added USD 396m (+15.6%), led by Cetaphil in Asia and by Alastin, with e-commerce the fastest-growing channel.</a:t>
            </a:r>
            <a:endParaRPr lang="en-US" sz="870" dirty="0"/>
          </a:p>
        </p:txBody>
      </p:sp>
      <p:sp>
        <p:nvSpPr>
          <p:cNvPr id="9" name="Text 5"/>
          <p:cNvSpPr txBox="1"/>
          <p:nvPr/>
        </p:nvSpPr>
        <p:spPr>
          <a:xfrm>
            <a:off x="539496" y="2470252"/>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Therapeutic dermatology was the standout at USD 499m (+58.9%), about 8% above consensus. Nemluvio contributed USD 302m, some 7% ahead of expectations, taking nine-month sales to USD 735m and the USD 1bn full-year mark within reach. The mature portfolio, at USD 197m, benefited from generic entries arriving later than expected, a support the company expects to turn into negative growth pressure in the second half. The United States grew 39.3% to USD 755m, flattered by neuromodulator phasing, and international markets 17.1% to USD 876m. Volume led growth, helped by mix.</a:t>
            </a:r>
            <a:endParaRPr lang="en-US" sz="870" dirty="0"/>
          </a:p>
        </p:txBody>
      </p:sp>
      <p:sp>
        <p:nvSpPr>
          <p:cNvPr id="10" name="Text 6"/>
          <p:cNvSpPr txBox="1"/>
          <p:nvPr/>
        </p:nvSpPr>
        <p:spPr>
          <a:xfrm>
            <a:off x="539496" y="338914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the new guide still looks prudent</a:t>
            </a:r>
            <a:endParaRPr lang="en-US" sz="1100" dirty="0"/>
          </a:p>
        </p:txBody>
      </p:sp>
      <p:sp>
        <p:nvSpPr>
          <p:cNvPr id="11" name="Text 7"/>
          <p:cNvSpPr txBox="1"/>
          <p:nvPr/>
        </p:nvSpPr>
        <p:spPr>
          <a:xfrm>
            <a:off x="539496" y="3636035"/>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full-year guide of 22.5 to 23.5% at constant currency compares with nine-month growth of 25.1%. By our arithmetic it implies Q4 growth of roughly 16 to 19%, well below the 26% of Q3, absorbing generic erosion, the fillers comparison and some consumer caution: we read it as prudent. The core EBITDA margin of about 26% compares with 25.6% in the first half. Post-release analyst estimates put 2026 sales near USD 6.5bn and core EBITDA near USD 1.69bn, about 1.5% above prior consensus. The new US Section 232 tariffs do not touch Nemluvio in 2026. ZO Skin Health (USD 1.5bn) is excluded: earnings-neutral in year one, slightly margin-dilutive in 2027.</a:t>
            </a:r>
            <a:endParaRPr lang="en-US" sz="870" dirty="0"/>
          </a:p>
        </p:txBody>
      </p:sp>
      <p:sp>
        <p:nvSpPr>
          <p:cNvPr id="12" name="Text 8"/>
          <p:cNvSpPr txBox="1"/>
          <p:nvPr/>
        </p:nvSpPr>
        <p:spPr>
          <a:xfrm>
            <a:off x="539496" y="471182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earnings must do the work</a:t>
            </a:r>
            <a:endParaRPr lang="en-US" sz="1100" dirty="0"/>
          </a:p>
        </p:txBody>
      </p:sp>
      <p:sp>
        <p:nvSpPr>
          <p:cNvPr id="13" name="Text 9"/>
          <p:cNvSpPr txBox="1"/>
          <p:nvPr/>
        </p:nvSpPr>
        <p:spPr>
          <a:xfrm>
            <a:off x="539496" y="4958715"/>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2</a:t>
            </a:r>
            <a:pPr indent="0" marL="0">
              <a:buNone/>
            </a:pPr>
            <a:r>
              <a:rPr lang="en-US" sz="950" b="1" dirty="0">
                <a:solidFill>
                  <a:srgbClr val="202945"/>
                </a:solidFill>
                <a:latin typeface="Nunito" pitchFamily="34" charset="0"/>
                <a:ea typeface="Nunito" pitchFamily="34" charset="-122"/>
                <a:cs typeface="Nunito" pitchFamily="34" charset="-120"/>
              </a:rPr>
              <a:t> · GALD: share price vs. consensus earnings and valuation</a:t>
            </a:r>
            <a:endParaRPr lang="en-US" sz="950" dirty="0"/>
          </a:p>
        </p:txBody>
      </p:sp>
      <p:sp>
        <p:nvSpPr>
          <p:cNvPr id="14" name="Text 10"/>
          <p:cNvSpPr txBox="1"/>
          <p:nvPr/>
        </p:nvSpPr>
        <p:spPr>
          <a:xfrm>
            <a:off x="539496" y="5141595"/>
            <a:ext cx="6483096" cy="118872"/>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GALD SW Equity, daily · consensus current-year EPS (USD), rolls each January · 200-day MA · log scale · last price: 21 October close +6%</a:t>
            </a:r>
            <a:endParaRPr lang="en-US" sz="720" dirty="0"/>
          </a:p>
        </p:txBody>
      </p:sp>
      <p:pic>
        <p:nvPicPr>
          <p:cNvPr id="15" name="Image 2" descr="/home/claude/galderma/c2_crop.png">    </p:cNvPr>
          <p:cNvPicPr>
            <a:picLocks noChangeAspect="1"/>
          </p:cNvPicPr>
          <p:nvPr/>
        </p:nvPicPr>
        <p:blipFill>
          <a:blip r:embed="rId3"/>
          <a:stretch>
            <a:fillRect/>
          </a:stretch>
        </p:blipFill>
        <p:spPr>
          <a:xfrm>
            <a:off x="863651" y="5306187"/>
            <a:ext cx="5834786" cy="3491536"/>
          </a:xfrm>
          <a:prstGeom prst="rect">
            <a:avLst/>
          </a:prstGeom>
        </p:spPr>
      </p:pic>
      <p:sp>
        <p:nvSpPr>
          <p:cNvPr id="16" name="Text 11"/>
          <p:cNvSpPr txBox="1"/>
          <p:nvPr/>
        </p:nvSpPr>
        <p:spPr>
          <a:xfrm>
            <a:off x="539496" y="8852587"/>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shares trade at 46.7x consensus 2026 earnings, 3% below the 48.2x average since May 2024 and close to the 44.0x average of 2026; the long-run figure is inflated by late-2025 readings on an ageing 2025 base. Consensus 2026 earnings per share has risen 6.4% since January and 4.3% since the H1 results, while the price was flat between the releases until today’s 6% gain: the stock de-rated from 46.4x to 44.0x before the print. The price sits 14% above its 200-day average. At about 33x 2027 analyst estimates, upgrades, not the multiple, drive the next leg.</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Sales update · 22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881624"/>
            <a:ext cx="6483096" cy="182880"/>
          </a:xfrm>
          <a:prstGeom prst="rect">
            <a:avLst/>
          </a:prstGeom>
          <a:noFill/>
          <a:ln/>
        </p:spPr>
        <p:txBody>
          <a:bodyPr wrap="square" lIns="0" tIns="0" rIns="0" bIns="0" rtlCol="0" anchor="t"/>
          <a:lstStyle/>
          <a:p>
            <a:pPr indent="0" marL="0">
              <a:buNone/>
            </a:pPr>
            <a:r>
              <a:rPr lang="en-US" sz="680" b="1" dirty="0">
                <a:solidFill>
                  <a:srgbClr val="FF6C0E"/>
                </a:solidFill>
                <a:latin typeface="Nunito" pitchFamily="34" charset="0"/>
                <a:ea typeface="Nunito" pitchFamily="34" charset="-122"/>
                <a:cs typeface="Nunito" pitchFamily="34" charset="-120"/>
              </a:rPr>
              <a:t>SYZ</a:t>
            </a:r>
            <a:pPr indent="0" marL="0">
              <a:buNone/>
            </a:pPr>
            <a:r>
              <a:rPr lang="en-US" sz="680" b="1" dirty="0">
                <a:solidFill>
                  <a:srgbClr val="9AA0A8"/>
                </a:solidFill>
                <a:latin typeface="Nunito" pitchFamily="34" charset="0"/>
                <a:ea typeface="Nunito" pitchFamily="34" charset="-122"/>
                <a:cs typeface="Nunito" pitchFamily="34" charset="-120"/>
              </a:rPr>
              <a:t> Source: Syz Research, Bloomberg, company filings, Galderma Q3 2026 trading update of 22 October 2026, analyst research notes of October 2026</a:t>
            </a:r>
            <a:endParaRPr lang="en-US" sz="680" dirty="0"/>
          </a:p>
        </p:txBody>
      </p:sp>
      <p:sp>
        <p:nvSpPr>
          <p:cNvPr id="7" name="Text 3"/>
          <p:cNvSpPr txBox="1"/>
          <p:nvPr/>
        </p:nvSpPr>
        <p:spPr>
          <a:xfrm>
            <a:off x="539496" y="6210808"/>
            <a:ext cx="6483096" cy="182880"/>
          </a:xfrm>
          <a:prstGeom prst="rect">
            <a:avLst/>
          </a:prstGeom>
          <a:noFill/>
          <a:ln/>
        </p:spPr>
        <p:txBody>
          <a:bodyPr wrap="square" lIns="0" tIns="0" rIns="0" bIns="0" rtlCol="0" anchor="t"/>
          <a:lstStyle/>
          <a:p>
            <a:pPr indent="0" marL="0">
              <a:buNone/>
            </a:pPr>
            <a:r>
              <a:rPr lang="en-US" sz="680" b="1" spc="120" kern="0" dirty="0">
                <a:solidFill>
                  <a:srgbClr val="FF6C0E"/>
                </a:solidFill>
                <a:latin typeface="Nunito" pitchFamily="34" charset="0"/>
                <a:ea typeface="Nunito" pitchFamily="34" charset="-122"/>
                <a:cs typeface="Nunito" pitchFamily="34" charset="-120"/>
              </a:rPr>
              <a:t>Disclaimer</a:t>
            </a:r>
            <a:endParaRPr lang="en-US" sz="680" dirty="0"/>
          </a:p>
        </p:txBody>
      </p:sp>
      <p:sp>
        <p:nvSpPr>
          <p:cNvPr id="8" name="Text 4"/>
          <p:cNvSpPr txBox="1"/>
          <p:nvPr/>
        </p:nvSpPr>
        <p:spPr>
          <a:xfrm>
            <a:off x="539496" y="6393688"/>
            <a:ext cx="6483096" cy="538480"/>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680" dirty="0"/>
          </a:p>
        </p:txBody>
      </p:sp>
      <p:sp>
        <p:nvSpPr>
          <p:cNvPr id="9" name="Text 5"/>
          <p:cNvSpPr txBox="1"/>
          <p:nvPr/>
        </p:nvSpPr>
        <p:spPr>
          <a:xfrm>
            <a:off x="539496" y="6932168"/>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680" dirty="0"/>
          </a:p>
        </p:txBody>
      </p:sp>
      <p:sp>
        <p:nvSpPr>
          <p:cNvPr id="10" name="Text 6"/>
          <p:cNvSpPr txBox="1"/>
          <p:nvPr/>
        </p:nvSpPr>
        <p:spPr>
          <a:xfrm>
            <a:off x="539496" y="734974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680" dirty="0"/>
          </a:p>
        </p:txBody>
      </p:sp>
      <p:sp>
        <p:nvSpPr>
          <p:cNvPr id="11" name="Text 7"/>
          <p:cNvSpPr txBox="1"/>
          <p:nvPr/>
        </p:nvSpPr>
        <p:spPr>
          <a:xfrm>
            <a:off x="539496" y="7767320"/>
            <a:ext cx="6483096" cy="780288"/>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680" dirty="0"/>
          </a:p>
        </p:txBody>
      </p:sp>
      <p:sp>
        <p:nvSpPr>
          <p:cNvPr id="12" name="Text 8"/>
          <p:cNvSpPr txBox="1"/>
          <p:nvPr/>
        </p:nvSpPr>
        <p:spPr>
          <a:xfrm>
            <a:off x="539496" y="8547608"/>
            <a:ext cx="6483096" cy="296672"/>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680" dirty="0"/>
          </a:p>
        </p:txBody>
      </p:sp>
      <p:sp>
        <p:nvSpPr>
          <p:cNvPr id="13" name="Text 9"/>
          <p:cNvSpPr txBox="1"/>
          <p:nvPr/>
        </p:nvSpPr>
        <p:spPr>
          <a:xfrm>
            <a:off x="539496" y="8844280"/>
            <a:ext cx="6483096" cy="659384"/>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680" dirty="0"/>
          </a:p>
        </p:txBody>
      </p:sp>
      <p:sp>
        <p:nvSpPr>
          <p:cNvPr id="14" name="Text 10"/>
          <p:cNvSpPr txBox="1"/>
          <p:nvPr/>
        </p:nvSpPr>
        <p:spPr>
          <a:xfrm>
            <a:off x="539496" y="950366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Galderma Q3 2026: a beat, a raise and a rally</dc:title>
  <dc:subject>PptxGenJS Presentation</dc:subject>
  <dc:creator>Syz Research</dc:creator>
  <cp:lastModifiedBy>Syz Research</cp:lastModifiedBy>
  <cp:revision>1</cp:revision>
  <dcterms:created xsi:type="dcterms:W3CDTF">2026-10-22T10:12:17Z</dcterms:created>
  <dcterms:modified xsi:type="dcterms:W3CDTF">2026-10-22T10:12:17Z</dcterms:modified>
</cp:coreProperties>
</file>