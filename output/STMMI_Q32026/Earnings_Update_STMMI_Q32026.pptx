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STMicroelectronics Q3 2026: orders surge, margins follow</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29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“To conclude, we continue to see a very strong demand for our AI datacenters and Low Earth Orbit satellite communications products and technologies, alongside an ongoing cyclical recovery in Automotive and Industrial.”</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Jean-Marc Chery, President and CEO, Q3 2026 earnings call, 29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STMicroelectronics makes microcontrollers, analog, power, sensor and optical chips. Automotive is about 35% of revenue, industrial about 23%; 2026 revenue about USD 14.5bn. Listed in Paris, Milan and New York.</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Mixed</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beat consensus by 0.7% and gross margin by 30bp; adjusted EPS of USD 0.37 missed by 10%.</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Orders</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Book-to-bill well above 2 lifts the backlog above USD 20bn, about five quarters of revenue.</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Reaction</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1.9% higher intraday on 29 October, after opening 1.3% lower before the call.</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19.9x forward earnings, close to the 19.2x average since 2014 and half the June peak.</a:t>
            </a:r>
            <a:endParaRPr lang="en-US" sz="870" dirty="0"/>
          </a:p>
        </p:txBody>
      </p:sp>
      <p:sp>
        <p:nvSpPr>
          <p:cNvPr id="22" name="Shape 18"/>
          <p:cNvSpPr/>
          <p:nvPr/>
        </p:nvSpPr>
        <p:spPr>
          <a:xfrm>
            <a:off x="539496" y="3839388"/>
            <a:ext cx="6483096" cy="640080"/>
          </a:xfrm>
          <a:prstGeom prst="roundRect">
            <a:avLst>
              <a:gd name="adj" fmla="val 14286"/>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3.76bn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+0.7%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37.3%</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+30bp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 EPS</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0.37</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-9.8% vs.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Q4 gross margin guide</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39.0%</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+90bp vs. consensus</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order book outweighs the EPS miss</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beat consensus by 0.7% and gross margin by 30bp, but adjusted EPS missed by 10%; the shares opened 1.3% lower on 29 October, then traded 1.9% higher after the call. The call carried the day: book-to-bill well above 2, a Q4 margin guide 90bp above consensus and a Q1 held at consensus despite fewer days. The recovery now has visibility.</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STMMI: Q3 2026 results and Q4 guide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Reported vs. pre-results consensus, % · Q4 guide at the midpoint · 2026 revenue implied by the Q4 guide · adj.: non-GAAP</a:t>
            </a:r>
            <a:endParaRPr lang="en-US" sz="700" dirty="0"/>
          </a:p>
        </p:txBody>
      </p:sp>
      <p:pic>
        <p:nvPicPr>
          <p:cNvPr id="42" name="Image 2" descr="/home/claude/stm/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operating income beat by 7%, so the EPS miss sits below the operating line; neither the release nor the call explained it. Every forward line is above consensus: the Q4 revenue guide by 0.7% and the 2026 revenue it implies, about USD 14.5bn, by 0.6%, with the second half about 20% above the first.</a:t>
            </a:r>
            <a:endParaRPr lang="en-US" sz="870" dirty="0"/>
          </a:p>
        </p:txBody>
      </p:sp>
      <p:sp>
        <p:nvSpPr>
          <p:cNvPr id="44" name="Text 39"/>
          <p:cNvSpPr txBox="1"/>
          <p:nvPr/>
        </p:nvSpPr>
        <p:spPr>
          <a:xfrm>
            <a:off x="658368" y="7789469"/>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658368" y="8036357"/>
            <a:ext cx="6245352"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are constructive on STMicroelectronics. We underwrite a recovery led by AI datacenters, about USD 1.3bn of revenue this year and more than double in 2027, satellites and industrial, with gross margin rising from 39% toward the 44% to 46% model once four legacy fabs close in late 2027 or early 2028. Forward EPS of USD 2.48 is still 43% below the 2023 peak. At 19.9x, upgrades do the work. Next test: the January update with 2027 datacenter targets.</a:t>
            </a:r>
            <a:endParaRPr lang="en-US" sz="870" dirty="0"/>
          </a:p>
        </p:txBody>
      </p:sp>
      <p:sp>
        <p:nvSpPr>
          <p:cNvPr id="46" name="Shape 41"/>
          <p:cNvSpPr/>
          <p:nvPr/>
        </p:nvSpPr>
        <p:spPr>
          <a:xfrm>
            <a:off x="658368" y="8761781"/>
            <a:ext cx="6245352" cy="0"/>
          </a:xfrm>
          <a:prstGeom prst="line">
            <a:avLst/>
          </a:prstGeom>
          <a:noFill/>
          <a:ln w="7620">
            <a:solidFill>
              <a:srgbClr val="D6D9DE"/>
            </a:solidFill>
            <a:prstDash val="solid"/>
          </a:ln>
        </p:spPr>
      </p:sp>
      <p:sp>
        <p:nvSpPr>
          <p:cNvPr id="47" name="Shape 42"/>
          <p:cNvSpPr/>
          <p:nvPr/>
        </p:nvSpPr>
        <p:spPr>
          <a:xfrm>
            <a:off x="3781044" y="8871509"/>
            <a:ext cx="0" cy="828751"/>
          </a:xfrm>
          <a:prstGeom prst="line">
            <a:avLst/>
          </a:prstGeom>
          <a:noFill/>
          <a:ln w="7620">
            <a:solidFill>
              <a:srgbClr val="D6D9DE"/>
            </a:solidFill>
            <a:prstDash val="solid"/>
          </a:ln>
        </p:spPr>
      </p:sp>
      <p:sp>
        <p:nvSpPr>
          <p:cNvPr id="48" name="Text 43"/>
          <p:cNvSpPr txBox="1"/>
          <p:nvPr/>
        </p:nvSpPr>
        <p:spPr>
          <a:xfrm>
            <a:off x="658368" y="8871509"/>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9" name="Text 44"/>
          <p:cNvSpPr txBox="1"/>
          <p:nvPr/>
        </p:nvSpPr>
        <p:spPr>
          <a:xfrm>
            <a:off x="658368" y="9063533"/>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gross margin at or above 39% and a Q1 revenue guide at or above consensus despite 86 days; a 2027 datacenter target above USD 2.6bn in January; the four legacy fab closures confirmed on schedule.</a:t>
            </a:r>
            <a:endParaRPr lang="en-US" sz="870" dirty="0"/>
          </a:p>
        </p:txBody>
      </p:sp>
      <p:sp>
        <p:nvSpPr>
          <p:cNvPr id="50" name="Text 45"/>
          <p:cNvSpPr txBox="1"/>
          <p:nvPr/>
        </p:nvSpPr>
        <p:spPr>
          <a:xfrm>
            <a:off x="3963924" y="8871509"/>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1" name="Text 46"/>
          <p:cNvSpPr txBox="1"/>
          <p:nvPr/>
        </p:nvSpPr>
        <p:spPr>
          <a:xfrm>
            <a:off x="3963924" y="9063533"/>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Book-to-bill falling back toward 1 as lead times ease; Q4 gross margin below 38%; fab closures slipping beyond early 2028, or price cuts in the 2027 contract negotiations with European automotive Tier 1 suppliers.</a:t>
            </a:r>
            <a:endParaRPr lang="en-US" sz="870" dirty="0"/>
          </a:p>
        </p:txBody>
      </p:sp>
      <p:sp>
        <p:nvSpPr>
          <p:cNvPr id="52" name="Shape 47"/>
          <p:cNvSpPr/>
          <p:nvPr/>
        </p:nvSpPr>
        <p:spPr>
          <a:xfrm>
            <a:off x="539496" y="7725461"/>
            <a:ext cx="6483096" cy="2038807"/>
          </a:xfrm>
          <a:prstGeom prst="roundRect">
            <a:avLst>
              <a:gd name="adj" fmla="val 4485"/>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AI and industrial did the work</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rose 17.9% to USD 3.76bn, 1.5% above the guide midpoint. Communication equipment and computer peripherals grew 64% on AI datacenter and low Earth orbit satellite chips, and industrial 40% on general-purpose microcontrollers, analog and power; automotive grew only 5% and personal electronics fell 4%. By segment, RF and optical communication rose 46% at a 26.2% operating margin and embedded processing 24% at 23.1%, while power and discrete ran at a loss of 17.1% of sales. Gross margin of 37.3% rose 410bp on lower unused-capacity charges and mix, still carrying about 100bp of transition costs. Free cash flow was USD 351m.</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reaction diverged from the EPS miss: the shares opened 1.3% lower on 29 October and were 1.9% higher intraday after the call. Confirmed drivers: adjusted operating income of USD 429m beat the estimate by 7%; book-to-bill was well above 2, and above 3 in communications and industrial; and management said it was comfortable delivering Q1 revenue and gross margin at least at consensus despite an 86-day quarter. We think positioning did the rest: the shares had fallen 42% from the June peak to EUR 39.45 a week earlier, taking the multiple to 18.1x.</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Q4 at 39%, Q1 held at consensus</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ST guides Q4 revenue of USD 4.15bn, up 10.5% sequentially and 24.7% on the year, 0.7% above consensus, and gross margin of 39.0%, 90bp above, still including about 40bp of unused-capacity charges and 30bp of reshaping costs. That implies 2026 revenue of about USD 14.5bn, up 22.8%. Datacenter revenue should reach about USD 1.3bn this year and more than double in 2027; satellite revenue should be at least as large next year, limited by capacity rather than demand. The 400bp structural margin gain from closing four legacy fabs lands as a step in late 2027 or early 2028. Opex rises in 2027, more slowly than sales.</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June premium is gone</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STMMI: share price vs. consensus earnings and valuation</a:t>
            </a:r>
            <a:endParaRPr lang="en-US" sz="870" dirty="0"/>
          </a:p>
        </p:txBody>
      </p:sp>
      <p:sp>
        <p:nvSpPr>
          <p:cNvPr id="14" name="Text 10"/>
          <p:cNvSpPr txBox="1"/>
          <p:nvPr/>
        </p:nvSpPr>
        <p:spPr>
          <a:xfrm>
            <a:off x="539496" y="5187315"/>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STMMI IM Equity, weekly, January 2014 to October 2026 (window starts after the 2009 loss and the 2012 to 2013 earnings trough) · BEst 12m-forward EPS in USD, price in EUR · 40-week simple MA · log scale · last price EUR 44.21 is a 29 October intraday level, after the release</a:t>
            </a:r>
            <a:endParaRPr lang="en-US" sz="700" dirty="0"/>
          </a:p>
        </p:txBody>
      </p:sp>
      <p:pic>
        <p:nvPicPr>
          <p:cNvPr id="15" name="Image 2" descr="/home/claude/stm/c2_crop.png">    </p:cNvPr>
          <p:cNvPicPr>
            <a:picLocks noChangeAspect="1"/>
          </p:cNvPicPr>
          <p:nvPr/>
        </p:nvPicPr>
        <p:blipFill>
          <a:blip r:embed="rId3"/>
          <a:stretch>
            <a:fillRect/>
          </a:stretch>
        </p:blipFill>
        <p:spPr>
          <a:xfrm>
            <a:off x="928482" y="5464175"/>
            <a:ext cx="5705124" cy="3413946"/>
          </a:xfrm>
          <a:prstGeom prst="rect">
            <a:avLst/>
          </a:prstGeom>
        </p:spPr>
      </p:pic>
      <p:sp>
        <p:nvSpPr>
          <p:cNvPr id="16" name="Text 11"/>
          <p:cNvSpPr txBox="1"/>
          <p:nvPr/>
        </p:nvSpPr>
        <p:spPr>
          <a:xfrm>
            <a:off x="539496" y="893298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multiple has round-tripped: the forward P/E peaked at 42.2x in June 2026, when the shares reached EUR 68.0, and is back to 19.9x, 4% above its 19.2x average since 2014 and well below the one-year average of 27.3x. Over 12 months consensus EPS rose 141% to USD 2.48 and the price 107%, so earnings now lead. Since the July results the price fell 6% while EPS rose 19%. The shares sit on their 40-week average of EUR 44.2. A 10% EPS upgrade at an unchanged price would take the multiple to 18.1x.</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STMicroelectronics Q3 2026 earnings release and call of 29 October 2026, analyst research notes of 27 and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STMicroelectronics Q3 2026: orders surge, margins follow</dc:title>
  <dc:subject>PptxGenJS Presentation</dc:subject>
  <dc:creator>Syz Research</dc:creator>
  <cp:lastModifiedBy>Syz Research</cp:lastModifiedBy>
  <cp:revision>1</cp:revision>
  <dcterms:created xsi:type="dcterms:W3CDTF">2026-10-29T17:16:07Z</dcterms:created>
  <dcterms:modified xsi:type="dcterms:W3CDTF">2026-10-29T17:16:07Z</dcterms:modified>
</cp:coreProperties>
</file>