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Industrials</a:t>
            </a:r>
            <a:endParaRPr lang="en-US" sz="800" dirty="0"/>
          </a:p>
        </p:txBody>
      </p:sp>
      <p:sp>
        <p:nvSpPr>
          <p:cNvPr id="7" name="Text 3"/>
          <p:cNvSpPr txBox="1"/>
          <p:nvPr/>
        </p:nvSpPr>
        <p:spPr>
          <a:xfrm>
            <a:off x="539496" y="1028700"/>
            <a:ext cx="6483096" cy="526796"/>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ABB Q3 2026: record orders, but the premium needs broader growth</a:t>
            </a:r>
            <a:endParaRPr lang="en-US" sz="1700" dirty="0"/>
          </a:p>
        </p:txBody>
      </p:sp>
      <p:sp>
        <p:nvSpPr>
          <p:cNvPr id="8" name="Text 4"/>
          <p:cNvSpPr txBox="1"/>
          <p:nvPr/>
        </p:nvSpPr>
        <p:spPr>
          <a:xfrm>
            <a:off x="539496" y="1592072"/>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20 October 2026 · Syz Research</a:t>
            </a:r>
            <a:endParaRPr lang="en-US" sz="850" dirty="0"/>
          </a:p>
        </p:txBody>
      </p:sp>
      <p:sp>
        <p:nvSpPr>
          <p:cNvPr id="9" name="Text 5"/>
          <p:cNvSpPr txBox="1"/>
          <p:nvPr/>
        </p:nvSpPr>
        <p:spPr>
          <a:xfrm>
            <a:off x="539496" y="187553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0" name="Text 6"/>
          <p:cNvSpPr txBox="1"/>
          <p:nvPr/>
        </p:nvSpPr>
        <p:spPr>
          <a:xfrm>
            <a:off x="539496" y="2136140"/>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1" name="Text 7"/>
          <p:cNvSpPr txBox="1"/>
          <p:nvPr/>
        </p:nvSpPr>
        <p:spPr>
          <a:xfrm>
            <a:off x="1133856" y="211328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rose 40% to a record USD 12.1bn, 8% above consensus, led by data centres.</a:t>
            </a:r>
            <a:endParaRPr lang="en-US" sz="870" dirty="0"/>
          </a:p>
        </p:txBody>
      </p:sp>
      <p:sp>
        <p:nvSpPr>
          <p:cNvPr id="12" name="Text 8"/>
          <p:cNvSpPr txBox="1"/>
          <p:nvPr/>
        </p:nvSpPr>
        <p:spPr>
          <a:xfrm>
            <a:off x="539496" y="2338756"/>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Miss</a:t>
            </a:r>
            <a:endParaRPr lang="en-US" sz="700" dirty="0"/>
          </a:p>
        </p:txBody>
      </p:sp>
      <p:sp>
        <p:nvSpPr>
          <p:cNvPr id="13" name="Text 9"/>
          <p:cNvSpPr txBox="1"/>
          <p:nvPr/>
        </p:nvSpPr>
        <p:spPr>
          <a:xfrm>
            <a:off x="1133856" y="2315896"/>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Basic EPS of USD 0.65 missed consensus by about 17%, partly on a USD 115m non-cash hedge charge.</a:t>
            </a:r>
            <a:endParaRPr lang="en-US" sz="870" dirty="0"/>
          </a:p>
        </p:txBody>
      </p:sp>
      <p:sp>
        <p:nvSpPr>
          <p:cNvPr id="14" name="Text 10"/>
          <p:cNvSpPr txBox="1"/>
          <p:nvPr/>
        </p:nvSpPr>
        <p:spPr>
          <a:xfrm>
            <a:off x="539496" y="2541372"/>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5" name="Text 11"/>
          <p:cNvSpPr txBox="1"/>
          <p:nvPr/>
        </p:nvSpPr>
        <p:spPr>
          <a:xfrm>
            <a:off x="1133856" y="251851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Growth is narrow: Automation orders were flat at USD 2.1bn, 9% below consensus.</a:t>
            </a:r>
            <a:endParaRPr lang="en-US" sz="870" dirty="0"/>
          </a:p>
        </p:txBody>
      </p:sp>
      <p:sp>
        <p:nvSpPr>
          <p:cNvPr id="16" name="Text 12"/>
          <p:cNvSpPr txBox="1"/>
          <p:nvPr/>
        </p:nvSpPr>
        <p:spPr>
          <a:xfrm>
            <a:off x="539496" y="2743987"/>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17" name="Text 13"/>
          <p:cNvSpPr txBox="1"/>
          <p:nvPr/>
        </p:nvSpPr>
        <p:spPr>
          <a:xfrm>
            <a:off x="1133856" y="272112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At 25.6x consensus earnings, 36% above the 2006 to 2026 average, the shares need upgrades.</a:t>
            </a:r>
            <a:endParaRPr lang="en-US" sz="870" dirty="0"/>
          </a:p>
        </p:txBody>
      </p:sp>
      <p:sp>
        <p:nvSpPr>
          <p:cNvPr id="18" name="Shape 14"/>
          <p:cNvSpPr/>
          <p:nvPr/>
        </p:nvSpPr>
        <p:spPr>
          <a:xfrm>
            <a:off x="539496" y="3006039"/>
            <a:ext cx="6483096" cy="676656"/>
          </a:xfrm>
          <a:prstGeom prst="rect">
            <a:avLst/>
          </a:prstGeom>
          <a:solidFill>
            <a:srgbClr val="FFFFFF"/>
          </a:solidFill>
          <a:ln w="16510">
            <a:solidFill>
              <a:srgbClr val="202945"/>
            </a:solidFill>
            <a:prstDash val="solid"/>
          </a:ln>
        </p:spPr>
      </p:sp>
      <p:sp>
        <p:nvSpPr>
          <p:cNvPr id="19" name="Text 15"/>
          <p:cNvSpPr txBox="1"/>
          <p:nvPr/>
        </p:nvSpPr>
        <p:spPr>
          <a:xfrm>
            <a:off x="649224"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Orders</a:t>
            </a:r>
            <a:endParaRPr lang="en-US" sz="720" dirty="0"/>
          </a:p>
        </p:txBody>
      </p:sp>
      <p:sp>
        <p:nvSpPr>
          <p:cNvPr id="20" name="Text 16"/>
          <p:cNvSpPr txBox="1"/>
          <p:nvPr/>
        </p:nvSpPr>
        <p:spPr>
          <a:xfrm>
            <a:off x="649224"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12.1bn</a:t>
            </a:r>
            <a:endParaRPr lang="en-US" sz="1300" dirty="0"/>
          </a:p>
        </p:txBody>
      </p:sp>
      <p:sp>
        <p:nvSpPr>
          <p:cNvPr id="21" name="Text 17"/>
          <p:cNvSpPr txBox="1"/>
          <p:nvPr/>
        </p:nvSpPr>
        <p:spPr>
          <a:xfrm>
            <a:off x="649224"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+8% vs. consensus</a:t>
            </a:r>
            <a:endParaRPr lang="en-US" sz="720" dirty="0"/>
          </a:p>
        </p:txBody>
      </p:sp>
      <p:sp>
        <p:nvSpPr>
          <p:cNvPr id="22" name="Shape 18"/>
          <p:cNvSpPr/>
          <p:nvPr/>
        </p:nvSpPr>
        <p:spPr>
          <a:xfrm>
            <a:off x="2160270" y="3006039"/>
            <a:ext cx="0" cy="676656"/>
          </a:xfrm>
          <a:prstGeom prst="line">
            <a:avLst/>
          </a:prstGeom>
          <a:noFill/>
          <a:ln w="7620">
            <a:solidFill>
              <a:srgbClr val="D6D9DE"/>
            </a:solidFill>
            <a:prstDash val="solid"/>
          </a:ln>
        </p:spPr>
      </p:sp>
      <p:sp>
        <p:nvSpPr>
          <p:cNvPr id="23" name="Text 19"/>
          <p:cNvSpPr txBox="1"/>
          <p:nvPr/>
        </p:nvSpPr>
        <p:spPr>
          <a:xfrm>
            <a:off x="2269998"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Operational EBITA</a:t>
            </a:r>
            <a:endParaRPr lang="en-US" sz="720" dirty="0"/>
          </a:p>
        </p:txBody>
      </p:sp>
      <p:sp>
        <p:nvSpPr>
          <p:cNvPr id="24" name="Text 20"/>
          <p:cNvSpPr txBox="1"/>
          <p:nvPr/>
        </p:nvSpPr>
        <p:spPr>
          <a:xfrm>
            <a:off x="2269998"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2.0bn</a:t>
            </a:r>
            <a:endParaRPr lang="en-US" sz="1300" dirty="0"/>
          </a:p>
        </p:txBody>
      </p:sp>
      <p:sp>
        <p:nvSpPr>
          <p:cNvPr id="25" name="Text 21"/>
          <p:cNvSpPr txBox="1"/>
          <p:nvPr/>
        </p:nvSpPr>
        <p:spPr>
          <a:xfrm>
            <a:off x="2269998"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 vs. consensus</a:t>
            </a:r>
            <a:endParaRPr lang="en-US" sz="720" dirty="0"/>
          </a:p>
        </p:txBody>
      </p:sp>
      <p:sp>
        <p:nvSpPr>
          <p:cNvPr id="26" name="Shape 22"/>
          <p:cNvSpPr/>
          <p:nvPr/>
        </p:nvSpPr>
        <p:spPr>
          <a:xfrm>
            <a:off x="3781044" y="3006039"/>
            <a:ext cx="0" cy="676656"/>
          </a:xfrm>
          <a:prstGeom prst="line">
            <a:avLst/>
          </a:prstGeom>
          <a:noFill/>
          <a:ln w="7620">
            <a:solidFill>
              <a:srgbClr val="D6D9DE"/>
            </a:solidFill>
            <a:prstDash val="solid"/>
          </a:ln>
        </p:spPr>
      </p:sp>
      <p:sp>
        <p:nvSpPr>
          <p:cNvPr id="27" name="Text 23"/>
          <p:cNvSpPr txBox="1"/>
          <p:nvPr/>
        </p:nvSpPr>
        <p:spPr>
          <a:xfrm>
            <a:off x="3890772"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Basic EPS</a:t>
            </a:r>
            <a:endParaRPr lang="en-US" sz="720" dirty="0"/>
          </a:p>
        </p:txBody>
      </p:sp>
      <p:sp>
        <p:nvSpPr>
          <p:cNvPr id="28" name="Text 24"/>
          <p:cNvSpPr txBox="1"/>
          <p:nvPr/>
        </p:nvSpPr>
        <p:spPr>
          <a:xfrm>
            <a:off x="3890772"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0.65</a:t>
            </a:r>
            <a:endParaRPr lang="en-US" sz="1300" dirty="0"/>
          </a:p>
        </p:txBody>
      </p:sp>
      <p:sp>
        <p:nvSpPr>
          <p:cNvPr id="29" name="Text 25"/>
          <p:cNvSpPr txBox="1"/>
          <p:nvPr/>
        </p:nvSpPr>
        <p:spPr>
          <a:xfrm>
            <a:off x="3890772" y="3472383"/>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-17% vs. consensus</a:t>
            </a:r>
            <a:endParaRPr lang="en-US" sz="720" dirty="0"/>
          </a:p>
        </p:txBody>
      </p:sp>
      <p:sp>
        <p:nvSpPr>
          <p:cNvPr id="30" name="Shape 26"/>
          <p:cNvSpPr/>
          <p:nvPr/>
        </p:nvSpPr>
        <p:spPr>
          <a:xfrm>
            <a:off x="5401818" y="3006039"/>
            <a:ext cx="0" cy="676656"/>
          </a:xfrm>
          <a:prstGeom prst="line">
            <a:avLst/>
          </a:prstGeom>
          <a:noFill/>
          <a:ln w="7620">
            <a:solidFill>
              <a:srgbClr val="D6D9DE"/>
            </a:solidFill>
            <a:prstDash val="solid"/>
          </a:ln>
        </p:spPr>
      </p:sp>
      <p:sp>
        <p:nvSpPr>
          <p:cNvPr id="31" name="Text 27"/>
          <p:cNvSpPr txBox="1"/>
          <p:nvPr/>
        </p:nvSpPr>
        <p:spPr>
          <a:xfrm>
            <a:off x="5511546" y="3088335"/>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Free cash flow</a:t>
            </a:r>
            <a:endParaRPr lang="en-US" sz="720" dirty="0"/>
          </a:p>
        </p:txBody>
      </p:sp>
      <p:sp>
        <p:nvSpPr>
          <p:cNvPr id="32" name="Text 28"/>
          <p:cNvSpPr txBox="1"/>
          <p:nvPr/>
        </p:nvSpPr>
        <p:spPr>
          <a:xfrm>
            <a:off x="5511546" y="3234639"/>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1.58bn</a:t>
            </a:r>
            <a:endParaRPr lang="en-US" sz="1300" dirty="0"/>
          </a:p>
        </p:txBody>
      </p:sp>
      <p:sp>
        <p:nvSpPr>
          <p:cNvPr id="33" name="Text 29"/>
          <p:cNvSpPr txBox="1"/>
          <p:nvPr/>
        </p:nvSpPr>
        <p:spPr>
          <a:xfrm>
            <a:off x="5511546" y="3472383"/>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+29% vs. consensus</a:t>
            </a:r>
            <a:endParaRPr lang="en-US" sz="720" dirty="0"/>
          </a:p>
        </p:txBody>
      </p:sp>
      <p:sp>
        <p:nvSpPr>
          <p:cNvPr id="34" name="Text 30"/>
          <p:cNvSpPr txBox="1"/>
          <p:nvPr/>
        </p:nvSpPr>
        <p:spPr>
          <a:xfrm>
            <a:off x="539496" y="380156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The case now rests on electrification</a:t>
            </a:r>
            <a:endParaRPr lang="en-US" sz="1100" dirty="0"/>
          </a:p>
        </p:txBody>
      </p:sp>
      <p:sp>
        <p:nvSpPr>
          <p:cNvPr id="35" name="Text 31"/>
          <p:cNvSpPr txBox="1"/>
          <p:nvPr/>
        </p:nvSpPr>
        <p:spPr>
          <a:xfrm>
            <a:off x="539496" y="4048455"/>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ABB is becoming an electrification company with an industrial tail. Electrification orders rose 70% on a comparable basis to USD 7.7bn and its order book reached a record USD 16bn, up 83% on the year, which secures growth into 2027 and 2028. Elsewhere momentum is thinner: Motion grew orders 12% but lost one percentage point of margin, and Automation orders were flat. The shares fell 5.5% on the day because investors had already paid for the strong part.</a:t>
            </a:r>
            <a:endParaRPr lang="en-US" sz="870" dirty="0"/>
          </a:p>
        </p:txBody>
      </p:sp>
      <p:sp>
        <p:nvSpPr>
          <p:cNvPr id="36" name="Text 32"/>
          <p:cNvSpPr txBox="1"/>
          <p:nvPr/>
        </p:nvSpPr>
        <p:spPr>
          <a:xfrm>
            <a:off x="539496" y="4773879"/>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ABBN: Q3 2026 results vs. consensus</a:t>
            </a:r>
            <a:endParaRPr lang="en-US" sz="950" dirty="0"/>
          </a:p>
        </p:txBody>
      </p:sp>
      <p:sp>
        <p:nvSpPr>
          <p:cNvPr id="37" name="Text 33"/>
          <p:cNvSpPr txBox="1"/>
          <p:nvPr/>
        </p:nvSpPr>
        <p:spPr>
          <a:xfrm>
            <a:off x="539496" y="4956759"/>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Reported vs. pre-results consensus, % · EPS vs. the midpoint of USD 0.77 to 0.79 · operational EBITA and segment surprises approximate</a:t>
            </a:r>
            <a:endParaRPr lang="en-US" sz="720" dirty="0"/>
          </a:p>
        </p:txBody>
      </p:sp>
      <p:pic>
        <p:nvPicPr>
          <p:cNvPr id="38" name="Image 2" descr="/home/claude/abb/c1_crop.png">    </p:cNvPr>
          <p:cNvPicPr>
            <a:picLocks noChangeAspect="1"/>
          </p:cNvPicPr>
          <p:nvPr/>
        </p:nvPicPr>
        <p:blipFill>
          <a:blip r:embed="rId3"/>
          <a:stretch>
            <a:fillRect/>
          </a:stretch>
        </p:blipFill>
        <p:spPr>
          <a:xfrm>
            <a:off x="1447129" y="5121351"/>
            <a:ext cx="4667829" cy="1456363"/>
          </a:xfrm>
          <a:prstGeom prst="rect">
            <a:avLst/>
          </a:prstGeom>
        </p:spPr>
      </p:pic>
      <p:sp>
        <p:nvSpPr>
          <p:cNvPr id="39" name="Text 34"/>
          <p:cNvSpPr txBox="1"/>
          <p:nvPr/>
        </p:nvSpPr>
        <p:spPr>
          <a:xfrm>
            <a:off x="539496" y="6632578"/>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lines that point to future earnings beat; the line that prices the stock today missed. Orders and free cash flow, 29% above consensus, show strong demand and cash conversion. The USD 115m revaluation of a currency hedge linked to the Rotork acquisition is non-cash and explains about half of the EPS shortfall. The rest, and the 9% gap in Automation orders, are real.</a:t>
            </a:r>
            <a:endParaRPr lang="en-US" sz="870" dirty="0"/>
          </a:p>
        </p:txBody>
      </p:sp>
      <p:sp>
        <p:nvSpPr>
          <p:cNvPr id="40" name="Text 35"/>
          <p:cNvSpPr txBox="1"/>
          <p:nvPr/>
        </p:nvSpPr>
        <p:spPr>
          <a:xfrm>
            <a:off x="539496" y="739457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1" name="Text 36"/>
          <p:cNvSpPr txBox="1"/>
          <p:nvPr/>
        </p:nvSpPr>
        <p:spPr>
          <a:xfrm>
            <a:off x="539496" y="764146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constructive on ABB and hold, but would not add at current levels. We underwrite full-year revenue growth in the low teens and an operational EBITA margin up at least 270 basis points, knowing that about CHF 240m of Q4 property gains flatter it. Demand is not the debate any more; breadth and conversion are: can the USD 16bn Electrification backlog lift 2027 earnings while Automation and Motion lag? The catalyst would be 2027 upgrades, and consensus 2026 EPS has risen only 1% since the July results. With the shares 7% below their 40-week average, sentiment has reset. The next test is the Q4 release in early 2027.</a:t>
            </a:r>
            <a:endParaRPr lang="en-US" sz="870" dirty="0"/>
          </a:p>
        </p:txBody>
      </p:sp>
      <p:sp>
        <p:nvSpPr>
          <p:cNvPr id="42" name="Shape 37"/>
          <p:cNvSpPr/>
          <p:nvPr/>
        </p:nvSpPr>
        <p:spPr>
          <a:xfrm>
            <a:off x="3781044" y="8717257"/>
            <a:ext cx="0" cy="985647"/>
          </a:xfrm>
          <a:prstGeom prst="line">
            <a:avLst/>
          </a:prstGeom>
          <a:noFill/>
          <a:ln w="7620">
            <a:solidFill>
              <a:srgbClr val="D6D9DE"/>
            </a:solidFill>
            <a:prstDash val="solid"/>
          </a:ln>
        </p:spPr>
      </p:sp>
      <p:sp>
        <p:nvSpPr>
          <p:cNvPr id="43" name="Text 38"/>
          <p:cNvSpPr txBox="1"/>
          <p:nvPr/>
        </p:nvSpPr>
        <p:spPr>
          <a:xfrm>
            <a:off x="539496" y="8717257"/>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4" name="Text 39"/>
          <p:cNvSpPr txBox="1"/>
          <p:nvPr/>
        </p:nvSpPr>
        <p:spPr>
          <a:xfrm>
            <a:off x="539496" y="8909281"/>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Q4 orders hold above USD 11bn with Electrification orders still well ahead of revenues; Automation orders return to growth as delayed large projects are booked; consensus 2027 EPS rises 5% or more before the Q4 results.</a:t>
            </a:r>
            <a:endParaRPr lang="en-US" sz="870" dirty="0"/>
          </a:p>
        </p:txBody>
      </p:sp>
      <p:sp>
        <p:nvSpPr>
          <p:cNvPr id="45" name="Text 40"/>
          <p:cNvSpPr txBox="1"/>
          <p:nvPr/>
        </p:nvSpPr>
        <p:spPr>
          <a:xfrm>
            <a:off x="3963924" y="8717257"/>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6" name="Text 41"/>
          <p:cNvSpPr txBox="1"/>
          <p:nvPr/>
        </p:nvSpPr>
        <p:spPr>
          <a:xfrm>
            <a:off x="3963924" y="8909281"/>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Data centre customers push out deliveries despite their deposits; the Electrification margin slips below 24% as large projects ramp up; the Q4 margin is flat only thanks to property gains; weakness in the Middle East spreads to other regions.</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the beat was in orders, not earnings</a:t>
            </a:r>
            <a:endParaRPr lang="en-US" sz="1100" dirty="0"/>
          </a:p>
        </p:txBody>
      </p:sp>
      <p:sp>
        <p:nvSpPr>
          <p:cNvPr id="8" name="Text 4"/>
          <p:cNvSpPr txBox="1"/>
          <p:nvPr/>
        </p:nvSpPr>
        <p:spPr>
          <a:xfrm>
            <a:off x="539496" y="1431036"/>
            <a:ext cx="6483096" cy="1116559"/>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Electrification carried the quarter. Orders rose 70% organically to USD 7.7bn, about 16% above consensus, with triple-digit growth in data centres and a 117% jump in the Americas; utilities, semiconductors and grid infrastructure also contributed. Revenues increased 21% to USD 5.4bn and operational EBITA 27% to USD 1.4bn, a 25.6% margin. On the call, management addressed the durability question directly: data centre orders are secured by large down payments and clear cancellation clauses, and each contract is tied to a specific site with permits and grid connections, which limits the risk of withdrawal. The 800-volt direct current Infinitus portfolio, with a solid-state transformer due in the second half of 2027, should support mix.</a:t>
            </a:r>
            <a:endParaRPr lang="en-US" sz="870" dirty="0"/>
          </a:p>
        </p:txBody>
      </p:sp>
      <p:sp>
        <p:nvSpPr>
          <p:cNvPr id="9" name="Text 5"/>
          <p:cNvSpPr txBox="1"/>
          <p:nvPr/>
        </p:nvSpPr>
        <p:spPr>
          <a:xfrm>
            <a:off x="539496" y="262714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rest of the group was weaker. Motion orders grew 12% organically, but its margin fell 100 basis points to 19.1%, partly due to the newly acquired Gamesa Electric. Automation orders were flat at USD 2.1bn, with the margin up 90 basis points to 14.8%; management attributes the sequential slowdown to the timing of large projects, but the Middle East has been subdued since Q1. At group level, gross margin fell 60 basis points to 40.6% on unrealised FX and commodity derivative effects, and pricing of just over 2% only offset cost inflation. Free cash flow of USD 1.58bn cut net debt to 0.2x EBITDA.</a:t>
            </a:r>
            <a:endParaRPr lang="en-US" sz="870" dirty="0"/>
          </a:p>
        </p:txBody>
      </p:sp>
      <p:sp>
        <p:nvSpPr>
          <p:cNvPr id="10" name="Text 6"/>
          <p:cNvSpPr txBox="1"/>
          <p:nvPr/>
        </p:nvSpPr>
        <p:spPr>
          <a:xfrm>
            <a:off x="539496" y="354604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a softer Q4 and a new Japan platform</a:t>
            </a:r>
            <a:endParaRPr lang="en-US" sz="1100" dirty="0"/>
          </a:p>
        </p:txBody>
      </p:sp>
      <p:sp>
        <p:nvSpPr>
          <p:cNvPr id="11" name="Text 7"/>
          <p:cNvSpPr txBox="1"/>
          <p:nvPr/>
        </p:nvSpPr>
        <p:spPr>
          <a:xfrm>
            <a:off x="539496" y="3792931"/>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Guidance rose less than orders. ABB expects full-year revenue growth in the low teens and an operational EBITA margin up at least 270 basis points, including about CHF 240m of Q4 property gains, so the underlying upgrade is modest. For Q4, management guides to low to mid single-digit revenue growth and a broadly stable margin. Robotics should be sold by late 2026 and Rotork closes by mid-2027. ABB will pay USD 495m for 51% of a joint venture with Mitsubishi Electric’s low-voltage business, valued at about EUR 890m on EUR 640m of revenue: a Japanese market leader targeting a margin of at least 20% within five years.</a:t>
            </a:r>
            <a:endParaRPr lang="en-US" sz="870" dirty="0"/>
          </a:p>
        </p:txBody>
      </p:sp>
      <p:sp>
        <p:nvSpPr>
          <p:cNvPr id="12" name="Text 8"/>
          <p:cNvSpPr txBox="1"/>
          <p:nvPr/>
        </p:nvSpPr>
        <p:spPr>
          <a:xfrm>
            <a:off x="539496" y="486872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premium waits for 2027 upgrades</a:t>
            </a:r>
            <a:endParaRPr lang="en-US" sz="1100" dirty="0"/>
          </a:p>
        </p:txBody>
      </p:sp>
      <p:sp>
        <p:nvSpPr>
          <p:cNvPr id="13" name="Text 9"/>
          <p:cNvSpPr txBox="1"/>
          <p:nvPr/>
        </p:nvSpPr>
        <p:spPr>
          <a:xfrm>
            <a:off x="539496" y="5115611"/>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ABBN: share price vs. consensus earnings and valuation</a:t>
            </a:r>
            <a:endParaRPr lang="en-US" sz="950" dirty="0"/>
          </a:p>
        </p:txBody>
      </p:sp>
      <p:sp>
        <p:nvSpPr>
          <p:cNvPr id="14" name="Text 10"/>
          <p:cNvSpPr txBox="1"/>
          <p:nvPr/>
        </p:nvSpPr>
        <p:spPr>
          <a:xfrm>
            <a:off x="539496" y="5298491"/>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Jan 2006 to 20 Oct 2026, resampled from daily · Bloomberg BEst EPS for the current fiscal year in USD (steps each January) vs. price in CHF and its 40-week MA · log scales · P/E vs. its 2006 to 2026 average · last price is the 20 October close, after the release</a:t>
            </a:r>
            <a:endParaRPr lang="en-US" sz="720" dirty="0"/>
          </a:p>
        </p:txBody>
      </p:sp>
      <p:pic>
        <p:nvPicPr>
          <p:cNvPr id="15" name="Image 2" descr="/home/claude/abb/c2_crop.png">    </p:cNvPr>
          <p:cNvPicPr>
            <a:picLocks noChangeAspect="1"/>
          </p:cNvPicPr>
          <p:nvPr/>
        </p:nvPicPr>
        <p:blipFill>
          <a:blip r:embed="rId3"/>
          <a:stretch>
            <a:fillRect/>
          </a:stretch>
        </p:blipFill>
        <p:spPr>
          <a:xfrm>
            <a:off x="960897" y="5581955"/>
            <a:ext cx="5640294" cy="3375152"/>
          </a:xfrm>
          <a:prstGeom prst="rect">
            <a:avLst/>
          </a:prstGeom>
        </p:spPr>
      </p:pic>
      <p:sp>
        <p:nvSpPr>
          <p:cNvPr id="16" name="Text 11"/>
          <p:cNvSpPr txBox="1"/>
          <p:nvPr/>
        </p:nvSpPr>
        <p:spPr>
          <a:xfrm>
            <a:off x="539496" y="9011970"/>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price has run with earnings, not ahead of them, but the multiple is still rich. The shares are up 21% over 12 months and 20% this year, while consensus 2026 EPS has risen 15% since January. Since the July results, however, the price has fallen 10% and EPS has risen only 1%. The P/E of 25.6x is 36% above its 18.8x average since 2006, down from a 33.2x peak on 3 July 2026 and a one-year average of 28.9x. A 10% upgrade at an unchanged price would take the multiple to 23.3x, still 24% above the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20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analyst research notes of 20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ABB Q3 2026: record orders, but the premium needs broader growth</dc:title>
  <dc:subject>PptxGenJS Presentation</dc:subject>
  <dc:creator>Syz Research</dc:creator>
  <cp:lastModifiedBy>Syz Research</cp:lastModifiedBy>
  <cp:revision>1</cp:revision>
  <dcterms:created xsi:type="dcterms:W3CDTF">2026-10-20T13:12:58Z</dcterms:created>
  <dcterms:modified xsi:type="dcterms:W3CDTF">2026-10-20T13:12:58Z</dcterms:modified>
</cp:coreProperties>
</file>