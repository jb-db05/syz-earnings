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7562088" cy="10689336"/>
  <p:notesSz cx="10689336" cy="756208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home/claude/syz_logo_new.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Earnings update · 14 October 2026</a:t>
            </a:r>
            <a:endParaRPr lang="en-US" sz="700" dirty="0"/>
          </a:p>
        </p:txBody>
      </p:sp>
      <p:sp>
        <p:nvSpPr>
          <p:cNvPr id="5" name="Text 1"/>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1 / 3</a:t>
            </a:r>
            <a:endParaRPr lang="en-US" sz="700" dirty="0"/>
          </a:p>
        </p:txBody>
      </p:sp>
      <p:sp>
        <p:nvSpPr>
          <p:cNvPr id="6" name="Text 2"/>
          <p:cNvSpPr txBox="1"/>
          <p:nvPr/>
        </p:nvSpPr>
        <p:spPr>
          <a:xfrm>
            <a:off x="539496" y="836676"/>
            <a:ext cx="6483096" cy="164592"/>
          </a:xfrm>
          <a:prstGeom prst="rect">
            <a:avLst/>
          </a:prstGeom>
          <a:noFill/>
          <a:ln/>
        </p:spPr>
        <p:txBody>
          <a:bodyPr wrap="square" lIns="0" tIns="0" rIns="0" bIns="0" rtlCol="0" anchor="t"/>
          <a:lstStyle/>
          <a:p>
            <a:pPr indent="0" marL="0">
              <a:buNone/>
            </a:pPr>
            <a:r>
              <a:rPr lang="en-US" sz="800" b="1" spc="120" kern="0" dirty="0">
                <a:solidFill>
                  <a:srgbClr val="FF6C0E"/>
                </a:solidFill>
                <a:latin typeface="Nunito" pitchFamily="34" charset="0"/>
                <a:ea typeface="Nunito" pitchFamily="34" charset="-122"/>
                <a:cs typeface="Nunito" pitchFamily="34" charset="-120"/>
              </a:rPr>
              <a:t>Earnings update · Semiconductors</a:t>
            </a:r>
            <a:endParaRPr lang="en-US" sz="800" dirty="0"/>
          </a:p>
        </p:txBody>
      </p:sp>
      <p:sp>
        <p:nvSpPr>
          <p:cNvPr id="7" name="Text 3"/>
          <p:cNvSpPr txBox="1"/>
          <p:nvPr/>
        </p:nvSpPr>
        <p:spPr>
          <a:xfrm>
            <a:off x="539496" y="1028700"/>
            <a:ext cx="6483096" cy="526796"/>
          </a:xfrm>
          <a:prstGeom prst="rect">
            <a:avLst/>
          </a:prstGeom>
          <a:noFill/>
          <a:ln/>
        </p:spPr>
        <p:txBody>
          <a:bodyPr wrap="square" lIns="0" tIns="0" rIns="0" bIns="0" rtlCol="0" anchor="t"/>
          <a:lstStyle/>
          <a:p>
            <a:pPr indent="0" marL="0">
              <a:lnSpc>
                <a:spcPct val="101667"/>
              </a:lnSpc>
              <a:buNone/>
            </a:pPr>
            <a:r>
              <a:rPr lang="en-US" sz="1700" b="1" dirty="0">
                <a:solidFill>
                  <a:srgbClr val="202945"/>
                </a:solidFill>
                <a:latin typeface="Nunito" pitchFamily="34" charset="0"/>
                <a:ea typeface="Nunito" pitchFamily="34" charset="-122"/>
                <a:cs typeface="Nunito" pitchFamily="34" charset="-120"/>
              </a:rPr>
              <a:t>ASML Q3 2026: orders confirm the upcycle, valuation leaves little slack</a:t>
            </a:r>
            <a:endParaRPr lang="en-US" sz="1700" dirty="0"/>
          </a:p>
        </p:txBody>
      </p:sp>
      <p:sp>
        <p:nvSpPr>
          <p:cNvPr id="8" name="Text 4"/>
          <p:cNvSpPr txBox="1"/>
          <p:nvPr/>
        </p:nvSpPr>
        <p:spPr>
          <a:xfrm>
            <a:off x="539496" y="1592072"/>
            <a:ext cx="6483096" cy="164592"/>
          </a:xfrm>
          <a:prstGeom prst="rect">
            <a:avLst/>
          </a:prstGeom>
          <a:noFill/>
          <a:ln/>
        </p:spPr>
        <p:txBody>
          <a:bodyPr wrap="square" lIns="0" tIns="0" rIns="0" bIns="0" rtlCol="0" anchor="t"/>
          <a:lstStyle/>
          <a:p>
            <a:pPr indent="0" marL="0">
              <a:buNone/>
            </a:pPr>
            <a:r>
              <a:rPr lang="en-US" sz="850" b="1" dirty="0">
                <a:solidFill>
                  <a:srgbClr val="6B7280"/>
                </a:solidFill>
                <a:latin typeface="Nunito" pitchFamily="34" charset="0"/>
                <a:ea typeface="Nunito" pitchFamily="34" charset="-122"/>
                <a:cs typeface="Nunito" pitchFamily="34" charset="-120"/>
              </a:rPr>
              <a:t>14 October 2026 · Syz Research</a:t>
            </a:r>
            <a:endParaRPr lang="en-US" sz="850" dirty="0"/>
          </a:p>
        </p:txBody>
      </p:sp>
      <p:sp>
        <p:nvSpPr>
          <p:cNvPr id="9" name="Shape 5"/>
          <p:cNvSpPr/>
          <p:nvPr/>
        </p:nvSpPr>
        <p:spPr>
          <a:xfrm>
            <a:off x="539496" y="1875536"/>
            <a:ext cx="42977" cy="573786"/>
          </a:xfrm>
          <a:prstGeom prst="rect">
            <a:avLst/>
          </a:prstGeom>
          <a:solidFill>
            <a:srgbClr val="FF6C0E"/>
          </a:solidFill>
          <a:ln w="12700">
            <a:solidFill>
              <a:srgbClr val="FF6C0E"/>
            </a:solidFill>
            <a:prstDash val="solid"/>
          </a:ln>
        </p:spPr>
      </p:sp>
      <p:sp>
        <p:nvSpPr>
          <p:cNvPr id="10" name="Text 6"/>
          <p:cNvSpPr txBox="1"/>
          <p:nvPr/>
        </p:nvSpPr>
        <p:spPr>
          <a:xfrm>
            <a:off x="722376" y="1893824"/>
            <a:ext cx="6300216" cy="336042"/>
          </a:xfrm>
          <a:prstGeom prst="rect">
            <a:avLst/>
          </a:prstGeom>
          <a:noFill/>
          <a:ln/>
        </p:spPr>
        <p:txBody>
          <a:bodyPr wrap="square" lIns="0" tIns="0" rIns="0" bIns="0" rtlCol="0" anchor="t"/>
          <a:lstStyle/>
          <a:p>
            <a:pPr indent="0" marL="0">
              <a:lnSpc>
                <a:spcPct val="112500"/>
              </a:lnSpc>
              <a:buNone/>
            </a:pPr>
            <a:r>
              <a:rPr lang="en-US" sz="980" b="1" dirty="0">
                <a:solidFill>
                  <a:srgbClr val="202945"/>
                </a:solidFill>
                <a:latin typeface="Nunito" pitchFamily="34" charset="0"/>
                <a:ea typeface="Nunito" pitchFamily="34" charset="-122"/>
                <a:cs typeface="Nunito" pitchFamily="34" charset="-120"/>
              </a:rPr>
              <a:t>“Illustrative management quote of about twenty to thirty words that captures the tone of the call and the key message to investors.”</a:t>
            </a:r>
            <a:endParaRPr lang="en-US" sz="980" dirty="0"/>
          </a:p>
        </p:txBody>
      </p:sp>
      <p:sp>
        <p:nvSpPr>
          <p:cNvPr id="11" name="Text 7"/>
          <p:cNvSpPr txBox="1"/>
          <p:nvPr/>
        </p:nvSpPr>
        <p:spPr>
          <a:xfrm>
            <a:off x="722376" y="2266442"/>
            <a:ext cx="6300216" cy="155448"/>
          </a:xfrm>
          <a:prstGeom prst="rect">
            <a:avLst/>
          </a:prstGeom>
          <a:noFill/>
          <a:ln/>
        </p:spPr>
        <p:txBody>
          <a:bodyPr wrap="square" lIns="0" tIns="0" rIns="0" bIns="0" rtlCol="0" anchor="t"/>
          <a:lstStyle/>
          <a:p>
            <a:pPr indent="0" marL="0">
              <a:buNone/>
            </a:pPr>
            <a:r>
              <a:rPr lang="en-US" sz="760" b="1" dirty="0">
                <a:solidFill>
                  <a:srgbClr val="6B7280"/>
                </a:solidFill>
                <a:latin typeface="Nunito" pitchFamily="34" charset="0"/>
                <a:ea typeface="Nunito" pitchFamily="34" charset="-122"/>
                <a:cs typeface="Nunito" pitchFamily="34" charset="-120"/>
              </a:rPr>
              <a:t>Illustrative Name, CEO, Q3 2026 earnings call, 14 October 2026</a:t>
            </a:r>
            <a:endParaRPr lang="en-US" sz="760" dirty="0"/>
          </a:p>
        </p:txBody>
      </p:sp>
      <p:sp>
        <p:nvSpPr>
          <p:cNvPr id="12" name="Text 8"/>
          <p:cNvSpPr txBox="1"/>
          <p:nvPr/>
        </p:nvSpPr>
        <p:spPr>
          <a:xfrm>
            <a:off x="539496" y="2568194"/>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Key takeaways</a:t>
            </a:r>
            <a:endParaRPr lang="en-US" sz="1100" dirty="0"/>
          </a:p>
        </p:txBody>
      </p:sp>
      <p:sp>
        <p:nvSpPr>
          <p:cNvPr id="13" name="Text 9"/>
          <p:cNvSpPr txBox="1"/>
          <p:nvPr/>
        </p:nvSpPr>
        <p:spPr>
          <a:xfrm>
            <a:off x="539496" y="2828798"/>
            <a:ext cx="576072" cy="156896"/>
          </a:xfrm>
          <a:prstGeom prst="rect">
            <a:avLst/>
          </a:prstGeom>
          <a:noFill/>
          <a:ln/>
        </p:spPr>
        <p:txBody>
          <a:bodyPr wrap="square" lIns="0" tIns="0" rIns="0" bIns="0" rtlCol="0" anchor="t"/>
          <a:lstStyle/>
          <a:p>
            <a:pPr indent="0" marL="0">
              <a:buNone/>
            </a:pPr>
            <a:r>
              <a:rPr lang="en-US" sz="700" b="1" spc="80" kern="0" dirty="0">
                <a:solidFill>
                  <a:srgbClr val="3BAF90"/>
                </a:solidFill>
                <a:latin typeface="Nunito" pitchFamily="34" charset="0"/>
                <a:ea typeface="Nunito" pitchFamily="34" charset="-122"/>
                <a:cs typeface="Nunito" pitchFamily="34" charset="-120"/>
              </a:rPr>
              <a:t>Beat</a:t>
            </a:r>
            <a:endParaRPr lang="en-US" sz="700" dirty="0"/>
          </a:p>
        </p:txBody>
      </p:sp>
      <p:sp>
        <p:nvSpPr>
          <p:cNvPr id="14" name="Text 10"/>
          <p:cNvSpPr txBox="1"/>
          <p:nvPr/>
        </p:nvSpPr>
        <p:spPr>
          <a:xfrm>
            <a:off x="1133856" y="2805938"/>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Revenue EUR 9.2bn (+4% vs. consensus) and EPS EUR 7.85 (+6%), driven by EUV mix and services.</a:t>
            </a:r>
            <a:endParaRPr lang="en-US" sz="870" dirty="0"/>
          </a:p>
        </p:txBody>
      </p:sp>
      <p:sp>
        <p:nvSpPr>
          <p:cNvPr id="15" name="Text 11"/>
          <p:cNvSpPr txBox="1"/>
          <p:nvPr/>
        </p:nvSpPr>
        <p:spPr>
          <a:xfrm>
            <a:off x="539496" y="3031414"/>
            <a:ext cx="576072" cy="156896"/>
          </a:xfrm>
          <a:prstGeom prst="rect">
            <a:avLst/>
          </a:prstGeom>
          <a:noFill/>
          <a:ln/>
        </p:spPr>
        <p:txBody>
          <a:bodyPr wrap="square" lIns="0" tIns="0" rIns="0" bIns="0" rtlCol="0" anchor="t"/>
          <a:lstStyle/>
          <a:p>
            <a:pPr indent="0" marL="0">
              <a:buNone/>
            </a:pPr>
            <a:r>
              <a:rPr lang="en-US" sz="700" b="1" spc="80" kern="0" dirty="0">
                <a:solidFill>
                  <a:srgbClr val="3BAF90"/>
                </a:solidFill>
                <a:latin typeface="Nunito" pitchFamily="34" charset="0"/>
                <a:ea typeface="Nunito" pitchFamily="34" charset="-122"/>
                <a:cs typeface="Nunito" pitchFamily="34" charset="-120"/>
              </a:rPr>
              <a:t>Raised</a:t>
            </a:r>
            <a:endParaRPr lang="en-US" sz="700" dirty="0"/>
          </a:p>
        </p:txBody>
      </p:sp>
      <p:sp>
        <p:nvSpPr>
          <p:cNvPr id="16" name="Text 12"/>
          <p:cNvSpPr txBox="1"/>
          <p:nvPr/>
        </p:nvSpPr>
        <p:spPr>
          <a:xfrm>
            <a:off x="1133856" y="3008554"/>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FY26 revenue guide lifted to the top of the EUR 34 to 36bn range; gross margin 52 to 53%.</a:t>
            </a:r>
            <a:endParaRPr lang="en-US" sz="870" dirty="0"/>
          </a:p>
        </p:txBody>
      </p:sp>
      <p:sp>
        <p:nvSpPr>
          <p:cNvPr id="17" name="Text 13"/>
          <p:cNvSpPr txBox="1"/>
          <p:nvPr/>
        </p:nvSpPr>
        <p:spPr>
          <a:xfrm>
            <a:off x="539496" y="3234030"/>
            <a:ext cx="576072" cy="156896"/>
          </a:xfrm>
          <a:prstGeom prst="rect">
            <a:avLst/>
          </a:prstGeom>
          <a:noFill/>
          <a:ln/>
        </p:spPr>
        <p:txBody>
          <a:bodyPr wrap="square" lIns="0" tIns="0" rIns="0" bIns="0" rtlCol="0" anchor="t"/>
          <a:lstStyle/>
          <a:p>
            <a:pPr indent="0" marL="0">
              <a:buNone/>
            </a:pPr>
            <a:r>
              <a:rPr lang="en-US" sz="700" b="1" spc="80" kern="0" dirty="0">
                <a:solidFill>
                  <a:srgbClr val="FF6C0E"/>
                </a:solidFill>
                <a:latin typeface="Nunito" pitchFamily="34" charset="0"/>
                <a:ea typeface="Nunito" pitchFamily="34" charset="-122"/>
                <a:cs typeface="Nunito" pitchFamily="34" charset="-120"/>
              </a:rPr>
              <a:t>Watch</a:t>
            </a:r>
            <a:endParaRPr lang="en-US" sz="700" dirty="0"/>
          </a:p>
        </p:txBody>
      </p:sp>
      <p:sp>
        <p:nvSpPr>
          <p:cNvPr id="18" name="Text 14"/>
          <p:cNvSpPr txBox="1"/>
          <p:nvPr/>
        </p:nvSpPr>
        <p:spPr>
          <a:xfrm>
            <a:off x="1133856" y="3211170"/>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China fell to 22% of system sales from 29%, and export-licence timing remains the main swing factor.</a:t>
            </a:r>
            <a:endParaRPr lang="en-US" sz="870" dirty="0"/>
          </a:p>
        </p:txBody>
      </p:sp>
      <p:sp>
        <p:nvSpPr>
          <p:cNvPr id="19" name="Text 15"/>
          <p:cNvSpPr txBox="1"/>
          <p:nvPr/>
        </p:nvSpPr>
        <p:spPr>
          <a:xfrm>
            <a:off x="539496" y="3436645"/>
            <a:ext cx="576072" cy="156896"/>
          </a:xfrm>
          <a:prstGeom prst="rect">
            <a:avLst/>
          </a:prstGeom>
          <a:noFill/>
          <a:ln/>
        </p:spPr>
        <p:txBody>
          <a:bodyPr wrap="square" lIns="0" tIns="0" rIns="0" bIns="0" rtlCol="0" anchor="t"/>
          <a:lstStyle/>
          <a:p>
            <a:pPr indent="0" marL="0">
              <a:buNone/>
            </a:pPr>
            <a:r>
              <a:rPr lang="en-US" sz="700" b="1" spc="80" kern="0" dirty="0">
                <a:solidFill>
                  <a:srgbClr val="4B5F80"/>
                </a:solidFill>
                <a:latin typeface="Nunito" pitchFamily="34" charset="0"/>
                <a:ea typeface="Nunito" pitchFamily="34" charset="-122"/>
                <a:cs typeface="Nunito" pitchFamily="34" charset="-120"/>
              </a:rPr>
              <a:t>Valuation</a:t>
            </a:r>
            <a:endParaRPr lang="en-US" sz="700" dirty="0"/>
          </a:p>
        </p:txBody>
      </p:sp>
      <p:sp>
        <p:nvSpPr>
          <p:cNvPr id="20" name="Text 16"/>
          <p:cNvSpPr txBox="1"/>
          <p:nvPr/>
        </p:nvSpPr>
        <p:spPr>
          <a:xfrm>
            <a:off x="1133856" y="3413785"/>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30.6x forward earnings, 18% above the 2010 to 2026 average: the upcycle is priced, not the next leg.</a:t>
            </a:r>
            <a:endParaRPr lang="en-US" sz="870" dirty="0"/>
          </a:p>
        </p:txBody>
      </p:sp>
      <p:sp>
        <p:nvSpPr>
          <p:cNvPr id="21" name="Shape 17"/>
          <p:cNvSpPr/>
          <p:nvPr/>
        </p:nvSpPr>
        <p:spPr>
          <a:xfrm>
            <a:off x="539496" y="3698697"/>
            <a:ext cx="6483096" cy="676656"/>
          </a:xfrm>
          <a:prstGeom prst="rect">
            <a:avLst/>
          </a:prstGeom>
          <a:solidFill>
            <a:srgbClr val="FFFFFF"/>
          </a:solidFill>
          <a:ln w="16510">
            <a:solidFill>
              <a:srgbClr val="202945"/>
            </a:solidFill>
            <a:prstDash val="solid"/>
          </a:ln>
        </p:spPr>
      </p:sp>
      <p:sp>
        <p:nvSpPr>
          <p:cNvPr id="22" name="Text 18"/>
          <p:cNvSpPr txBox="1"/>
          <p:nvPr/>
        </p:nvSpPr>
        <p:spPr>
          <a:xfrm>
            <a:off x="649224" y="3780993"/>
            <a:ext cx="1437894" cy="146304"/>
          </a:xfrm>
          <a:prstGeom prst="rect">
            <a:avLst/>
          </a:prstGeom>
          <a:noFill/>
          <a:ln/>
        </p:spPr>
        <p:txBody>
          <a:bodyPr wrap="square" lIns="0" tIns="0" rIns="0" bIns="0" rtlCol="0" anchor="t"/>
          <a:lstStyle/>
          <a:p>
            <a:pPr indent="0" marL="0">
              <a:buNone/>
            </a:pPr>
            <a:r>
              <a:rPr lang="en-US" sz="720" b="1" dirty="0">
                <a:solidFill>
                  <a:srgbClr val="6B7280"/>
                </a:solidFill>
                <a:latin typeface="Nunito" pitchFamily="34" charset="0"/>
                <a:ea typeface="Nunito" pitchFamily="34" charset="-122"/>
                <a:cs typeface="Nunito" pitchFamily="34" charset="-120"/>
              </a:rPr>
              <a:t>Revenue</a:t>
            </a:r>
            <a:endParaRPr lang="en-US" sz="720" dirty="0"/>
          </a:p>
        </p:txBody>
      </p:sp>
      <p:sp>
        <p:nvSpPr>
          <p:cNvPr id="23" name="Text 19"/>
          <p:cNvSpPr txBox="1"/>
          <p:nvPr/>
        </p:nvSpPr>
        <p:spPr>
          <a:xfrm>
            <a:off x="649224" y="3927297"/>
            <a:ext cx="1437894" cy="237744"/>
          </a:xfrm>
          <a:prstGeom prst="rect">
            <a:avLst/>
          </a:prstGeom>
          <a:noFill/>
          <a:ln/>
        </p:spPr>
        <p:txBody>
          <a:bodyPr wrap="square" lIns="0" tIns="0" rIns="0" bIns="0" rtlCol="0" anchor="t"/>
          <a:lstStyle/>
          <a:p>
            <a:pPr indent="0" marL="0">
              <a:buNone/>
            </a:pPr>
            <a:r>
              <a:rPr lang="en-US" sz="1300" b="1" dirty="0">
                <a:solidFill>
                  <a:srgbClr val="202945"/>
                </a:solidFill>
                <a:latin typeface="Nunito" pitchFamily="34" charset="0"/>
                <a:ea typeface="Nunito" pitchFamily="34" charset="-122"/>
                <a:cs typeface="Nunito" pitchFamily="34" charset="-120"/>
              </a:rPr>
              <a:t>EUR 9.2bn</a:t>
            </a:r>
            <a:endParaRPr lang="en-US" sz="1300" dirty="0"/>
          </a:p>
        </p:txBody>
      </p:sp>
      <p:sp>
        <p:nvSpPr>
          <p:cNvPr id="24" name="Text 20"/>
          <p:cNvSpPr txBox="1"/>
          <p:nvPr/>
        </p:nvSpPr>
        <p:spPr>
          <a:xfrm>
            <a:off x="649224" y="4165041"/>
            <a:ext cx="1437894" cy="146304"/>
          </a:xfrm>
          <a:prstGeom prst="rect">
            <a:avLst/>
          </a:prstGeom>
          <a:noFill/>
          <a:ln/>
        </p:spPr>
        <p:txBody>
          <a:bodyPr wrap="square" lIns="0" tIns="0" rIns="0" bIns="0" rtlCol="0" anchor="t"/>
          <a:lstStyle/>
          <a:p>
            <a:pPr indent="0" marL="0">
              <a:buNone/>
            </a:pPr>
            <a:r>
              <a:rPr lang="en-US" sz="720" b="1" dirty="0">
                <a:solidFill>
                  <a:srgbClr val="3BAF90"/>
                </a:solidFill>
                <a:latin typeface="Nunito" pitchFamily="34" charset="0"/>
                <a:ea typeface="Nunito" pitchFamily="34" charset="-122"/>
                <a:cs typeface="Nunito" pitchFamily="34" charset="-120"/>
              </a:rPr>
              <a:t>+4.1% vs. consensus</a:t>
            </a:r>
            <a:endParaRPr lang="en-US" sz="720" dirty="0"/>
          </a:p>
        </p:txBody>
      </p:sp>
      <p:sp>
        <p:nvSpPr>
          <p:cNvPr id="25" name="Shape 21"/>
          <p:cNvSpPr/>
          <p:nvPr/>
        </p:nvSpPr>
        <p:spPr>
          <a:xfrm>
            <a:off x="2160270" y="3698697"/>
            <a:ext cx="0" cy="676656"/>
          </a:xfrm>
          <a:prstGeom prst="line">
            <a:avLst/>
          </a:prstGeom>
          <a:noFill/>
          <a:ln w="7620">
            <a:solidFill>
              <a:srgbClr val="D6D9DE"/>
            </a:solidFill>
            <a:prstDash val="solid"/>
          </a:ln>
        </p:spPr>
      </p:sp>
      <p:sp>
        <p:nvSpPr>
          <p:cNvPr id="26" name="Text 22"/>
          <p:cNvSpPr txBox="1"/>
          <p:nvPr/>
        </p:nvSpPr>
        <p:spPr>
          <a:xfrm>
            <a:off x="2269998" y="3780993"/>
            <a:ext cx="1437894" cy="146304"/>
          </a:xfrm>
          <a:prstGeom prst="rect">
            <a:avLst/>
          </a:prstGeom>
          <a:noFill/>
          <a:ln/>
        </p:spPr>
        <p:txBody>
          <a:bodyPr wrap="square" lIns="0" tIns="0" rIns="0" bIns="0" rtlCol="0" anchor="t"/>
          <a:lstStyle/>
          <a:p>
            <a:pPr indent="0" marL="0">
              <a:buNone/>
            </a:pPr>
            <a:r>
              <a:rPr lang="en-US" sz="720" b="1" dirty="0">
                <a:solidFill>
                  <a:srgbClr val="6B7280"/>
                </a:solidFill>
                <a:latin typeface="Nunito" pitchFamily="34" charset="0"/>
                <a:ea typeface="Nunito" pitchFamily="34" charset="-122"/>
                <a:cs typeface="Nunito" pitchFamily="34" charset="-120"/>
              </a:rPr>
              <a:t>EPS</a:t>
            </a:r>
            <a:endParaRPr lang="en-US" sz="720" dirty="0"/>
          </a:p>
        </p:txBody>
      </p:sp>
      <p:sp>
        <p:nvSpPr>
          <p:cNvPr id="27" name="Text 23"/>
          <p:cNvSpPr txBox="1"/>
          <p:nvPr/>
        </p:nvSpPr>
        <p:spPr>
          <a:xfrm>
            <a:off x="2269998" y="3927297"/>
            <a:ext cx="1437894" cy="237744"/>
          </a:xfrm>
          <a:prstGeom prst="rect">
            <a:avLst/>
          </a:prstGeom>
          <a:noFill/>
          <a:ln/>
        </p:spPr>
        <p:txBody>
          <a:bodyPr wrap="square" lIns="0" tIns="0" rIns="0" bIns="0" rtlCol="0" anchor="t"/>
          <a:lstStyle/>
          <a:p>
            <a:pPr indent="0" marL="0">
              <a:buNone/>
            </a:pPr>
            <a:r>
              <a:rPr lang="en-US" sz="1300" b="1" dirty="0">
                <a:solidFill>
                  <a:srgbClr val="202945"/>
                </a:solidFill>
                <a:latin typeface="Nunito" pitchFamily="34" charset="0"/>
                <a:ea typeface="Nunito" pitchFamily="34" charset="-122"/>
                <a:cs typeface="Nunito" pitchFamily="34" charset="-120"/>
              </a:rPr>
              <a:t>EUR 7.85</a:t>
            </a:r>
            <a:endParaRPr lang="en-US" sz="1300" dirty="0"/>
          </a:p>
        </p:txBody>
      </p:sp>
      <p:sp>
        <p:nvSpPr>
          <p:cNvPr id="28" name="Text 24"/>
          <p:cNvSpPr txBox="1"/>
          <p:nvPr/>
        </p:nvSpPr>
        <p:spPr>
          <a:xfrm>
            <a:off x="2269998" y="4165041"/>
            <a:ext cx="1437894" cy="146304"/>
          </a:xfrm>
          <a:prstGeom prst="rect">
            <a:avLst/>
          </a:prstGeom>
          <a:noFill/>
          <a:ln/>
        </p:spPr>
        <p:txBody>
          <a:bodyPr wrap="square" lIns="0" tIns="0" rIns="0" bIns="0" rtlCol="0" anchor="t"/>
          <a:lstStyle/>
          <a:p>
            <a:pPr indent="0" marL="0">
              <a:buNone/>
            </a:pPr>
            <a:r>
              <a:rPr lang="en-US" sz="720" b="1" dirty="0">
                <a:solidFill>
                  <a:srgbClr val="3BAF90"/>
                </a:solidFill>
                <a:latin typeface="Nunito" pitchFamily="34" charset="0"/>
                <a:ea typeface="Nunito" pitchFamily="34" charset="-122"/>
                <a:cs typeface="Nunito" pitchFamily="34" charset="-120"/>
              </a:rPr>
              <a:t>+5.6% vs. consensus</a:t>
            </a:r>
            <a:endParaRPr lang="en-US" sz="720" dirty="0"/>
          </a:p>
        </p:txBody>
      </p:sp>
      <p:sp>
        <p:nvSpPr>
          <p:cNvPr id="29" name="Shape 25"/>
          <p:cNvSpPr/>
          <p:nvPr/>
        </p:nvSpPr>
        <p:spPr>
          <a:xfrm>
            <a:off x="3781044" y="3698697"/>
            <a:ext cx="0" cy="676656"/>
          </a:xfrm>
          <a:prstGeom prst="line">
            <a:avLst/>
          </a:prstGeom>
          <a:noFill/>
          <a:ln w="7620">
            <a:solidFill>
              <a:srgbClr val="D6D9DE"/>
            </a:solidFill>
            <a:prstDash val="solid"/>
          </a:ln>
        </p:spPr>
      </p:sp>
      <p:sp>
        <p:nvSpPr>
          <p:cNvPr id="30" name="Text 26"/>
          <p:cNvSpPr txBox="1"/>
          <p:nvPr/>
        </p:nvSpPr>
        <p:spPr>
          <a:xfrm>
            <a:off x="3890772" y="3780993"/>
            <a:ext cx="1437894" cy="146304"/>
          </a:xfrm>
          <a:prstGeom prst="rect">
            <a:avLst/>
          </a:prstGeom>
          <a:noFill/>
          <a:ln/>
        </p:spPr>
        <p:txBody>
          <a:bodyPr wrap="square" lIns="0" tIns="0" rIns="0" bIns="0" rtlCol="0" anchor="t"/>
          <a:lstStyle/>
          <a:p>
            <a:pPr indent="0" marL="0">
              <a:buNone/>
            </a:pPr>
            <a:r>
              <a:rPr lang="en-US" sz="720" b="1" dirty="0">
                <a:solidFill>
                  <a:srgbClr val="6B7280"/>
                </a:solidFill>
                <a:latin typeface="Nunito" pitchFamily="34" charset="0"/>
                <a:ea typeface="Nunito" pitchFamily="34" charset="-122"/>
                <a:cs typeface="Nunito" pitchFamily="34" charset="-120"/>
              </a:rPr>
              <a:t>Gross margin</a:t>
            </a:r>
            <a:endParaRPr lang="en-US" sz="720" dirty="0"/>
          </a:p>
        </p:txBody>
      </p:sp>
      <p:sp>
        <p:nvSpPr>
          <p:cNvPr id="31" name="Text 27"/>
          <p:cNvSpPr txBox="1"/>
          <p:nvPr/>
        </p:nvSpPr>
        <p:spPr>
          <a:xfrm>
            <a:off x="3890772" y="3927297"/>
            <a:ext cx="1437894" cy="237744"/>
          </a:xfrm>
          <a:prstGeom prst="rect">
            <a:avLst/>
          </a:prstGeom>
          <a:noFill/>
          <a:ln/>
        </p:spPr>
        <p:txBody>
          <a:bodyPr wrap="square" lIns="0" tIns="0" rIns="0" bIns="0" rtlCol="0" anchor="t"/>
          <a:lstStyle/>
          <a:p>
            <a:pPr indent="0" marL="0">
              <a:buNone/>
            </a:pPr>
            <a:r>
              <a:rPr lang="en-US" sz="1300" b="1" dirty="0">
                <a:solidFill>
                  <a:srgbClr val="202945"/>
                </a:solidFill>
                <a:latin typeface="Nunito" pitchFamily="34" charset="0"/>
                <a:ea typeface="Nunito" pitchFamily="34" charset="-122"/>
                <a:cs typeface="Nunito" pitchFamily="34" charset="-120"/>
              </a:rPr>
              <a:t>53.4%</a:t>
            </a:r>
            <a:endParaRPr lang="en-US" sz="1300" dirty="0"/>
          </a:p>
        </p:txBody>
      </p:sp>
      <p:sp>
        <p:nvSpPr>
          <p:cNvPr id="32" name="Text 28"/>
          <p:cNvSpPr txBox="1"/>
          <p:nvPr/>
        </p:nvSpPr>
        <p:spPr>
          <a:xfrm>
            <a:off x="3890772" y="4165041"/>
            <a:ext cx="1437894" cy="146304"/>
          </a:xfrm>
          <a:prstGeom prst="rect">
            <a:avLst/>
          </a:prstGeom>
          <a:noFill/>
          <a:ln/>
        </p:spPr>
        <p:txBody>
          <a:bodyPr wrap="square" lIns="0" tIns="0" rIns="0" bIns="0" rtlCol="0" anchor="t"/>
          <a:lstStyle/>
          <a:p>
            <a:pPr indent="0" marL="0">
              <a:buNone/>
            </a:pPr>
            <a:r>
              <a:rPr lang="en-US" sz="720" b="1" dirty="0">
                <a:solidFill>
                  <a:srgbClr val="3BAF90"/>
                </a:solidFill>
                <a:latin typeface="Nunito" pitchFamily="34" charset="0"/>
                <a:ea typeface="Nunito" pitchFamily="34" charset="-122"/>
                <a:cs typeface="Nunito" pitchFamily="34" charset="-120"/>
              </a:rPr>
              <a:t>+80bp vs. consensus</a:t>
            </a:r>
            <a:endParaRPr lang="en-US" sz="720" dirty="0"/>
          </a:p>
        </p:txBody>
      </p:sp>
      <p:sp>
        <p:nvSpPr>
          <p:cNvPr id="33" name="Shape 29"/>
          <p:cNvSpPr/>
          <p:nvPr/>
        </p:nvSpPr>
        <p:spPr>
          <a:xfrm>
            <a:off x="5401818" y="3698697"/>
            <a:ext cx="0" cy="676656"/>
          </a:xfrm>
          <a:prstGeom prst="line">
            <a:avLst/>
          </a:prstGeom>
          <a:noFill/>
          <a:ln w="7620">
            <a:solidFill>
              <a:srgbClr val="D6D9DE"/>
            </a:solidFill>
            <a:prstDash val="solid"/>
          </a:ln>
        </p:spPr>
      </p:sp>
      <p:sp>
        <p:nvSpPr>
          <p:cNvPr id="34" name="Text 30"/>
          <p:cNvSpPr txBox="1"/>
          <p:nvPr/>
        </p:nvSpPr>
        <p:spPr>
          <a:xfrm>
            <a:off x="5511546" y="3780993"/>
            <a:ext cx="1437894" cy="146304"/>
          </a:xfrm>
          <a:prstGeom prst="rect">
            <a:avLst/>
          </a:prstGeom>
          <a:noFill/>
          <a:ln/>
        </p:spPr>
        <p:txBody>
          <a:bodyPr wrap="square" lIns="0" tIns="0" rIns="0" bIns="0" rtlCol="0" anchor="t"/>
          <a:lstStyle/>
          <a:p>
            <a:pPr indent="0" marL="0">
              <a:buNone/>
            </a:pPr>
            <a:r>
              <a:rPr lang="en-US" sz="720" b="1" dirty="0">
                <a:solidFill>
                  <a:srgbClr val="6B7280"/>
                </a:solidFill>
                <a:latin typeface="Nunito" pitchFamily="34" charset="0"/>
                <a:ea typeface="Nunito" pitchFamily="34" charset="-122"/>
                <a:cs typeface="Nunito" pitchFamily="34" charset="-120"/>
              </a:rPr>
              <a:t>Q4 revenue guide</a:t>
            </a:r>
            <a:endParaRPr lang="en-US" sz="720" dirty="0"/>
          </a:p>
        </p:txBody>
      </p:sp>
      <p:sp>
        <p:nvSpPr>
          <p:cNvPr id="35" name="Text 31"/>
          <p:cNvSpPr txBox="1"/>
          <p:nvPr/>
        </p:nvSpPr>
        <p:spPr>
          <a:xfrm>
            <a:off x="5511546" y="3927297"/>
            <a:ext cx="1437894" cy="237744"/>
          </a:xfrm>
          <a:prstGeom prst="rect">
            <a:avLst/>
          </a:prstGeom>
          <a:noFill/>
          <a:ln/>
        </p:spPr>
        <p:txBody>
          <a:bodyPr wrap="square" lIns="0" tIns="0" rIns="0" bIns="0" rtlCol="0" anchor="t"/>
          <a:lstStyle/>
          <a:p>
            <a:pPr indent="0" marL="0">
              <a:buNone/>
            </a:pPr>
            <a:r>
              <a:rPr lang="en-US" sz="1300" b="1" dirty="0">
                <a:solidFill>
                  <a:srgbClr val="202945"/>
                </a:solidFill>
                <a:latin typeface="Nunito" pitchFamily="34" charset="0"/>
                <a:ea typeface="Nunito" pitchFamily="34" charset="-122"/>
                <a:cs typeface="Nunito" pitchFamily="34" charset="-120"/>
              </a:rPr>
              <a:t>EUR 9.6bn</a:t>
            </a:r>
            <a:endParaRPr lang="en-US" sz="1300" dirty="0"/>
          </a:p>
        </p:txBody>
      </p:sp>
      <p:sp>
        <p:nvSpPr>
          <p:cNvPr id="36" name="Text 32"/>
          <p:cNvSpPr txBox="1"/>
          <p:nvPr/>
        </p:nvSpPr>
        <p:spPr>
          <a:xfrm>
            <a:off x="5511546" y="4165041"/>
            <a:ext cx="1437894" cy="146304"/>
          </a:xfrm>
          <a:prstGeom prst="rect">
            <a:avLst/>
          </a:prstGeom>
          <a:noFill/>
          <a:ln/>
        </p:spPr>
        <p:txBody>
          <a:bodyPr wrap="square" lIns="0" tIns="0" rIns="0" bIns="0" rtlCol="0" anchor="t"/>
          <a:lstStyle/>
          <a:p>
            <a:pPr indent="0" marL="0">
              <a:buNone/>
            </a:pPr>
            <a:r>
              <a:rPr lang="en-US" sz="720" b="1" dirty="0">
                <a:solidFill>
                  <a:srgbClr val="FF6C0E"/>
                </a:solidFill>
                <a:latin typeface="Nunito" pitchFamily="34" charset="0"/>
                <a:ea typeface="Nunito" pitchFamily="34" charset="-122"/>
                <a:cs typeface="Nunito" pitchFamily="34" charset="-120"/>
              </a:rPr>
              <a:t>-2.3% vs. consensus</a:t>
            </a:r>
            <a:endParaRPr lang="en-US" sz="720" dirty="0"/>
          </a:p>
        </p:txBody>
      </p:sp>
      <p:sp>
        <p:nvSpPr>
          <p:cNvPr id="37" name="Text 33"/>
          <p:cNvSpPr txBox="1"/>
          <p:nvPr/>
        </p:nvSpPr>
        <p:spPr>
          <a:xfrm>
            <a:off x="539496" y="4494225"/>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What the quarter means for the investment case</a:t>
            </a:r>
            <a:endParaRPr lang="en-US" sz="1100" dirty="0"/>
          </a:p>
        </p:txBody>
      </p:sp>
      <p:sp>
        <p:nvSpPr>
          <p:cNvPr id="38" name="Text 34"/>
          <p:cNvSpPr txBox="1"/>
          <p:nvPr/>
        </p:nvSpPr>
        <p:spPr>
          <a:xfrm>
            <a:off x="539496" y="4741113"/>
            <a:ext cx="6483096" cy="645871"/>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Orders of EUR 7.1bn beat consensus by 12% and the EUV share rose to 58%, the highest since Q2 2024, while gross margin reached 53.4% against a guide of 51 to 53%. We read the mix shift as structural rather than cyclical, and the guidance for Q4 implies a run-rate above the FY27 consensus. The debate now moves from demand to capacity. Orders of EUR 7.1bn beat consensus by 12% and the EUV share rose to 58%, the highest since Q2 2024, while gross margin.</a:t>
            </a:r>
            <a:endParaRPr lang="en-US" sz="870" dirty="0"/>
          </a:p>
        </p:txBody>
      </p:sp>
      <p:sp>
        <p:nvSpPr>
          <p:cNvPr id="39" name="Text 35"/>
          <p:cNvSpPr txBox="1"/>
          <p:nvPr/>
        </p:nvSpPr>
        <p:spPr>
          <a:xfrm>
            <a:off x="539496" y="5466537"/>
            <a:ext cx="6483096" cy="182880"/>
          </a:xfrm>
          <a:prstGeom prst="rect">
            <a:avLst/>
          </a:prstGeom>
          <a:noFill/>
          <a:ln/>
        </p:spPr>
        <p:txBody>
          <a:bodyPr wrap="square" lIns="0" tIns="0" rIns="0" bIns="0" rtlCol="0" anchor="t"/>
          <a:lstStyle/>
          <a:p>
            <a:pPr indent="0" marL="0">
              <a:buNone/>
            </a:pPr>
            <a:r>
              <a:rPr lang="en-US" sz="950" b="1" dirty="0">
                <a:solidFill>
                  <a:srgbClr val="FF6C0E"/>
                </a:solidFill>
                <a:latin typeface="Nunito" pitchFamily="34" charset="0"/>
                <a:ea typeface="Nunito" pitchFamily="34" charset="-122"/>
                <a:cs typeface="Nunito" pitchFamily="34" charset="-120"/>
              </a:rPr>
              <a:t>Chart 1</a:t>
            </a:r>
            <a:pPr indent="0" marL="0">
              <a:buNone/>
            </a:pPr>
            <a:r>
              <a:rPr lang="en-US" sz="950" b="1" dirty="0">
                <a:solidFill>
                  <a:srgbClr val="202945"/>
                </a:solidFill>
                <a:latin typeface="Nunito" pitchFamily="34" charset="0"/>
                <a:ea typeface="Nunito" pitchFamily="34" charset="-122"/>
                <a:cs typeface="Nunito" pitchFamily="34" charset="-120"/>
              </a:rPr>
              <a:t> · ASML Q3 2026: results vs. consensus</a:t>
            </a:r>
            <a:endParaRPr lang="en-US" sz="950" dirty="0"/>
          </a:p>
        </p:txBody>
      </p:sp>
      <p:sp>
        <p:nvSpPr>
          <p:cNvPr id="40" name="Text 36"/>
          <p:cNvSpPr txBox="1"/>
          <p:nvPr/>
        </p:nvSpPr>
        <p:spPr>
          <a:xfrm>
            <a:off x="539496" y="5649417"/>
            <a:ext cx="6483096" cy="118872"/>
          </a:xfrm>
          <a:prstGeom prst="rect">
            <a:avLst/>
          </a:prstGeom>
          <a:noFill/>
          <a:ln/>
        </p:spPr>
        <p:txBody>
          <a:bodyPr wrap="square" lIns="0" tIns="0" rIns="0" bIns="0" rtlCol="0" anchor="t"/>
          <a:lstStyle/>
          <a:p>
            <a:pPr indent="0" marL="0">
              <a:lnSpc>
                <a:spcPct val="108333"/>
              </a:lnSpc>
              <a:buNone/>
            </a:pPr>
            <a:r>
              <a:rPr lang="en-US" sz="720" b="1" dirty="0">
                <a:solidFill>
                  <a:srgbClr val="6B7280"/>
                </a:solidFill>
                <a:latin typeface="Nunito" pitchFamily="34" charset="0"/>
                <a:ea typeface="Nunito" pitchFamily="34" charset="-122"/>
                <a:cs typeface="Nunito" pitchFamily="34" charset="-120"/>
              </a:rPr>
              <a:t>Surprise vs. Bloomberg consensus, % · guidance midpoint vs. consensus · illustrative numbers</a:t>
            </a:r>
            <a:endParaRPr lang="en-US" sz="720" dirty="0"/>
          </a:p>
        </p:txBody>
      </p:sp>
      <p:pic>
        <p:nvPicPr>
          <p:cNvPr id="41" name="Image 2" descr="/home/claude/c1_crop.png">    </p:cNvPr>
          <p:cNvPicPr>
            <a:picLocks noChangeAspect="1"/>
          </p:cNvPicPr>
          <p:nvPr/>
        </p:nvPicPr>
        <p:blipFill>
          <a:blip r:embed="rId3"/>
          <a:stretch>
            <a:fillRect/>
          </a:stretch>
        </p:blipFill>
        <p:spPr>
          <a:xfrm>
            <a:off x="1382298" y="5814009"/>
            <a:ext cx="4797491" cy="1496817"/>
          </a:xfrm>
          <a:prstGeom prst="rect">
            <a:avLst/>
          </a:prstGeom>
        </p:spPr>
      </p:pic>
      <p:sp>
        <p:nvSpPr>
          <p:cNvPr id="42" name="Text 37"/>
          <p:cNvSpPr txBox="1"/>
          <p:nvPr/>
        </p:nvSpPr>
        <p:spPr>
          <a:xfrm>
            <a:off x="539496" y="7365690"/>
            <a:ext cx="6483096" cy="488975"/>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Orders of EUR 7.1bn beat consensus by 12% and the EUV share rose to 58%, the highest since Q2 2024, while gross margin reached 53.4% against a guide of 51 to 53%. We read the mix shift as structural rather than cyclical, and the guidance for Q4 implies a run-rate above the FY27 consensus. The debate now moves from demand to capacity. Orders of EUR.</a:t>
            </a:r>
            <a:endParaRPr lang="en-US" sz="870" dirty="0"/>
          </a:p>
        </p:txBody>
      </p:sp>
      <p:sp>
        <p:nvSpPr>
          <p:cNvPr id="43" name="Text 38"/>
          <p:cNvSpPr txBox="1"/>
          <p:nvPr/>
        </p:nvSpPr>
        <p:spPr>
          <a:xfrm>
            <a:off x="539496" y="7970795"/>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Base case and implications</a:t>
            </a:r>
            <a:endParaRPr lang="en-US" sz="1100" dirty="0"/>
          </a:p>
        </p:txBody>
      </p:sp>
      <p:sp>
        <p:nvSpPr>
          <p:cNvPr id="44" name="Text 39"/>
          <p:cNvSpPr txBox="1"/>
          <p:nvPr/>
        </p:nvSpPr>
        <p:spPr>
          <a:xfrm>
            <a:off x="539496" y="8217683"/>
            <a:ext cx="6483096" cy="645871"/>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Orders of EUR 7.1bn beat consensus by 12% and the EUV share rose to 58%, the highest since Q2 2024, while gross margin reached 53.4% against a guide of 51 to 53%. We read the mix shift as structural rather than cyclical, and the guidance for Q4 implies a run-rate above the FY27 consensus. The debate now moves from demand to capacity. Orders of EUR 7.1bn beat consensus by 12%.</a:t>
            </a:r>
            <a:endParaRPr lang="en-US" sz="870" dirty="0"/>
          </a:p>
        </p:txBody>
      </p:sp>
      <p:sp>
        <p:nvSpPr>
          <p:cNvPr id="45" name="Shape 40"/>
          <p:cNvSpPr/>
          <p:nvPr/>
        </p:nvSpPr>
        <p:spPr>
          <a:xfrm>
            <a:off x="3781044" y="8979683"/>
            <a:ext cx="0" cy="985647"/>
          </a:xfrm>
          <a:prstGeom prst="line">
            <a:avLst/>
          </a:prstGeom>
          <a:noFill/>
          <a:ln w="7620">
            <a:solidFill>
              <a:srgbClr val="D6D9DE"/>
            </a:solidFill>
            <a:prstDash val="solid"/>
          </a:ln>
        </p:spPr>
      </p:sp>
      <p:sp>
        <p:nvSpPr>
          <p:cNvPr id="46" name="Text 41"/>
          <p:cNvSpPr txBox="1"/>
          <p:nvPr/>
        </p:nvSpPr>
        <p:spPr>
          <a:xfrm>
            <a:off x="539496" y="8979683"/>
            <a:ext cx="3058668" cy="155448"/>
          </a:xfrm>
          <a:prstGeom prst="rect">
            <a:avLst/>
          </a:prstGeom>
          <a:noFill/>
          <a:ln/>
        </p:spPr>
        <p:txBody>
          <a:bodyPr wrap="square" lIns="0" tIns="0" rIns="0" bIns="0" rtlCol="0" anchor="t"/>
          <a:lstStyle/>
          <a:p>
            <a:pPr indent="0" marL="0">
              <a:buNone/>
            </a:pPr>
            <a:r>
              <a:rPr lang="en-US" sz="780" b="1" spc="100" kern="0" dirty="0">
                <a:solidFill>
                  <a:srgbClr val="FF6C0E"/>
                </a:solidFill>
                <a:latin typeface="Nunito" pitchFamily="34" charset="0"/>
                <a:ea typeface="Nunito" pitchFamily="34" charset="-122"/>
                <a:cs typeface="Nunito" pitchFamily="34" charset="-120"/>
              </a:rPr>
              <a:t>What would strengthen our view</a:t>
            </a:r>
            <a:endParaRPr lang="en-US" sz="780" dirty="0"/>
          </a:p>
        </p:txBody>
      </p:sp>
      <p:sp>
        <p:nvSpPr>
          <p:cNvPr id="47" name="Text 42"/>
          <p:cNvSpPr txBox="1"/>
          <p:nvPr/>
        </p:nvSpPr>
        <p:spPr>
          <a:xfrm>
            <a:off x="539496" y="9171707"/>
            <a:ext cx="3058668" cy="784479"/>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Orders of EUR 7.1bn beat consensus by 12% and the EUV share rose to 58%, the highest since Q2 2024, while gross margin reached 53.4% against a guide of 51 to 53%. We read the mix shift as structural rather than cyclical, and the guidance for Q4 implies a run-rate.</a:t>
            </a:r>
            <a:endParaRPr lang="en-US" sz="870" dirty="0"/>
          </a:p>
        </p:txBody>
      </p:sp>
      <p:sp>
        <p:nvSpPr>
          <p:cNvPr id="48" name="Text 43"/>
          <p:cNvSpPr txBox="1"/>
          <p:nvPr/>
        </p:nvSpPr>
        <p:spPr>
          <a:xfrm>
            <a:off x="3963924" y="8979683"/>
            <a:ext cx="3058668" cy="155448"/>
          </a:xfrm>
          <a:prstGeom prst="rect">
            <a:avLst/>
          </a:prstGeom>
          <a:noFill/>
          <a:ln/>
        </p:spPr>
        <p:txBody>
          <a:bodyPr wrap="square" lIns="0" tIns="0" rIns="0" bIns="0" rtlCol="0" anchor="t"/>
          <a:lstStyle/>
          <a:p>
            <a:pPr indent="0" marL="0">
              <a:buNone/>
            </a:pPr>
            <a:r>
              <a:rPr lang="en-US" sz="780" b="1" spc="100" kern="0" dirty="0">
                <a:solidFill>
                  <a:srgbClr val="FF6C0E"/>
                </a:solidFill>
                <a:latin typeface="Nunito" pitchFamily="34" charset="0"/>
                <a:ea typeface="Nunito" pitchFamily="34" charset="-122"/>
                <a:cs typeface="Nunito" pitchFamily="34" charset="-120"/>
              </a:rPr>
              <a:t>What would change our view</a:t>
            </a:r>
            <a:endParaRPr lang="en-US" sz="780" dirty="0"/>
          </a:p>
        </p:txBody>
      </p:sp>
      <p:sp>
        <p:nvSpPr>
          <p:cNvPr id="49" name="Text 44"/>
          <p:cNvSpPr txBox="1"/>
          <p:nvPr/>
        </p:nvSpPr>
        <p:spPr>
          <a:xfrm>
            <a:off x="3963924" y="9171707"/>
            <a:ext cx="3058668" cy="784479"/>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Orders of EUR 7.1bn beat consensus by 12% and the EUV share rose to 58%, the highest since Q2 2024, while gross margin reached 53.4% against a guide of 51 to 53%. We read the mix shift as structural rather than cyclical, and the guidance for Q4 implies a run-rate.</a:t>
            </a:r>
            <a:endParaRPr lang="en-US" sz="87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home/claude/syz_logo_new.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Earnings update · 14 October 2026</a:t>
            </a:r>
            <a:endParaRPr lang="en-US" sz="700" dirty="0"/>
          </a:p>
        </p:txBody>
      </p:sp>
      <p:sp>
        <p:nvSpPr>
          <p:cNvPr id="5" name="Text 1"/>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2 / 3</a:t>
            </a:r>
            <a:endParaRPr lang="en-US" sz="700" dirty="0"/>
          </a:p>
        </p:txBody>
      </p:sp>
      <p:sp>
        <p:nvSpPr>
          <p:cNvPr id="6" name="Text 2"/>
          <p:cNvSpPr txBox="1"/>
          <p:nvPr/>
        </p:nvSpPr>
        <p:spPr>
          <a:xfrm>
            <a:off x="539496" y="836676"/>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Results: the beat was mix, not volume</a:t>
            </a:r>
            <a:endParaRPr lang="en-US" sz="1100" dirty="0"/>
          </a:p>
        </p:txBody>
      </p:sp>
      <p:sp>
        <p:nvSpPr>
          <p:cNvPr id="7" name="Text 3"/>
          <p:cNvSpPr txBox="1"/>
          <p:nvPr/>
        </p:nvSpPr>
        <p:spPr>
          <a:xfrm>
            <a:off x="539496" y="1083564"/>
            <a:ext cx="6483096" cy="802767"/>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Orders of EUR 7.1bn beat consensus by 12% and the EUV share rose to 58%, the highest since Q2 2024, while gross margin reached 53.4% against a guide of 51 to 53%. We read the mix shift as structural rather than cyclical, and the guidance for Q4 implies a run-rate above the FY27 consensus. The debate now moves from demand to capacity. Orders of EUR 7.1bn beat consensus by 12% and the EUV share rose to 58%, the highest since Q2 2024, while gross margin reached 53.4% against a guide of 51 to 53%. We read the mix shift as structural rather than cyclical, and the guidance for Q4 implies.</a:t>
            </a:r>
            <a:endParaRPr lang="en-US" sz="870" dirty="0"/>
          </a:p>
        </p:txBody>
      </p:sp>
      <p:sp>
        <p:nvSpPr>
          <p:cNvPr id="8" name="Text 4"/>
          <p:cNvSpPr txBox="1"/>
          <p:nvPr/>
        </p:nvSpPr>
        <p:spPr>
          <a:xfrm>
            <a:off x="539496" y="1965884"/>
            <a:ext cx="6483096" cy="802767"/>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Orders of EUR 7.1bn beat consensus by 12% and the EUV share rose to 58%, the highest since Q2 2024, while gross margin reached 53.4% against a guide of 51 to 53%. We read the mix shift as structural rather than cyclical, and the guidance for Q4 implies a run-rate above the FY27 consensus. The debate now moves from demand to capacity. Orders of EUR 7.1bn beat consensus by 12% and the EUV share rose to 58%, the highest since Q2 2024, while gross margin reached 53.4% against a guide of 51 to 53%. We read the mix shift as.</a:t>
            </a:r>
            <a:endParaRPr lang="en-US" sz="870" dirty="0"/>
          </a:p>
        </p:txBody>
      </p:sp>
      <p:sp>
        <p:nvSpPr>
          <p:cNvPr id="9" name="Text 5"/>
          <p:cNvSpPr txBox="1"/>
          <p:nvPr/>
        </p:nvSpPr>
        <p:spPr>
          <a:xfrm>
            <a:off x="539496" y="2884780"/>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Outlook: guidance leans on EUV and services</a:t>
            </a:r>
            <a:endParaRPr lang="en-US" sz="1100" dirty="0"/>
          </a:p>
        </p:txBody>
      </p:sp>
      <p:sp>
        <p:nvSpPr>
          <p:cNvPr id="10" name="Text 6"/>
          <p:cNvSpPr txBox="1"/>
          <p:nvPr/>
        </p:nvSpPr>
        <p:spPr>
          <a:xfrm>
            <a:off x="539496" y="3131668"/>
            <a:ext cx="6483096" cy="802767"/>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Orders of EUR 7.1bn beat consensus by 12% and the EUV share rose to 58%, the highest since Q2 2024, while gross margin reached 53.4% against a guide of 51 to 53%. We read the mix shift as structural rather than cyclical, and the guidance for Q4 implies a run-rate above the FY27 consensus. The debate now moves from demand to capacity. Orders of EUR 7.1bn beat consensus by 12% and the EUV share rose to 58%, the highest since Q2 2024, while gross margin reached 53.4% against a guide of 51 to 53%. We read the mix shift as structural rather than cyclical, and.</a:t>
            </a:r>
            <a:endParaRPr lang="en-US" sz="870" dirty="0"/>
          </a:p>
        </p:txBody>
      </p:sp>
      <p:sp>
        <p:nvSpPr>
          <p:cNvPr id="11" name="Text 7"/>
          <p:cNvSpPr txBox="1"/>
          <p:nvPr/>
        </p:nvSpPr>
        <p:spPr>
          <a:xfrm>
            <a:off x="539496" y="4050563"/>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Valuation: the upcycle is priced, the next leg is not</a:t>
            </a:r>
            <a:endParaRPr lang="en-US" sz="1100" dirty="0"/>
          </a:p>
        </p:txBody>
      </p:sp>
      <p:sp>
        <p:nvSpPr>
          <p:cNvPr id="12" name="Text 8"/>
          <p:cNvSpPr txBox="1"/>
          <p:nvPr/>
        </p:nvSpPr>
        <p:spPr>
          <a:xfrm>
            <a:off x="539496" y="4297451"/>
            <a:ext cx="6483096" cy="182880"/>
          </a:xfrm>
          <a:prstGeom prst="rect">
            <a:avLst/>
          </a:prstGeom>
          <a:noFill/>
          <a:ln/>
        </p:spPr>
        <p:txBody>
          <a:bodyPr wrap="square" lIns="0" tIns="0" rIns="0" bIns="0" rtlCol="0" anchor="t"/>
          <a:lstStyle/>
          <a:p>
            <a:pPr indent="0" marL="0">
              <a:buNone/>
            </a:pPr>
            <a:r>
              <a:rPr lang="en-US" sz="950" b="1" dirty="0">
                <a:solidFill>
                  <a:srgbClr val="FF6C0E"/>
                </a:solidFill>
                <a:latin typeface="Nunito" pitchFamily="34" charset="0"/>
                <a:ea typeface="Nunito" pitchFamily="34" charset="-122"/>
                <a:cs typeface="Nunito" pitchFamily="34" charset="-120"/>
              </a:rPr>
              <a:t>Chart 2</a:t>
            </a:r>
            <a:pPr indent="0" marL="0">
              <a:buNone/>
            </a:pPr>
            <a:r>
              <a:rPr lang="en-US" sz="950" b="1" dirty="0">
                <a:solidFill>
                  <a:srgbClr val="202945"/>
                </a:solidFill>
                <a:latin typeface="Nunito" pitchFamily="34" charset="0"/>
                <a:ea typeface="Nunito" pitchFamily="34" charset="-122"/>
                <a:cs typeface="Nunito" pitchFamily="34" charset="-120"/>
              </a:rPr>
              <a:t> · ASML: share price vs. consensus earnings and valuation</a:t>
            </a:r>
            <a:endParaRPr lang="en-US" sz="950" dirty="0"/>
          </a:p>
        </p:txBody>
      </p:sp>
      <p:sp>
        <p:nvSpPr>
          <p:cNvPr id="13" name="Text 9"/>
          <p:cNvSpPr txBox="1"/>
          <p:nvPr/>
        </p:nvSpPr>
        <p:spPr>
          <a:xfrm>
            <a:off x="539496" y="4480331"/>
            <a:ext cx="6483096" cy="237744"/>
          </a:xfrm>
          <a:prstGeom prst="rect">
            <a:avLst/>
          </a:prstGeom>
          <a:noFill/>
          <a:ln/>
        </p:spPr>
        <p:txBody>
          <a:bodyPr wrap="square" lIns="0" tIns="0" rIns="0" bIns="0" rtlCol="0" anchor="t"/>
          <a:lstStyle/>
          <a:p>
            <a:pPr indent="0" marL="0">
              <a:lnSpc>
                <a:spcPct val="108333"/>
              </a:lnSpc>
              <a:buNone/>
            </a:pPr>
            <a:r>
              <a:rPr lang="en-US" sz="720" b="1" dirty="0">
                <a:solidFill>
                  <a:srgbClr val="6B7280"/>
                </a:solidFill>
                <a:latin typeface="Nunito" pitchFamily="34" charset="0"/>
                <a:ea typeface="Nunito" pitchFamily="34" charset="-122"/>
                <a:cs typeface="Nunito" pitchFamily="34" charset="-120"/>
              </a:rPr>
              <a:t>ASML NA Equity, weekly · BEst 12m-forward consensus · 40-week simple MA · log scale · P/E shaded above (orange) / below (blue) its 2010 to 2026 average</a:t>
            </a:r>
            <a:endParaRPr lang="en-US" sz="720" dirty="0"/>
          </a:p>
        </p:txBody>
      </p:sp>
      <p:pic>
        <p:nvPicPr>
          <p:cNvPr id="14" name="Image 2" descr="/home/claude/c2_crop.png">    </p:cNvPr>
          <p:cNvPicPr>
            <a:picLocks noChangeAspect="1"/>
          </p:cNvPicPr>
          <p:nvPr/>
        </p:nvPicPr>
        <p:blipFill>
          <a:blip r:embed="rId3"/>
          <a:stretch>
            <a:fillRect/>
          </a:stretch>
        </p:blipFill>
        <p:spPr>
          <a:xfrm>
            <a:off x="1187806" y="4763795"/>
            <a:ext cx="5186477" cy="3103588"/>
          </a:xfrm>
          <a:prstGeom prst="rect">
            <a:avLst/>
          </a:prstGeom>
        </p:spPr>
      </p:pic>
      <p:sp>
        <p:nvSpPr>
          <p:cNvPr id="15" name="Text 10"/>
          <p:cNvSpPr txBox="1"/>
          <p:nvPr/>
        </p:nvSpPr>
        <p:spPr>
          <a:xfrm>
            <a:off x="539496" y="7922247"/>
            <a:ext cx="6483096" cy="802767"/>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Orders of EUR 7.1bn beat consensus by 12% and the EUV share rose to 58%, the highest since Q2 2024, while gross margin reached 53.4% against a guide of 51 to 53%. We read the mix shift as structural rather than cyclical, and the guidance for Q4 implies a run-rate above the FY27 consensus. The debate now moves from demand to capacity. Orders of EUR 7.1bn beat consensus by 12% and the EUV share rose to 58%, the highest since Q2 2024, while gross margin reached 53.4% against a guide of 51 to 53%. We.</a:t>
            </a:r>
            <a:endParaRPr lang="en-US" sz="870" dirty="0"/>
          </a:p>
        </p:txBody>
      </p:sp>
      <p:sp>
        <p:nvSpPr>
          <p:cNvPr id="16" name="Text 11"/>
          <p:cNvSpPr txBox="1"/>
          <p:nvPr/>
        </p:nvSpPr>
        <p:spPr>
          <a:xfrm>
            <a:off x="539496" y="8841143"/>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Investment implications and positioning</a:t>
            </a:r>
            <a:endParaRPr lang="en-US" sz="1100" dirty="0"/>
          </a:p>
        </p:txBody>
      </p:sp>
      <p:sp>
        <p:nvSpPr>
          <p:cNvPr id="17" name="Text 12"/>
          <p:cNvSpPr txBox="1"/>
          <p:nvPr/>
        </p:nvSpPr>
        <p:spPr>
          <a:xfrm>
            <a:off x="539496" y="9088031"/>
            <a:ext cx="6483096" cy="802767"/>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Orders of EUR 7.1bn beat consensus by 12% and the EUV share rose to 58%, the highest since Q2 2024, while gross margin reached 53.4% against a guide of 51 to 53%. We read the mix shift as structural rather than cyclical, and the guidance for Q4 implies a run-rate above the FY27 consensus. The debate now moves from demand to capacity. Orders of EUR 7.1bn beat consensus by 12% and the EUV share rose to 58%, the highest since Q2 2024, while gross margin reached 53.4% against a guide of 51 to 53%. We read the mix shift as.</a:t>
            </a:r>
            <a:endParaRPr lang="en-US" sz="87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home/claude/syz_logo_new.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Earnings update · 14 October 2026</a:t>
            </a:r>
            <a:endParaRPr lang="en-US" sz="700" dirty="0"/>
          </a:p>
        </p:txBody>
      </p:sp>
      <p:sp>
        <p:nvSpPr>
          <p:cNvPr id="5" name="Text 1"/>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3 / 3</a:t>
            </a:r>
            <a:endParaRPr lang="en-US" sz="700" dirty="0"/>
          </a:p>
        </p:txBody>
      </p:sp>
      <p:sp>
        <p:nvSpPr>
          <p:cNvPr id="6" name="Text 2"/>
          <p:cNvSpPr txBox="1"/>
          <p:nvPr/>
        </p:nvSpPr>
        <p:spPr>
          <a:xfrm>
            <a:off x="539496" y="5881624"/>
            <a:ext cx="6483096" cy="182880"/>
          </a:xfrm>
          <a:prstGeom prst="rect">
            <a:avLst/>
          </a:prstGeom>
          <a:noFill/>
          <a:ln/>
        </p:spPr>
        <p:txBody>
          <a:bodyPr wrap="square" lIns="0" tIns="0" rIns="0" bIns="0" rtlCol="0" anchor="t"/>
          <a:lstStyle/>
          <a:p>
            <a:pPr indent="0" marL="0">
              <a:buNone/>
            </a:pPr>
            <a:r>
              <a:rPr lang="en-US" sz="680" b="1" dirty="0">
                <a:solidFill>
                  <a:srgbClr val="FF6C0E"/>
                </a:solidFill>
                <a:latin typeface="Nunito" pitchFamily="34" charset="0"/>
                <a:ea typeface="Nunito" pitchFamily="34" charset="-122"/>
                <a:cs typeface="Nunito" pitchFamily="34" charset="-120"/>
              </a:rPr>
              <a:t>SYZ</a:t>
            </a:r>
            <a:pPr indent="0" marL="0">
              <a:buNone/>
            </a:pPr>
            <a:r>
              <a:rPr lang="en-US" sz="680" b="1" dirty="0">
                <a:solidFill>
                  <a:srgbClr val="9AA0A8"/>
                </a:solidFill>
                <a:latin typeface="Nunito" pitchFamily="34" charset="0"/>
                <a:ea typeface="Nunito" pitchFamily="34" charset="-122"/>
                <a:cs typeface="Nunito" pitchFamily="34" charset="-120"/>
              </a:rPr>
              <a:t> Source: Syz Research, Bloomberg, company filings</a:t>
            </a:r>
            <a:endParaRPr lang="en-US" sz="680" dirty="0"/>
          </a:p>
        </p:txBody>
      </p:sp>
      <p:sp>
        <p:nvSpPr>
          <p:cNvPr id="7" name="Text 3"/>
          <p:cNvSpPr txBox="1"/>
          <p:nvPr/>
        </p:nvSpPr>
        <p:spPr>
          <a:xfrm>
            <a:off x="539496" y="6210808"/>
            <a:ext cx="6483096" cy="182880"/>
          </a:xfrm>
          <a:prstGeom prst="rect">
            <a:avLst/>
          </a:prstGeom>
          <a:noFill/>
          <a:ln/>
        </p:spPr>
        <p:txBody>
          <a:bodyPr wrap="square" lIns="0" tIns="0" rIns="0" bIns="0" rtlCol="0" anchor="t"/>
          <a:lstStyle/>
          <a:p>
            <a:pPr indent="0" marL="0">
              <a:buNone/>
            </a:pPr>
            <a:r>
              <a:rPr lang="en-US" sz="680" b="1" spc="120" kern="0" dirty="0">
                <a:solidFill>
                  <a:srgbClr val="FF6C0E"/>
                </a:solidFill>
                <a:latin typeface="Nunito" pitchFamily="34" charset="0"/>
                <a:ea typeface="Nunito" pitchFamily="34" charset="-122"/>
                <a:cs typeface="Nunito" pitchFamily="34" charset="-120"/>
              </a:rPr>
              <a:t>Disclaimer</a:t>
            </a:r>
            <a:endParaRPr lang="en-US" sz="680" dirty="0"/>
          </a:p>
        </p:txBody>
      </p:sp>
      <p:sp>
        <p:nvSpPr>
          <p:cNvPr id="8" name="Text 4"/>
          <p:cNvSpPr txBox="1"/>
          <p:nvPr/>
        </p:nvSpPr>
        <p:spPr>
          <a:xfrm>
            <a:off x="539496" y="6393688"/>
            <a:ext cx="6483096" cy="538480"/>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This communication has been issued and made available to recipients for the purpose of advertising investment services and/or financial instruments. It has been sent for information purposes and cannot be considered as an offer or a personalised recommendation to buy or sell a financial instrument or any other investment or currency. This communication does not constitute investment research within the meaning of regulatory rules applicable in the European Economic Area, or research under the rules of the U.S. Self-Regulatory Organizations.</a:t>
            </a:r>
            <a:endParaRPr lang="en-US" sz="680" dirty="0"/>
          </a:p>
        </p:txBody>
      </p:sp>
      <p:sp>
        <p:nvSpPr>
          <p:cNvPr id="9" name="Text 5"/>
          <p:cNvSpPr txBox="1"/>
          <p:nvPr/>
        </p:nvSpPr>
        <p:spPr>
          <a:xfrm>
            <a:off x="539496" y="6932168"/>
            <a:ext cx="6483096" cy="417576"/>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This information is made solely for professional and institutional clients as defined by the Swiss Financial Services Act, as well as qualified investors according to the Swiss Collective Investment Schemes Act. It is not intended for retail clients or non-qualified investors and consequently cannot be transmitted to any third party.</a:t>
            </a:r>
            <a:endParaRPr lang="en-US" sz="680" dirty="0"/>
          </a:p>
        </p:txBody>
      </p:sp>
      <p:sp>
        <p:nvSpPr>
          <p:cNvPr id="10" name="Text 6"/>
          <p:cNvSpPr txBox="1"/>
          <p:nvPr/>
        </p:nvSpPr>
        <p:spPr>
          <a:xfrm>
            <a:off x="539496" y="7349744"/>
            <a:ext cx="6483096" cy="417576"/>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This communication is not directed to any person in any jurisdiction where, by reason of that person’s nationality, residence or otherwise, its dissemination or use is prohibited. It cannot be quoted, reproduced, disclosed, distributed or otherwise referred to, in whole or in part, to any third party without the Bank’s prior written consent.</a:t>
            </a:r>
            <a:endParaRPr lang="en-US" sz="680" dirty="0"/>
          </a:p>
        </p:txBody>
      </p:sp>
      <p:sp>
        <p:nvSpPr>
          <p:cNvPr id="11" name="Text 7"/>
          <p:cNvSpPr txBox="1"/>
          <p:nvPr/>
        </p:nvSpPr>
        <p:spPr>
          <a:xfrm>
            <a:off x="539496" y="7767320"/>
            <a:ext cx="6483096" cy="780288"/>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This communication may contain information on past performances of a financial product, all kinds of economic and financial valuations and analyses, as well as opinions of the Bank or of third parties. Any market valuations, terms and calculation methods, yields and opinions expressed are subject to change without notice. The information and opinions contained herein have been compiled and provided in good faith, based on information obtained from sources believed to be trustworthy. However, such information has not been independently verified. No guarantee, representation, or warranty of any kind, whether express or implied, is provided by the Bank or by relevant data vendors and other sources with respect to the accuracy, reliability, currentness or exhaustiveness of the information communicated, the methodology employed or the prices contained herein.</a:t>
            </a:r>
            <a:endParaRPr lang="en-US" sz="680" dirty="0"/>
          </a:p>
        </p:txBody>
      </p:sp>
      <p:sp>
        <p:nvSpPr>
          <p:cNvPr id="12" name="Text 8"/>
          <p:cNvSpPr txBox="1"/>
          <p:nvPr/>
        </p:nvSpPr>
        <p:spPr>
          <a:xfrm>
            <a:off x="539496" y="8547608"/>
            <a:ext cx="6483096" cy="296672"/>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Past performance is not a reliable indicator of current or future results. Any reference to the past performance of an investment does not guarantee its future performance. Fluctuations in exchange rates may adversely affect the value, price or income of any investment.</a:t>
            </a:r>
            <a:endParaRPr lang="en-US" sz="680" dirty="0"/>
          </a:p>
        </p:txBody>
      </p:sp>
      <p:sp>
        <p:nvSpPr>
          <p:cNvPr id="13" name="Text 9"/>
          <p:cNvSpPr txBox="1"/>
          <p:nvPr/>
        </p:nvSpPr>
        <p:spPr>
          <a:xfrm>
            <a:off x="539496" y="8844280"/>
            <a:ext cx="6483096" cy="659384"/>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Nothing in the present communication constitutes investment, legal, accounting or tax advice. This information is purely objective since it does not take into consideration the personal situation (including financial knowledge and experience), the investment objectives and risk profile of any recipient. Moreover, certain financial instruments mentioned (in particular, but not exclusively, derivatives, options and futures) involve a high risk of loss and may not be suitable. Accordingly, recipients should consult their own advisors on such matters, including but not limited to the possible tax consequences of investing in any financial product mentioned herein, and make their own assessment of the suitability of such investment product.</a:t>
            </a:r>
            <a:endParaRPr lang="en-US" sz="680" dirty="0"/>
          </a:p>
        </p:txBody>
      </p:sp>
      <p:sp>
        <p:nvSpPr>
          <p:cNvPr id="14" name="Text 10"/>
          <p:cNvSpPr txBox="1"/>
          <p:nvPr/>
        </p:nvSpPr>
        <p:spPr>
          <a:xfrm>
            <a:off x="539496" y="9503664"/>
            <a:ext cx="6483096" cy="417576"/>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Should a recipient make an investment on the basis of the present communication, the recipient alone shall bear the consequences thereof. In no event shall the Bank, its directors, employees, affiliates or agents be held responsible for damages of any kind arising out of the use of all or part of the information provided herein.</a:t>
            </a:r>
            <a:endParaRPr lang="en-US" sz="6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uni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uni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ASML Q3 2026: orders confirm the upcycle, valuation leaves little slack</dc:title>
  <dc:subject>PptxGenJS Presentation</dc:subject>
  <dc:creator>Syz Research</dc:creator>
  <cp:lastModifiedBy>Syz Research</cp:lastModifiedBy>
  <cp:revision>1</cp:revision>
  <dcterms:created xsi:type="dcterms:W3CDTF">2026-10-15T04:57:29Z</dcterms:created>
  <dcterms:modified xsi:type="dcterms:W3CDTF">2026-10-15T04:57:29Z</dcterms:modified>
</cp:coreProperties>
</file>