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7562088" cy="10689336"/>
  <p:notesSz cx="10689336" cy="75620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28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1 / 3</a:t>
            </a:r>
            <a:endParaRPr lang="en-US" sz="700" dirty="0"/>
          </a:p>
        </p:txBody>
      </p:sp>
      <p:sp>
        <p:nvSpPr>
          <p:cNvPr id="6" name="Text 2"/>
          <p:cNvSpPr txBox="1"/>
          <p:nvPr/>
        </p:nvSpPr>
        <p:spPr>
          <a:xfrm>
            <a:off x="539496" y="836676"/>
            <a:ext cx="6483096" cy="155448"/>
          </a:xfrm>
          <a:prstGeom prst="rect">
            <a:avLst/>
          </a:prstGeom>
          <a:noFill/>
          <a:ln/>
        </p:spPr>
        <p:txBody>
          <a:bodyPr wrap="square" lIns="0" tIns="0" rIns="0" bIns="0" rtlCol="0" anchor="t"/>
          <a:lstStyle/>
          <a:p>
            <a:pPr indent="0" marL="0">
              <a:buNone/>
            </a:pPr>
            <a:r>
              <a:rPr lang="en-US" sz="700" b="1" spc="120" kern="0" dirty="0">
                <a:solidFill>
                  <a:srgbClr val="FF6C0E"/>
                </a:solidFill>
                <a:latin typeface="Nunito" pitchFamily="34" charset="0"/>
                <a:ea typeface="Nunito" pitchFamily="34" charset="-122"/>
                <a:cs typeface="Nunito" pitchFamily="34" charset="-120"/>
              </a:rPr>
              <a:t>Earnings update</a:t>
            </a:r>
            <a:endParaRPr lang="en-US" sz="700" dirty="0"/>
          </a:p>
        </p:txBody>
      </p:sp>
      <p:sp>
        <p:nvSpPr>
          <p:cNvPr id="7" name="Text 3"/>
          <p:cNvSpPr txBox="1"/>
          <p:nvPr/>
        </p:nvSpPr>
        <p:spPr>
          <a:xfrm>
            <a:off x="539496" y="1019556"/>
            <a:ext cx="6483096" cy="263398"/>
          </a:xfrm>
          <a:prstGeom prst="rect">
            <a:avLst/>
          </a:prstGeom>
          <a:noFill/>
          <a:ln/>
        </p:spPr>
        <p:txBody>
          <a:bodyPr wrap="square" lIns="0" tIns="0" rIns="0" bIns="0" rtlCol="0" anchor="t"/>
          <a:lstStyle/>
          <a:p>
            <a:pPr indent="0" marL="0">
              <a:lnSpc>
                <a:spcPct val="101667"/>
              </a:lnSpc>
              <a:buNone/>
            </a:pPr>
            <a:r>
              <a:rPr lang="en-US" sz="1700" b="1" dirty="0">
                <a:solidFill>
                  <a:srgbClr val="202945"/>
                </a:solidFill>
                <a:latin typeface="Nunito" pitchFamily="34" charset="0"/>
                <a:ea typeface="Nunito" pitchFamily="34" charset="-122"/>
                <a:cs typeface="Nunito" pitchFamily="34" charset="-120"/>
              </a:rPr>
              <a:t>Epiroc Q3 2026: margins deliver, orders and cash do not</a:t>
            </a:r>
            <a:endParaRPr lang="en-US" sz="1700" dirty="0"/>
          </a:p>
        </p:txBody>
      </p:sp>
      <p:sp>
        <p:nvSpPr>
          <p:cNvPr id="8" name="Text 4"/>
          <p:cNvSpPr txBox="1"/>
          <p:nvPr/>
        </p:nvSpPr>
        <p:spPr>
          <a:xfrm>
            <a:off x="539496" y="1319530"/>
            <a:ext cx="6483096" cy="164592"/>
          </a:xfrm>
          <a:prstGeom prst="rect">
            <a:avLst/>
          </a:prstGeom>
          <a:noFill/>
          <a:ln/>
        </p:spPr>
        <p:txBody>
          <a:bodyPr wrap="square" lIns="0" tIns="0" rIns="0" bIns="0" rtlCol="0" anchor="t"/>
          <a:lstStyle/>
          <a:p>
            <a:pPr indent="0" marL="0">
              <a:buNone/>
            </a:pPr>
            <a:r>
              <a:rPr lang="en-US" sz="870" b="1" dirty="0">
                <a:solidFill>
                  <a:srgbClr val="6B7280"/>
                </a:solidFill>
                <a:latin typeface="Nunito" pitchFamily="34" charset="0"/>
                <a:ea typeface="Nunito" pitchFamily="34" charset="-122"/>
                <a:cs typeface="Nunito" pitchFamily="34" charset="-120"/>
              </a:rPr>
              <a:t>28 October 2026 · Syz Research</a:t>
            </a:r>
            <a:endParaRPr lang="en-US" sz="870" dirty="0"/>
          </a:p>
        </p:txBody>
      </p:sp>
      <p:sp>
        <p:nvSpPr>
          <p:cNvPr id="9" name="Text 5"/>
          <p:cNvSpPr txBox="1"/>
          <p:nvPr/>
        </p:nvSpPr>
        <p:spPr>
          <a:xfrm>
            <a:off x="539496" y="1602994"/>
            <a:ext cx="6483096" cy="488975"/>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Epiroc makes drilling rigs, underground loaders, rock tools and attachments for mining and infrastructure customers, and services the installed fleet. Mining accounts for 83% of orders; quarterly revenue is SEK 16.8bn. Listed in Stockholm.</a:t>
            </a:r>
            <a:endParaRPr lang="en-US" sz="870" dirty="0"/>
          </a:p>
        </p:txBody>
      </p:sp>
      <p:sp>
        <p:nvSpPr>
          <p:cNvPr id="10" name="Text 6"/>
          <p:cNvSpPr txBox="1"/>
          <p:nvPr/>
        </p:nvSpPr>
        <p:spPr>
          <a:xfrm>
            <a:off x="539496" y="2210841"/>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Key takeaways</a:t>
            </a:r>
            <a:endParaRPr lang="en-US" sz="1100" dirty="0"/>
          </a:p>
        </p:txBody>
      </p:sp>
      <p:sp>
        <p:nvSpPr>
          <p:cNvPr id="11" name="Text 7"/>
          <p:cNvSpPr txBox="1"/>
          <p:nvPr/>
        </p:nvSpPr>
        <p:spPr>
          <a:xfrm>
            <a:off x="539496" y="2471445"/>
            <a:ext cx="576072" cy="156896"/>
          </a:xfrm>
          <a:prstGeom prst="rect">
            <a:avLst/>
          </a:prstGeom>
          <a:noFill/>
          <a:ln/>
        </p:spPr>
        <p:txBody>
          <a:bodyPr wrap="square" lIns="0" tIns="0" rIns="0" bIns="0" rtlCol="0" anchor="t"/>
          <a:lstStyle/>
          <a:p>
            <a:pPr indent="0" marL="0">
              <a:buNone/>
            </a:pPr>
            <a:r>
              <a:rPr lang="en-US" sz="700" b="1" spc="80" kern="0" dirty="0">
                <a:solidFill>
                  <a:srgbClr val="FF6C0E"/>
                </a:solidFill>
                <a:latin typeface="Nunito" pitchFamily="34" charset="0"/>
                <a:ea typeface="Nunito" pitchFamily="34" charset="-122"/>
                <a:cs typeface="Nunito" pitchFamily="34" charset="-120"/>
              </a:rPr>
              <a:t>Miss</a:t>
            </a:r>
            <a:endParaRPr lang="en-US" sz="700" dirty="0"/>
          </a:p>
        </p:txBody>
      </p:sp>
      <p:sp>
        <p:nvSpPr>
          <p:cNvPr id="12" name="Text 8"/>
          <p:cNvSpPr txBox="1"/>
          <p:nvPr/>
        </p:nvSpPr>
        <p:spPr>
          <a:xfrm>
            <a:off x="1133856" y="2448585"/>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Revenue SEK 16.8bn, 3.0% below consensus; EPS SEK 2.00, 6.5% below, despite a 20.4% margin.</a:t>
            </a:r>
            <a:endParaRPr lang="en-US" sz="870" dirty="0"/>
          </a:p>
        </p:txBody>
      </p:sp>
      <p:sp>
        <p:nvSpPr>
          <p:cNvPr id="13" name="Text 9"/>
          <p:cNvSpPr txBox="1"/>
          <p:nvPr/>
        </p:nvSpPr>
        <p:spPr>
          <a:xfrm>
            <a:off x="539496" y="2674061"/>
            <a:ext cx="576072" cy="156896"/>
          </a:xfrm>
          <a:prstGeom prst="rect">
            <a:avLst/>
          </a:prstGeom>
          <a:noFill/>
          <a:ln/>
        </p:spPr>
        <p:txBody>
          <a:bodyPr wrap="square" lIns="0" tIns="0" rIns="0" bIns="0" rtlCol="0" anchor="t"/>
          <a:lstStyle/>
          <a:p>
            <a:pPr indent="0" marL="0">
              <a:buNone/>
            </a:pPr>
            <a:r>
              <a:rPr lang="en-US" sz="700" b="1" spc="80" kern="0" dirty="0">
                <a:solidFill>
                  <a:srgbClr val="FF6C0E"/>
                </a:solidFill>
                <a:latin typeface="Nunito" pitchFamily="34" charset="0"/>
                <a:ea typeface="Nunito" pitchFamily="34" charset="-122"/>
                <a:cs typeface="Nunito" pitchFamily="34" charset="-120"/>
              </a:rPr>
              <a:t>Reaction</a:t>
            </a:r>
            <a:endParaRPr lang="en-US" sz="700" dirty="0"/>
          </a:p>
        </p:txBody>
      </p:sp>
      <p:sp>
        <p:nvSpPr>
          <p:cNvPr id="14" name="Text 10"/>
          <p:cNvSpPr txBox="1"/>
          <p:nvPr/>
        </p:nvSpPr>
        <p:spPr>
          <a:xfrm>
            <a:off x="1133856" y="2651201"/>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Shares down 5.1% on 28 October: equipment orders grew 16% organically, against about 26% expected.</a:t>
            </a:r>
            <a:endParaRPr lang="en-US" sz="870" dirty="0"/>
          </a:p>
        </p:txBody>
      </p:sp>
      <p:sp>
        <p:nvSpPr>
          <p:cNvPr id="15" name="Text 11"/>
          <p:cNvSpPr txBox="1"/>
          <p:nvPr/>
        </p:nvSpPr>
        <p:spPr>
          <a:xfrm>
            <a:off x="539496" y="2876677"/>
            <a:ext cx="576072" cy="156896"/>
          </a:xfrm>
          <a:prstGeom prst="rect">
            <a:avLst/>
          </a:prstGeom>
          <a:noFill/>
          <a:ln/>
        </p:spPr>
        <p:txBody>
          <a:bodyPr wrap="square" lIns="0" tIns="0" rIns="0" bIns="0" rtlCol="0" anchor="t"/>
          <a:lstStyle/>
          <a:p>
            <a:pPr indent="0" marL="0">
              <a:buNone/>
            </a:pPr>
            <a:r>
              <a:rPr lang="en-US" sz="700" b="1" spc="80" kern="0" dirty="0">
                <a:solidFill>
                  <a:srgbClr val="FF6C0E"/>
                </a:solidFill>
                <a:latin typeface="Nunito" pitchFamily="34" charset="0"/>
                <a:ea typeface="Nunito" pitchFamily="34" charset="-122"/>
                <a:cs typeface="Nunito" pitchFamily="34" charset="-120"/>
              </a:rPr>
              <a:t>Watch</a:t>
            </a:r>
            <a:endParaRPr lang="en-US" sz="700" dirty="0"/>
          </a:p>
        </p:txBody>
      </p:sp>
      <p:sp>
        <p:nvSpPr>
          <p:cNvPr id="16" name="Text 12"/>
          <p:cNvSpPr txBox="1"/>
          <p:nvPr/>
        </p:nvSpPr>
        <p:spPr>
          <a:xfrm>
            <a:off x="1133856" y="2853817"/>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Operating cash flow fell to SEK 1.4bn from 2.5bn on inventory; 12-month cash conversion 78%.</a:t>
            </a:r>
            <a:endParaRPr lang="en-US" sz="870" dirty="0"/>
          </a:p>
        </p:txBody>
      </p:sp>
      <p:sp>
        <p:nvSpPr>
          <p:cNvPr id="17" name="Text 13"/>
          <p:cNvSpPr txBox="1"/>
          <p:nvPr/>
        </p:nvSpPr>
        <p:spPr>
          <a:xfrm>
            <a:off x="539496" y="3079293"/>
            <a:ext cx="576072" cy="156896"/>
          </a:xfrm>
          <a:prstGeom prst="rect">
            <a:avLst/>
          </a:prstGeom>
          <a:noFill/>
          <a:ln/>
        </p:spPr>
        <p:txBody>
          <a:bodyPr wrap="square" lIns="0" tIns="0" rIns="0" bIns="0" rtlCol="0" anchor="t"/>
          <a:lstStyle/>
          <a:p>
            <a:pPr indent="0" marL="0">
              <a:buNone/>
            </a:pPr>
            <a:r>
              <a:rPr lang="en-US" sz="700" b="1" spc="80" kern="0" dirty="0">
                <a:solidFill>
                  <a:srgbClr val="4B5F80"/>
                </a:solidFill>
                <a:latin typeface="Nunito" pitchFamily="34" charset="0"/>
                <a:ea typeface="Nunito" pitchFamily="34" charset="-122"/>
                <a:cs typeface="Nunito" pitchFamily="34" charset="-120"/>
              </a:rPr>
              <a:t>Valuation</a:t>
            </a:r>
            <a:endParaRPr lang="en-US" sz="700" dirty="0"/>
          </a:p>
        </p:txBody>
      </p:sp>
      <p:sp>
        <p:nvSpPr>
          <p:cNvPr id="18" name="Text 14"/>
          <p:cNvSpPr txBox="1"/>
          <p:nvPr/>
        </p:nvSpPr>
        <p:spPr>
          <a:xfrm>
            <a:off x="1133856" y="3056433"/>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24.8x forward earnings, in line with the average since the 2018 listing and down from 33.3x in February.</a:t>
            </a:r>
            <a:endParaRPr lang="en-US" sz="870" dirty="0"/>
          </a:p>
        </p:txBody>
      </p:sp>
      <p:sp>
        <p:nvSpPr>
          <p:cNvPr id="19" name="Shape 15"/>
          <p:cNvSpPr/>
          <p:nvPr/>
        </p:nvSpPr>
        <p:spPr>
          <a:xfrm>
            <a:off x="539496" y="3341345"/>
            <a:ext cx="6483096" cy="640080"/>
          </a:xfrm>
          <a:prstGeom prst="rect">
            <a:avLst/>
          </a:prstGeom>
          <a:solidFill>
            <a:srgbClr val="FFFFFF"/>
          </a:solidFill>
          <a:ln w="16510">
            <a:solidFill>
              <a:srgbClr val="202945"/>
            </a:solidFill>
            <a:prstDash val="solid"/>
          </a:ln>
        </p:spPr>
      </p:sp>
      <p:sp>
        <p:nvSpPr>
          <p:cNvPr id="20" name="Text 16"/>
          <p:cNvSpPr txBox="1"/>
          <p:nvPr/>
        </p:nvSpPr>
        <p:spPr>
          <a:xfrm>
            <a:off x="649224" y="3414497"/>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Revenue</a:t>
            </a:r>
            <a:endParaRPr lang="en-US" sz="700" dirty="0"/>
          </a:p>
        </p:txBody>
      </p:sp>
      <p:sp>
        <p:nvSpPr>
          <p:cNvPr id="21" name="Text 17"/>
          <p:cNvSpPr txBox="1"/>
          <p:nvPr/>
        </p:nvSpPr>
        <p:spPr>
          <a:xfrm>
            <a:off x="649224" y="3551657"/>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SEK 16.8bn</a:t>
            </a:r>
            <a:endParaRPr lang="en-US" sz="1100" dirty="0"/>
          </a:p>
        </p:txBody>
      </p:sp>
      <p:sp>
        <p:nvSpPr>
          <p:cNvPr id="22" name="Text 18"/>
          <p:cNvSpPr txBox="1"/>
          <p:nvPr/>
        </p:nvSpPr>
        <p:spPr>
          <a:xfrm>
            <a:off x="649224" y="3761969"/>
            <a:ext cx="1437894" cy="137160"/>
          </a:xfrm>
          <a:prstGeom prst="rect">
            <a:avLst/>
          </a:prstGeom>
          <a:noFill/>
          <a:ln/>
        </p:spPr>
        <p:txBody>
          <a:bodyPr wrap="square" lIns="0" tIns="0" rIns="0" bIns="0" rtlCol="0" anchor="t"/>
          <a:lstStyle/>
          <a:p>
            <a:pPr indent="0" marL="0">
              <a:buNone/>
            </a:pPr>
            <a:r>
              <a:rPr lang="en-US" sz="700" b="1" dirty="0">
                <a:solidFill>
                  <a:srgbClr val="FF6C0E"/>
                </a:solidFill>
                <a:latin typeface="Nunito" pitchFamily="34" charset="0"/>
                <a:ea typeface="Nunito" pitchFamily="34" charset="-122"/>
                <a:cs typeface="Nunito" pitchFamily="34" charset="-120"/>
              </a:rPr>
              <a:t>-3.0% vs. consensus</a:t>
            </a:r>
            <a:endParaRPr lang="en-US" sz="700" dirty="0"/>
          </a:p>
        </p:txBody>
      </p:sp>
      <p:sp>
        <p:nvSpPr>
          <p:cNvPr id="23" name="Shape 19"/>
          <p:cNvSpPr/>
          <p:nvPr/>
        </p:nvSpPr>
        <p:spPr>
          <a:xfrm>
            <a:off x="2160270" y="3341345"/>
            <a:ext cx="0" cy="640080"/>
          </a:xfrm>
          <a:prstGeom prst="line">
            <a:avLst/>
          </a:prstGeom>
          <a:noFill/>
          <a:ln w="7620">
            <a:solidFill>
              <a:srgbClr val="D6D9DE"/>
            </a:solidFill>
            <a:prstDash val="solid"/>
          </a:ln>
        </p:spPr>
      </p:sp>
      <p:sp>
        <p:nvSpPr>
          <p:cNvPr id="24" name="Text 20"/>
          <p:cNvSpPr txBox="1"/>
          <p:nvPr/>
        </p:nvSpPr>
        <p:spPr>
          <a:xfrm>
            <a:off x="2269998" y="3414497"/>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Adjusted EBIT margin</a:t>
            </a:r>
            <a:endParaRPr lang="en-US" sz="700" dirty="0"/>
          </a:p>
        </p:txBody>
      </p:sp>
      <p:sp>
        <p:nvSpPr>
          <p:cNvPr id="25" name="Text 21"/>
          <p:cNvSpPr txBox="1"/>
          <p:nvPr/>
        </p:nvSpPr>
        <p:spPr>
          <a:xfrm>
            <a:off x="2269998" y="3551657"/>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20.4%</a:t>
            </a:r>
            <a:endParaRPr lang="en-US" sz="1100" dirty="0"/>
          </a:p>
        </p:txBody>
      </p:sp>
      <p:sp>
        <p:nvSpPr>
          <p:cNvPr id="26" name="Text 22"/>
          <p:cNvSpPr txBox="1"/>
          <p:nvPr/>
        </p:nvSpPr>
        <p:spPr>
          <a:xfrm>
            <a:off x="2269998" y="3761969"/>
            <a:ext cx="1437894" cy="137160"/>
          </a:xfrm>
          <a:prstGeom prst="rect">
            <a:avLst/>
          </a:prstGeom>
          <a:noFill/>
          <a:ln/>
        </p:spPr>
        <p:txBody>
          <a:bodyPr wrap="square" lIns="0" tIns="0" rIns="0" bIns="0" rtlCol="0" anchor="t"/>
          <a:lstStyle/>
          <a:p>
            <a:pPr indent="0" marL="0">
              <a:buNone/>
            </a:pPr>
            <a:r>
              <a:rPr lang="en-US" sz="700" b="1" dirty="0">
                <a:solidFill>
                  <a:srgbClr val="3BAF90"/>
                </a:solidFill>
                <a:latin typeface="Nunito" pitchFamily="34" charset="0"/>
                <a:ea typeface="Nunito" pitchFamily="34" charset="-122"/>
                <a:cs typeface="Nunito" pitchFamily="34" charset="-120"/>
              </a:rPr>
              <a:t>+20bp vs. consensus</a:t>
            </a:r>
            <a:endParaRPr lang="en-US" sz="700" dirty="0"/>
          </a:p>
        </p:txBody>
      </p:sp>
      <p:sp>
        <p:nvSpPr>
          <p:cNvPr id="27" name="Shape 23"/>
          <p:cNvSpPr/>
          <p:nvPr/>
        </p:nvSpPr>
        <p:spPr>
          <a:xfrm>
            <a:off x="3781044" y="3341345"/>
            <a:ext cx="0" cy="640080"/>
          </a:xfrm>
          <a:prstGeom prst="line">
            <a:avLst/>
          </a:prstGeom>
          <a:noFill/>
          <a:ln w="7620">
            <a:solidFill>
              <a:srgbClr val="D6D9DE"/>
            </a:solidFill>
            <a:prstDash val="solid"/>
          </a:ln>
        </p:spPr>
      </p:sp>
      <p:sp>
        <p:nvSpPr>
          <p:cNvPr id="28" name="Text 24"/>
          <p:cNvSpPr txBox="1"/>
          <p:nvPr/>
        </p:nvSpPr>
        <p:spPr>
          <a:xfrm>
            <a:off x="3890772" y="3414497"/>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EPS</a:t>
            </a:r>
            <a:endParaRPr lang="en-US" sz="700" dirty="0"/>
          </a:p>
        </p:txBody>
      </p:sp>
      <p:sp>
        <p:nvSpPr>
          <p:cNvPr id="29" name="Text 25"/>
          <p:cNvSpPr txBox="1"/>
          <p:nvPr/>
        </p:nvSpPr>
        <p:spPr>
          <a:xfrm>
            <a:off x="3890772" y="3551657"/>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SEK 2.00</a:t>
            </a:r>
            <a:endParaRPr lang="en-US" sz="1100" dirty="0"/>
          </a:p>
        </p:txBody>
      </p:sp>
      <p:sp>
        <p:nvSpPr>
          <p:cNvPr id="30" name="Text 26"/>
          <p:cNvSpPr txBox="1"/>
          <p:nvPr/>
        </p:nvSpPr>
        <p:spPr>
          <a:xfrm>
            <a:off x="3890772" y="3761969"/>
            <a:ext cx="1437894" cy="137160"/>
          </a:xfrm>
          <a:prstGeom prst="rect">
            <a:avLst/>
          </a:prstGeom>
          <a:noFill/>
          <a:ln/>
        </p:spPr>
        <p:txBody>
          <a:bodyPr wrap="square" lIns="0" tIns="0" rIns="0" bIns="0" rtlCol="0" anchor="t"/>
          <a:lstStyle/>
          <a:p>
            <a:pPr indent="0" marL="0">
              <a:buNone/>
            </a:pPr>
            <a:r>
              <a:rPr lang="en-US" sz="700" b="1" dirty="0">
                <a:solidFill>
                  <a:srgbClr val="FF6C0E"/>
                </a:solidFill>
                <a:latin typeface="Nunito" pitchFamily="34" charset="0"/>
                <a:ea typeface="Nunito" pitchFamily="34" charset="-122"/>
                <a:cs typeface="Nunito" pitchFamily="34" charset="-120"/>
              </a:rPr>
              <a:t>-6.5% vs. consensus</a:t>
            </a:r>
            <a:endParaRPr lang="en-US" sz="700" dirty="0"/>
          </a:p>
        </p:txBody>
      </p:sp>
      <p:sp>
        <p:nvSpPr>
          <p:cNvPr id="31" name="Shape 27"/>
          <p:cNvSpPr/>
          <p:nvPr/>
        </p:nvSpPr>
        <p:spPr>
          <a:xfrm>
            <a:off x="5401818" y="3341345"/>
            <a:ext cx="0" cy="640080"/>
          </a:xfrm>
          <a:prstGeom prst="line">
            <a:avLst/>
          </a:prstGeom>
          <a:noFill/>
          <a:ln w="7620">
            <a:solidFill>
              <a:srgbClr val="D6D9DE"/>
            </a:solidFill>
            <a:prstDash val="solid"/>
          </a:ln>
        </p:spPr>
      </p:sp>
      <p:sp>
        <p:nvSpPr>
          <p:cNvPr id="32" name="Text 28"/>
          <p:cNvSpPr txBox="1"/>
          <p:nvPr/>
        </p:nvSpPr>
        <p:spPr>
          <a:xfrm>
            <a:off x="5511546" y="3414497"/>
            <a:ext cx="1437894" cy="137160"/>
          </a:xfrm>
          <a:prstGeom prst="rect">
            <a:avLst/>
          </a:prstGeom>
          <a:noFill/>
          <a:ln/>
        </p:spPr>
        <p:txBody>
          <a:bodyPr wrap="square" lIns="0" tIns="0" rIns="0" bIns="0" rtlCol="0" anchor="t"/>
          <a:lstStyle/>
          <a:p>
            <a:pPr indent="0" marL="0">
              <a:buNone/>
            </a:pPr>
            <a:r>
              <a:rPr lang="en-US" sz="700" b="1" dirty="0">
                <a:solidFill>
                  <a:srgbClr val="6B7280"/>
                </a:solidFill>
                <a:latin typeface="Nunito" pitchFamily="34" charset="0"/>
                <a:ea typeface="Nunito" pitchFamily="34" charset="-122"/>
                <a:cs typeface="Nunito" pitchFamily="34" charset="-120"/>
              </a:rPr>
              <a:t>Equipment orders, organic</a:t>
            </a:r>
            <a:endParaRPr lang="en-US" sz="700" dirty="0"/>
          </a:p>
        </p:txBody>
      </p:sp>
      <p:sp>
        <p:nvSpPr>
          <p:cNvPr id="33" name="Text 29"/>
          <p:cNvSpPr txBox="1"/>
          <p:nvPr/>
        </p:nvSpPr>
        <p:spPr>
          <a:xfrm>
            <a:off x="5511546" y="3551657"/>
            <a:ext cx="1437894" cy="201168"/>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+16%</a:t>
            </a:r>
            <a:endParaRPr lang="en-US" sz="1100" dirty="0"/>
          </a:p>
        </p:txBody>
      </p:sp>
      <p:sp>
        <p:nvSpPr>
          <p:cNvPr id="34" name="Text 30"/>
          <p:cNvSpPr txBox="1"/>
          <p:nvPr/>
        </p:nvSpPr>
        <p:spPr>
          <a:xfrm>
            <a:off x="5511546" y="3761969"/>
            <a:ext cx="1437894" cy="137160"/>
          </a:xfrm>
          <a:prstGeom prst="rect">
            <a:avLst/>
          </a:prstGeom>
          <a:noFill/>
          <a:ln/>
        </p:spPr>
        <p:txBody>
          <a:bodyPr wrap="square" lIns="0" tIns="0" rIns="0" bIns="0" rtlCol="0" anchor="t"/>
          <a:lstStyle/>
          <a:p>
            <a:pPr indent="0" marL="0">
              <a:buNone/>
            </a:pPr>
            <a:r>
              <a:rPr lang="en-US" sz="700" b="1" dirty="0">
                <a:solidFill>
                  <a:srgbClr val="FF6C0E"/>
                </a:solidFill>
                <a:latin typeface="Nunito" pitchFamily="34" charset="0"/>
                <a:ea typeface="Nunito" pitchFamily="34" charset="-122"/>
                <a:cs typeface="Nunito" pitchFamily="34" charset="-120"/>
              </a:rPr>
              <a:t>About 26% expected</a:t>
            </a:r>
            <a:endParaRPr lang="en-US" sz="700" dirty="0"/>
          </a:p>
        </p:txBody>
      </p:sp>
      <p:sp>
        <p:nvSpPr>
          <p:cNvPr id="35" name="Text 31"/>
          <p:cNvSpPr txBox="1"/>
          <p:nvPr/>
        </p:nvSpPr>
        <p:spPr>
          <a:xfrm>
            <a:off x="539496" y="4100297"/>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What the quarter means for the investment case</a:t>
            </a:r>
            <a:endParaRPr lang="en-US" sz="1100" dirty="0"/>
          </a:p>
        </p:txBody>
      </p:sp>
      <p:sp>
        <p:nvSpPr>
          <p:cNvPr id="36" name="Text 32"/>
          <p:cNvSpPr txBox="1"/>
          <p:nvPr/>
        </p:nvSpPr>
        <p:spPr>
          <a:xfrm>
            <a:off x="539496" y="4347185"/>
            <a:ext cx="6483096" cy="488975"/>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Revenue missed consensus by 3.0% and earnings per share by 6.5%, and the shares fell 5.1% by early afternoon on 28 October: miss and reaction are aligned. The margin was the bright spot at 20.4%, up from 19.0%, but equipment orders grew 16% organically against 30% in the second quarter, and cash conversion weakened sharply.</a:t>
            </a:r>
            <a:endParaRPr lang="en-US" sz="870" dirty="0"/>
          </a:p>
        </p:txBody>
      </p:sp>
      <p:sp>
        <p:nvSpPr>
          <p:cNvPr id="37" name="Text 33"/>
          <p:cNvSpPr txBox="1"/>
          <p:nvPr/>
        </p:nvSpPr>
        <p:spPr>
          <a:xfrm>
            <a:off x="539496" y="4915713"/>
            <a:ext cx="6483096" cy="173736"/>
          </a:xfrm>
          <a:prstGeom prst="rect">
            <a:avLst/>
          </a:prstGeom>
          <a:noFill/>
          <a:ln/>
        </p:spPr>
        <p:txBody>
          <a:bodyPr wrap="square" lIns="0" tIns="0" rIns="0" bIns="0" rtlCol="0" anchor="t"/>
          <a:lstStyle/>
          <a:p>
            <a:pPr indent="0" marL="0">
              <a:buNone/>
            </a:pPr>
            <a:r>
              <a:rPr lang="en-US" sz="870" b="1" dirty="0">
                <a:solidFill>
                  <a:srgbClr val="FF6C0E"/>
                </a:solidFill>
                <a:latin typeface="Nunito" pitchFamily="34" charset="0"/>
                <a:ea typeface="Nunito" pitchFamily="34" charset="-122"/>
                <a:cs typeface="Nunito" pitchFamily="34" charset="-120"/>
              </a:rPr>
              <a:t>Chart 1</a:t>
            </a:r>
            <a:pPr indent="0" marL="0">
              <a:buNone/>
            </a:pPr>
            <a:r>
              <a:rPr lang="en-US" sz="870" b="1" dirty="0">
                <a:solidFill>
                  <a:srgbClr val="202945"/>
                </a:solidFill>
                <a:latin typeface="Nunito" pitchFamily="34" charset="0"/>
                <a:ea typeface="Nunito" pitchFamily="34" charset="-122"/>
                <a:cs typeface="Nunito" pitchFamily="34" charset="-120"/>
              </a:rPr>
              <a:t> · EPI A: Q3 2026 vs. consensus</a:t>
            </a:r>
            <a:endParaRPr lang="en-US" sz="870" dirty="0"/>
          </a:p>
        </p:txBody>
      </p:sp>
      <p:sp>
        <p:nvSpPr>
          <p:cNvPr id="38" name="Text 34"/>
          <p:cNvSpPr txBox="1"/>
          <p:nvPr/>
        </p:nvSpPr>
        <p:spPr>
          <a:xfrm>
            <a:off x="539496" y="5089449"/>
            <a:ext cx="6483096" cy="115570"/>
          </a:xfrm>
          <a:prstGeom prst="rect">
            <a:avLst/>
          </a:prstGeom>
          <a:noFill/>
          <a:ln/>
        </p:spPr>
        <p:txBody>
          <a:bodyPr wrap="square" lIns="0" tIns="0" rIns="0" bIns="0" rtlCol="0" anchor="t"/>
          <a:lstStyle/>
          <a:p>
            <a:pPr indent="0" marL="0">
              <a:lnSpc>
                <a:spcPct val="108333"/>
              </a:lnSpc>
              <a:buNone/>
            </a:pPr>
            <a:r>
              <a:rPr lang="en-US" sz="700" b="1" dirty="0">
                <a:solidFill>
                  <a:srgbClr val="6B7280"/>
                </a:solidFill>
                <a:latin typeface="Nunito" pitchFamily="34" charset="0"/>
                <a:ea typeface="Nunito" pitchFamily="34" charset="-122"/>
                <a:cs typeface="Nunito" pitchFamily="34" charset="-120"/>
              </a:rPr>
              <a:t>Surprise in % · orders consensus from analyst first takes · EPS: basic reported vs. adjusted consensus</a:t>
            </a:r>
            <a:endParaRPr lang="en-US" sz="700" dirty="0"/>
          </a:p>
        </p:txBody>
      </p:sp>
      <p:pic>
        <p:nvPicPr>
          <p:cNvPr id="39" name="Image 2" descr="/home/claude/epi/c1_crop.png">    </p:cNvPr>
          <p:cNvPicPr>
            <a:picLocks noChangeAspect="1"/>
          </p:cNvPicPr>
          <p:nvPr/>
        </p:nvPicPr>
        <p:blipFill>
          <a:blip r:embed="rId3"/>
          <a:stretch>
            <a:fillRect/>
          </a:stretch>
        </p:blipFill>
        <p:spPr>
          <a:xfrm>
            <a:off x="1511960" y="5250739"/>
            <a:ext cx="4538167" cy="1415908"/>
          </a:xfrm>
          <a:prstGeom prst="rect">
            <a:avLst/>
          </a:prstGeom>
        </p:spPr>
      </p:pic>
      <p:sp>
        <p:nvSpPr>
          <p:cNvPr id="40" name="Text 35"/>
          <p:cNvSpPr txBox="1"/>
          <p:nvPr/>
        </p:nvSpPr>
        <p:spPr>
          <a:xfrm>
            <a:off x="539496" y="6721511"/>
            <a:ext cx="6483096" cy="488975"/>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Chart 1 shows a miss on every volume line, from orders to earnings per share, against a margin that beat by 20bp. Efficiency gains held the operating profit miss to 2.0%, which included a SEK 135m currency gain that management does not expect to repeat at that scale. Volume, not cost, is the real issue.</a:t>
            </a:r>
            <a:endParaRPr lang="en-US" sz="870" dirty="0"/>
          </a:p>
        </p:txBody>
      </p:sp>
      <p:sp>
        <p:nvSpPr>
          <p:cNvPr id="41" name="Text 36"/>
          <p:cNvSpPr txBox="1"/>
          <p:nvPr/>
        </p:nvSpPr>
        <p:spPr>
          <a:xfrm>
            <a:off x="539496" y="7326615"/>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Base case and implications</a:t>
            </a:r>
            <a:endParaRPr lang="en-US" sz="1100" dirty="0"/>
          </a:p>
        </p:txBody>
      </p:sp>
      <p:sp>
        <p:nvSpPr>
          <p:cNvPr id="42" name="Text 37"/>
          <p:cNvSpPr txBox="1"/>
          <p:nvPr/>
        </p:nvSpPr>
        <p:spPr>
          <a:xfrm>
            <a:off x="539496" y="7573503"/>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We keep our position in Epiroc but would wait for the order rebound before adding. The earnings path we underwrite rests on backlog conversion: consensus expects fourth-quarter revenue of SEK 18.6bn and EPS of SEK 2.35, up 11% and 18% from the third quarter, which needs underground deliveries to accelerate. Margins look durable above 20%, carried by efficiency and pricing. The copper pipeline is the catalyst; the fourth-quarter report in early 2027, with equipment orders and cash conversion, is the next test.</a:t>
            </a:r>
            <a:endParaRPr lang="en-US" sz="870" dirty="0"/>
          </a:p>
        </p:txBody>
      </p:sp>
      <p:sp>
        <p:nvSpPr>
          <p:cNvPr id="43" name="Shape 38"/>
          <p:cNvSpPr/>
          <p:nvPr/>
        </p:nvSpPr>
        <p:spPr>
          <a:xfrm>
            <a:off x="3781044" y="8492399"/>
            <a:ext cx="0" cy="985647"/>
          </a:xfrm>
          <a:prstGeom prst="line">
            <a:avLst/>
          </a:prstGeom>
          <a:noFill/>
          <a:ln w="7620">
            <a:solidFill>
              <a:srgbClr val="D6D9DE"/>
            </a:solidFill>
            <a:prstDash val="solid"/>
          </a:ln>
        </p:spPr>
      </p:sp>
      <p:sp>
        <p:nvSpPr>
          <p:cNvPr id="44" name="Text 39"/>
          <p:cNvSpPr txBox="1"/>
          <p:nvPr/>
        </p:nvSpPr>
        <p:spPr>
          <a:xfrm>
            <a:off x="539496" y="8492399"/>
            <a:ext cx="3058668" cy="155448"/>
          </a:xfrm>
          <a:prstGeom prst="rect">
            <a:avLst/>
          </a:prstGeom>
          <a:noFill/>
          <a:ln/>
        </p:spPr>
        <p:txBody>
          <a:bodyPr wrap="square" lIns="0" tIns="0" rIns="0" bIns="0" rtlCol="0" anchor="t"/>
          <a:lstStyle/>
          <a:p>
            <a:pPr indent="0" marL="0">
              <a:buNone/>
            </a:pPr>
            <a:r>
              <a:rPr lang="en-US" sz="700" b="1" spc="100" kern="0" dirty="0">
                <a:solidFill>
                  <a:srgbClr val="FF6C0E"/>
                </a:solidFill>
                <a:latin typeface="Nunito" pitchFamily="34" charset="0"/>
                <a:ea typeface="Nunito" pitchFamily="34" charset="-122"/>
                <a:cs typeface="Nunito" pitchFamily="34" charset="-120"/>
              </a:rPr>
              <a:t>What would strengthen our view</a:t>
            </a:r>
            <a:endParaRPr lang="en-US" sz="700" dirty="0"/>
          </a:p>
        </p:txBody>
      </p:sp>
      <p:sp>
        <p:nvSpPr>
          <p:cNvPr id="45" name="Text 40"/>
          <p:cNvSpPr txBox="1"/>
          <p:nvPr/>
        </p:nvSpPr>
        <p:spPr>
          <a:xfrm>
            <a:off x="539496" y="8684423"/>
            <a:ext cx="3058668" cy="784479"/>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Equipment orders back above 20% organic growth in the fourth quarter as copper projects are booked; surface tenders converting into orders; cash conversion back above 90%; an Equipment &amp; Service margin near 23.8% without currency gains.</a:t>
            </a:r>
            <a:endParaRPr lang="en-US" sz="870" dirty="0"/>
          </a:p>
        </p:txBody>
      </p:sp>
      <p:sp>
        <p:nvSpPr>
          <p:cNvPr id="46" name="Text 41"/>
          <p:cNvSpPr txBox="1"/>
          <p:nvPr/>
        </p:nvSpPr>
        <p:spPr>
          <a:xfrm>
            <a:off x="3963924" y="8492399"/>
            <a:ext cx="3058668" cy="155448"/>
          </a:xfrm>
          <a:prstGeom prst="rect">
            <a:avLst/>
          </a:prstGeom>
          <a:noFill/>
          <a:ln/>
        </p:spPr>
        <p:txBody>
          <a:bodyPr wrap="square" lIns="0" tIns="0" rIns="0" bIns="0" rtlCol="0" anchor="t"/>
          <a:lstStyle/>
          <a:p>
            <a:pPr indent="0" marL="0">
              <a:buNone/>
            </a:pPr>
            <a:r>
              <a:rPr lang="en-US" sz="700" b="1" spc="100" kern="0" dirty="0">
                <a:solidFill>
                  <a:srgbClr val="FF6C0E"/>
                </a:solidFill>
                <a:latin typeface="Nunito" pitchFamily="34" charset="0"/>
                <a:ea typeface="Nunito" pitchFamily="34" charset="-122"/>
                <a:cs typeface="Nunito" pitchFamily="34" charset="-120"/>
              </a:rPr>
              <a:t>What would change our view</a:t>
            </a:r>
            <a:endParaRPr lang="en-US" sz="700" dirty="0"/>
          </a:p>
        </p:txBody>
      </p:sp>
      <p:sp>
        <p:nvSpPr>
          <p:cNvPr id="47" name="Text 42"/>
          <p:cNvSpPr txBox="1"/>
          <p:nvPr/>
        </p:nvSpPr>
        <p:spPr>
          <a:xfrm>
            <a:off x="3963924" y="8684423"/>
            <a:ext cx="3058668" cy="784479"/>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A second quarter of equipment orders below 15% organic growth; copper decisions slipping into mid-2027 as negotiations drag; inventory rising further, with rolling cash conversion below 75%; infrastructure demand guided from stable to weaker.</a:t>
            </a:r>
            <a:endParaRPr lang="en-US" sz="87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28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2 / 3</a:t>
            </a:r>
            <a:endParaRPr lang="en-US" sz="700" dirty="0"/>
          </a:p>
        </p:txBody>
      </p:sp>
      <p:sp>
        <p:nvSpPr>
          <p:cNvPr id="6" name="Text 2"/>
          <p:cNvSpPr txBox="1"/>
          <p:nvPr/>
        </p:nvSpPr>
        <p:spPr>
          <a:xfrm>
            <a:off x="539496" y="836676"/>
            <a:ext cx="6483096" cy="329184"/>
          </a:xfrm>
          <a:prstGeom prst="rect">
            <a:avLst/>
          </a:prstGeom>
          <a:noFill/>
          <a:ln/>
        </p:spPr>
        <p:txBody>
          <a:bodyPr wrap="square" lIns="0" tIns="0" rIns="0" bIns="0" rtlCol="0" anchor="t"/>
          <a:lstStyle/>
          <a:p>
            <a:pPr indent="0" marL="0">
              <a:buNone/>
            </a:pPr>
            <a:r>
              <a:rPr lang="en-US" sz="1700" b="1" dirty="0">
                <a:solidFill>
                  <a:srgbClr val="202945"/>
                </a:solidFill>
                <a:latin typeface="Nunito" pitchFamily="34" charset="0"/>
                <a:ea typeface="Nunito" pitchFamily="34" charset="-122"/>
                <a:cs typeface="Nunito" pitchFamily="34" charset="-120"/>
              </a:rPr>
              <a:t>Beyond the key takeaways</a:t>
            </a:r>
            <a:endParaRPr lang="en-US" sz="1700" dirty="0"/>
          </a:p>
        </p:txBody>
      </p:sp>
      <p:sp>
        <p:nvSpPr>
          <p:cNvPr id="7" name="Text 3"/>
          <p:cNvSpPr txBox="1"/>
          <p:nvPr/>
        </p:nvSpPr>
        <p:spPr>
          <a:xfrm>
            <a:off x="539496" y="1239012"/>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Results: margins up, volumes short</a:t>
            </a:r>
            <a:endParaRPr lang="en-US" sz="1100" dirty="0"/>
          </a:p>
        </p:txBody>
      </p:sp>
      <p:sp>
        <p:nvSpPr>
          <p:cNvPr id="8" name="Text 4"/>
          <p:cNvSpPr txBox="1"/>
          <p:nvPr/>
        </p:nvSpPr>
        <p:spPr>
          <a:xfrm>
            <a:off x="539496" y="1485900"/>
            <a:ext cx="6483096" cy="959663"/>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Orders rose 12% organically to SEK 17.5bn, with equipment up 16% and service up 13%, against 30% and 6% in the second quarter; large orders reached SEK 790m, including a SEK 610m order for the Khoemacau copper mine. Revenue grew 7% organically to SEK 16.8bn: equipment only 5%, held back by long lead times on large surface rigs and a base that included more than SEK 300m of Roy Hill automation invoicing, service 10%. Equipment &amp; Service lifted its adjusted margin to 23.8% from 21.9% on volume and efficiency; Tools &amp; Attachments reached 13.2%, its best since early 2024. Currency added 3% to orders and revenue.</a:t>
            </a:r>
            <a:endParaRPr lang="en-US" sz="870" dirty="0"/>
          </a:p>
        </p:txBody>
      </p:sp>
      <p:sp>
        <p:nvSpPr>
          <p:cNvPr id="9" name="Text 5"/>
          <p:cNvSpPr txBox="1"/>
          <p:nvPr/>
        </p:nvSpPr>
        <p:spPr>
          <a:xfrm>
            <a:off x="539496" y="2525116"/>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A miss on revenue, operating profit and earnings met a 5.1% fall by 13:27 GMT on 28 October: surprise and reaction are aligned. The confirmed drivers go beyond the headline: equipment orders grew 16% organically against analyst expectations of about 26%, surface tenders did not convert, the infrastructure outlook was trimmed from “increase somewhat” to “remain stable”, and operating cash flow fell to SEK 1.4bn from 2.5bn. Expectations were already easing, in our reading: the shares had fallen 6.5% in the two weeks before the release, which may have limited the move.</a:t>
            </a:r>
            <a:endParaRPr lang="en-US" sz="870" dirty="0"/>
          </a:p>
        </p:txBody>
      </p:sp>
      <p:sp>
        <p:nvSpPr>
          <p:cNvPr id="10" name="Text 6"/>
          <p:cNvSpPr txBox="1"/>
          <p:nvPr/>
        </p:nvSpPr>
        <p:spPr>
          <a:xfrm>
            <a:off x="539496" y="3444011"/>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Outlook: copper pipeline strong, timing uncertain</a:t>
            </a:r>
            <a:endParaRPr lang="en-US" sz="1100" dirty="0"/>
          </a:p>
        </p:txBody>
      </p:sp>
      <p:sp>
        <p:nvSpPr>
          <p:cNvPr id="11" name="Text 7"/>
          <p:cNvSpPr txBox="1"/>
          <p:nvPr/>
        </p:nvSpPr>
        <p:spPr>
          <a:xfrm>
            <a:off x="539496" y="3690899"/>
            <a:ext cx="6483096" cy="959663"/>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Epiroc gives no numeric guidance. It expects mining demand to remain high and infrastructure demand to remain stable, where in July it expected infrastructure to increase somewhat; the weakness is in housing-related attachments. Management calls the copper pipeline for the fourth and first quarters very strong, but warns that investment decisions take months to become firm orders. Lead times are six to seven months for underground equipment and up to 12 months for large surface rigs, so the order book feeds revenue into 2027. Savings from moving tools production from Langley, Canada, to Matehuala, Mexico, are not yet in the numbers.</a:t>
            </a:r>
            <a:endParaRPr lang="en-US" sz="870" dirty="0"/>
          </a:p>
        </p:txBody>
      </p:sp>
      <p:sp>
        <p:nvSpPr>
          <p:cNvPr id="12" name="Text 8"/>
          <p:cNvSpPr txBox="1"/>
          <p:nvPr/>
        </p:nvSpPr>
        <p:spPr>
          <a:xfrm>
            <a:off x="539496" y="4766691"/>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Valuation: back to the long-run average</a:t>
            </a:r>
            <a:endParaRPr lang="en-US" sz="1100" dirty="0"/>
          </a:p>
        </p:txBody>
      </p:sp>
      <p:sp>
        <p:nvSpPr>
          <p:cNvPr id="13" name="Text 9"/>
          <p:cNvSpPr txBox="1"/>
          <p:nvPr/>
        </p:nvSpPr>
        <p:spPr>
          <a:xfrm>
            <a:off x="539496" y="5013579"/>
            <a:ext cx="6483096" cy="173736"/>
          </a:xfrm>
          <a:prstGeom prst="rect">
            <a:avLst/>
          </a:prstGeom>
          <a:noFill/>
          <a:ln/>
        </p:spPr>
        <p:txBody>
          <a:bodyPr wrap="square" lIns="0" tIns="0" rIns="0" bIns="0" rtlCol="0" anchor="t"/>
          <a:lstStyle/>
          <a:p>
            <a:pPr indent="0" marL="0">
              <a:buNone/>
            </a:pPr>
            <a:r>
              <a:rPr lang="en-US" sz="870" b="1" dirty="0">
                <a:solidFill>
                  <a:srgbClr val="FF6C0E"/>
                </a:solidFill>
                <a:latin typeface="Nunito" pitchFamily="34" charset="0"/>
                <a:ea typeface="Nunito" pitchFamily="34" charset="-122"/>
                <a:cs typeface="Nunito" pitchFamily="34" charset="-120"/>
              </a:rPr>
              <a:t>Chart 2</a:t>
            </a:r>
            <a:pPr indent="0" marL="0">
              <a:buNone/>
            </a:pPr>
            <a:r>
              <a:rPr lang="en-US" sz="870" b="1" dirty="0">
                <a:solidFill>
                  <a:srgbClr val="202945"/>
                </a:solidFill>
                <a:latin typeface="Nunito" pitchFamily="34" charset="0"/>
                <a:ea typeface="Nunito" pitchFamily="34" charset="-122"/>
                <a:cs typeface="Nunito" pitchFamily="34" charset="-120"/>
              </a:rPr>
              <a:t> · EPI A: share price vs. consensus earnings and valuation</a:t>
            </a:r>
            <a:endParaRPr lang="en-US" sz="870" dirty="0"/>
          </a:p>
        </p:txBody>
      </p:sp>
      <p:sp>
        <p:nvSpPr>
          <p:cNvPr id="14" name="Text 10"/>
          <p:cNvSpPr txBox="1"/>
          <p:nvPr/>
        </p:nvSpPr>
        <p:spPr>
          <a:xfrm>
            <a:off x="539496" y="5187315"/>
            <a:ext cx="6483096" cy="115570"/>
          </a:xfrm>
          <a:prstGeom prst="rect">
            <a:avLst/>
          </a:prstGeom>
          <a:noFill/>
          <a:ln/>
        </p:spPr>
        <p:txBody>
          <a:bodyPr wrap="square" lIns="0" tIns="0" rIns="0" bIns="0" rtlCol="0" anchor="t"/>
          <a:lstStyle/>
          <a:p>
            <a:pPr indent="0" marL="0">
              <a:lnSpc>
                <a:spcPct val="108333"/>
              </a:lnSpc>
              <a:buNone/>
            </a:pPr>
            <a:r>
              <a:rPr lang="en-US" sz="700" b="1" dirty="0">
                <a:solidFill>
                  <a:srgbClr val="6B7280"/>
                </a:solidFill>
                <a:latin typeface="Nunito" pitchFamily="34" charset="0"/>
                <a:ea typeface="Nunito" pitchFamily="34" charset="-122"/>
                <a:cs typeface="Nunito" pitchFamily="34" charset="-120"/>
              </a:rPr>
              <a:t>Weekly since the June 2018 listing · Bloomberg 12m-forward consensus · 40-week MA · log scale · last price SEK 247.0, intraday 28 Oct</a:t>
            </a:r>
            <a:endParaRPr lang="en-US" sz="700" dirty="0"/>
          </a:p>
        </p:txBody>
      </p:sp>
      <p:pic>
        <p:nvPicPr>
          <p:cNvPr id="15" name="Image 2" descr="/home/claude/epi/c2_crop.png">    </p:cNvPr>
          <p:cNvPicPr>
            <a:picLocks noChangeAspect="1"/>
          </p:cNvPicPr>
          <p:nvPr/>
        </p:nvPicPr>
        <p:blipFill>
          <a:blip r:embed="rId3"/>
          <a:stretch>
            <a:fillRect/>
          </a:stretch>
        </p:blipFill>
        <p:spPr>
          <a:xfrm>
            <a:off x="928482" y="5348605"/>
            <a:ext cx="5705124" cy="3413946"/>
          </a:xfrm>
          <a:prstGeom prst="rect">
            <a:avLst/>
          </a:prstGeom>
        </p:spPr>
      </p:pic>
      <p:sp>
        <p:nvSpPr>
          <p:cNvPr id="16" name="Text 11"/>
          <p:cNvSpPr txBox="1"/>
          <p:nvPr/>
        </p:nvSpPr>
        <p:spPr>
          <a:xfrm>
            <a:off x="539496" y="8817415"/>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The share price is up 11% over 12 months while consensus 12m-forward EPS rose 22% to SEK 9.95, so earnings have outrun the price. Since the July results, EPS is up 6% and the price 5%. The forward P/E has fallen from 33.3x in February to 24.8x, in line with its average since the 2018 listing and well below the one-year average of 27.9x. The price sits 3.6% below its 40-week moving average of SEK 256 and 11% below the June high of SEK 278.2. The multiple no longer carries a premium; earnings delivery has to do the work.</a:t>
            </a:r>
            <a:endParaRPr lang="en-US" sz="87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28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3 / 3</a:t>
            </a:r>
            <a:endParaRPr lang="en-US" sz="700" dirty="0"/>
          </a:p>
        </p:txBody>
      </p:sp>
      <p:sp>
        <p:nvSpPr>
          <p:cNvPr id="6" name="Text 2"/>
          <p:cNvSpPr txBox="1"/>
          <p:nvPr/>
        </p:nvSpPr>
        <p:spPr>
          <a:xfrm>
            <a:off x="539496" y="5664708"/>
            <a:ext cx="6483096" cy="182880"/>
          </a:xfrm>
          <a:prstGeom prst="rect">
            <a:avLst/>
          </a:prstGeom>
          <a:noFill/>
          <a:ln/>
        </p:spPr>
        <p:txBody>
          <a:bodyPr wrap="square" lIns="0" tIns="0" rIns="0" bIns="0" rtlCol="0" anchor="t"/>
          <a:lstStyle/>
          <a:p>
            <a:pPr indent="0" marL="0">
              <a:buNone/>
            </a:pPr>
            <a:r>
              <a:rPr lang="en-US" sz="700" b="1" dirty="0">
                <a:solidFill>
                  <a:srgbClr val="FF6C0E"/>
                </a:solidFill>
                <a:latin typeface="Nunito" pitchFamily="34" charset="0"/>
                <a:ea typeface="Nunito" pitchFamily="34" charset="-122"/>
                <a:cs typeface="Nunito" pitchFamily="34" charset="-120"/>
              </a:rPr>
              <a:t>SYZ</a:t>
            </a:r>
            <a:pPr indent="0" marL="0">
              <a:buNone/>
            </a:pPr>
            <a:r>
              <a:rPr lang="en-US" sz="700" b="1" dirty="0">
                <a:solidFill>
                  <a:srgbClr val="9AA0A8"/>
                </a:solidFill>
                <a:latin typeface="Nunito" pitchFamily="34" charset="0"/>
                <a:ea typeface="Nunito" pitchFamily="34" charset="-122"/>
                <a:cs typeface="Nunito" pitchFamily="34" charset="-120"/>
              </a:rPr>
              <a:t> Source: Syz Research, Bloomberg, company filings, Epiroc Q3 2026 interim report and results call of 28 October 2026, StreetAccount, analyst research notes of 28 October 2026</a:t>
            </a:r>
            <a:endParaRPr lang="en-US" sz="700" dirty="0"/>
          </a:p>
        </p:txBody>
      </p:sp>
      <p:sp>
        <p:nvSpPr>
          <p:cNvPr id="7" name="Text 3"/>
          <p:cNvSpPr txBox="1"/>
          <p:nvPr/>
        </p:nvSpPr>
        <p:spPr>
          <a:xfrm>
            <a:off x="539496" y="5993892"/>
            <a:ext cx="6483096" cy="182880"/>
          </a:xfrm>
          <a:prstGeom prst="rect">
            <a:avLst/>
          </a:prstGeom>
          <a:noFill/>
          <a:ln/>
        </p:spPr>
        <p:txBody>
          <a:bodyPr wrap="square" lIns="0" tIns="0" rIns="0" bIns="0" rtlCol="0" anchor="t"/>
          <a:lstStyle/>
          <a:p>
            <a:pPr indent="0" marL="0">
              <a:buNone/>
            </a:pPr>
            <a:r>
              <a:rPr lang="en-US" sz="700" b="1" spc="120" kern="0" dirty="0">
                <a:solidFill>
                  <a:srgbClr val="FF6C0E"/>
                </a:solidFill>
                <a:latin typeface="Nunito" pitchFamily="34" charset="0"/>
                <a:ea typeface="Nunito" pitchFamily="34" charset="-122"/>
                <a:cs typeface="Nunito" pitchFamily="34" charset="-120"/>
              </a:rPr>
              <a:t>Disclaimer</a:t>
            </a:r>
            <a:endParaRPr lang="en-US" sz="700" dirty="0"/>
          </a:p>
        </p:txBody>
      </p:sp>
      <p:sp>
        <p:nvSpPr>
          <p:cNvPr id="8" name="Text 4"/>
          <p:cNvSpPr txBox="1"/>
          <p:nvPr/>
        </p:nvSpPr>
        <p:spPr>
          <a:xfrm>
            <a:off x="539496" y="6176772"/>
            <a:ext cx="6483096" cy="55270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communication has been issued and made available to recipients for the purpose of advertising investment services and/or financial instruments. It has been sent for information purposes and cannot be considered as an offer or a personalised recommendation to buy or sell a financial instrument or any other investment or currency. This communication does not constitute investment research within the meaning of regulatory rules applicable in the European Economic Area, or research under the rules of the U.S. Self-Regulatory Organizations.</a:t>
            </a:r>
            <a:endParaRPr lang="en-US" sz="700" dirty="0"/>
          </a:p>
        </p:txBody>
      </p:sp>
      <p:sp>
        <p:nvSpPr>
          <p:cNvPr id="9" name="Text 5"/>
          <p:cNvSpPr txBox="1"/>
          <p:nvPr/>
        </p:nvSpPr>
        <p:spPr>
          <a:xfrm>
            <a:off x="539496" y="6729476"/>
            <a:ext cx="6483096" cy="42824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information is made solely for professional and institutional clients as defined by the Swiss Financial Services Act, as well as qualified investors according to the Swiss Collective Investment Schemes Act. It is not intended for retail clients or non-qualified investors and consequently cannot be transmitted to any third party.</a:t>
            </a:r>
            <a:endParaRPr lang="en-US" sz="700" dirty="0"/>
          </a:p>
        </p:txBody>
      </p:sp>
      <p:sp>
        <p:nvSpPr>
          <p:cNvPr id="10" name="Text 6"/>
          <p:cNvSpPr txBox="1"/>
          <p:nvPr/>
        </p:nvSpPr>
        <p:spPr>
          <a:xfrm>
            <a:off x="539496" y="7157720"/>
            <a:ext cx="6483096" cy="42824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communication is not directed to any person in any jurisdiction where, by reason of that person’s nationality, residence or otherwise, its dissemination or use is prohibited. It cannot be quoted, reproduced, disclosed, distributed or otherwise referred to, in whole or in part, to any third party without the Bank’s prior written consent.</a:t>
            </a:r>
            <a:endParaRPr lang="en-US" sz="700" dirty="0"/>
          </a:p>
        </p:txBody>
      </p:sp>
      <p:sp>
        <p:nvSpPr>
          <p:cNvPr id="11" name="Text 7"/>
          <p:cNvSpPr txBox="1"/>
          <p:nvPr/>
        </p:nvSpPr>
        <p:spPr>
          <a:xfrm>
            <a:off x="539496" y="7585964"/>
            <a:ext cx="6483096" cy="80162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This communication may contain information on past performances of a financial product, all kinds of economic and financial valuations and analyses, as well as opinions of the Bank or of third parties. Any market valuations, terms and calculation methods, yields and opinions expressed are subject to change without notice. The information and opinions contained herein have been compiled and provided in good faith, based on information obtained from sources believed to be trustworthy. However, such information has not been independently verified. No guarantee, representation, or warranty of any kind, whether express or implied, is provided by the Bank or by relevant data vendors and other sources with respect to the accuracy, reliability, currentness or exhaustiveness of the information communicated, the methodology employed or the prices contained herein.</a:t>
            </a:r>
            <a:endParaRPr lang="en-US" sz="700" dirty="0"/>
          </a:p>
        </p:txBody>
      </p:sp>
      <p:sp>
        <p:nvSpPr>
          <p:cNvPr id="12" name="Text 8"/>
          <p:cNvSpPr txBox="1"/>
          <p:nvPr/>
        </p:nvSpPr>
        <p:spPr>
          <a:xfrm>
            <a:off x="539496" y="8387588"/>
            <a:ext cx="6483096" cy="30378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Past performance is not a reliable indicator of current or future results. Any reference to the past performance of an investment does not guarantee its future performance. Fluctuations in exchange rates may adversely affect the value, price or income of any investment.</a:t>
            </a:r>
            <a:endParaRPr lang="en-US" sz="700" dirty="0"/>
          </a:p>
        </p:txBody>
      </p:sp>
      <p:sp>
        <p:nvSpPr>
          <p:cNvPr id="13" name="Text 9"/>
          <p:cNvSpPr txBox="1"/>
          <p:nvPr/>
        </p:nvSpPr>
        <p:spPr>
          <a:xfrm>
            <a:off x="539496" y="8691372"/>
            <a:ext cx="6483096" cy="80162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Nothing in the present communication constitutes investment, legal, accounting or tax advice. This information is purely objective since it does not take into consideration the personal situation (including financial knowledge and experience), the investment objectives and risk profile of any recipient. Moreover, certain financial instruments mentioned (in particular, but not exclusively, derivatives, options and futures) involve a high risk of loss and may not be suitable. Accordingly, recipients should consult their own advisors on such matters, including but not limited to the possible tax consequences of investing in any financial product mentioned herein, and make their own assessment of the suitability of such investment product.</a:t>
            </a:r>
            <a:endParaRPr lang="en-US" sz="700" dirty="0"/>
          </a:p>
        </p:txBody>
      </p:sp>
      <p:sp>
        <p:nvSpPr>
          <p:cNvPr id="14" name="Text 10"/>
          <p:cNvSpPr txBox="1"/>
          <p:nvPr/>
        </p:nvSpPr>
        <p:spPr>
          <a:xfrm>
            <a:off x="539496" y="9492996"/>
            <a:ext cx="6483096" cy="428244"/>
          </a:xfrm>
          <a:prstGeom prst="rect">
            <a:avLst/>
          </a:prstGeom>
          <a:noFill/>
          <a:ln/>
        </p:spPr>
        <p:txBody>
          <a:bodyPr wrap="square" lIns="0" tIns="0" rIns="0" bIns="0" rtlCol="0" anchor="t"/>
          <a:lstStyle/>
          <a:p>
            <a:pPr algn="just" indent="0" marL="0">
              <a:lnSpc>
                <a:spcPct val="116667"/>
              </a:lnSpc>
              <a:buNone/>
            </a:pPr>
            <a:r>
              <a:rPr lang="en-US" sz="700" b="1" dirty="0">
                <a:solidFill>
                  <a:srgbClr val="9AA0A8"/>
                </a:solidFill>
                <a:latin typeface="Nunito" pitchFamily="34" charset="0"/>
                <a:ea typeface="Nunito" pitchFamily="34" charset="-122"/>
                <a:cs typeface="Nunito" pitchFamily="34" charset="-120"/>
              </a:rPr>
              <a:t>Should a recipient make an investment on the basis of the present communication, the recipient alone shall bear the consequences thereof. In no event shall the Bank, its directors, employees, affiliates or agents be held responsible for damages of any kind arising out of the use of all or part of the information provided herein.</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uni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Epiroc Q3 2026: margins deliver, orders and cash do not</dc:title>
  <dc:subject>PptxGenJS Presentation</dc:subject>
  <dc:creator>Syz Research</dc:creator>
  <cp:lastModifiedBy>Syz Research</cp:lastModifiedBy>
  <cp:revision>1</cp:revision>
  <dcterms:created xsi:type="dcterms:W3CDTF">2026-10-28T13:36:25Z</dcterms:created>
  <dcterms:modified xsi:type="dcterms:W3CDTF">2026-10-28T13:36:25Z</dcterms:modified>
</cp:coreProperties>
</file>