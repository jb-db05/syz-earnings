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Epiroc Q3 2026: margins deliver, orders and cash do not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“The strong order development needs to translate into revenues and cash. And we are focused on improving that conversion while continuing to serve our customers well.”</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Helena Hedblom, President and Chief Executive Officer, Q3 2026 results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Epiroc makes drilling rigs, underground loaders, rock tools and attachments for mining and infrastructure customers, and services the installed fleet. Mining accounts for 83% of orders; quarterly revenue is SEK 16.8bn. Stockholm-listed.</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SEK 16.8bn, 3.0% below consensus; EPS SEK 2.00, 6.5% below, despite a 20.4% margin.</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2.0% on 28 October after 5.1% intraday; we think margins and copper cushioned the miss.</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cash flow fell to SEK 1.4bn from 2.5bn on inventory; 12-month cash conversion 78%.</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24.8x forward earnings, in line with its average since the 2018 listing; 33.3x in February.</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Revenue</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SEK 16.8bn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-3.0%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EBIT margin</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20.4%</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+20bp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EPS</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SEK 2.00</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-6.5% vs. consensus</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Equipment orders, organic</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+16%</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26% expected</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missed consensus by 3.0% and earnings per share by 6.5%, yet the shares were down only 2.0% later on 28 October, after falling 5.1% intraday: a muted reaction to a clear miss. The margin was the bright spot at 20.4%, up from 19.0%, but equipment orders grew 16% organically against 30% in the second quarter, and cash conversion weakened sharply.</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EPI A: Q3 2026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in % · orders consensus from analyst first takes · EPS: basic reported vs. adjusted consensus</a:t>
            </a:r>
            <a:endParaRPr lang="en-US" sz="700" dirty="0"/>
          </a:p>
        </p:txBody>
      </p:sp>
      <p:pic>
        <p:nvPicPr>
          <p:cNvPr id="42" name="Image 2" descr="/home/claude/epi/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a miss on every volume line, from orders to earnings per share, against a margin that beat by 20bp. Efficiency gains held the operating profit miss to 2.0%, which included a SEK 135m currency gain that management does not expect to repeat at that scale. Volume, not cost, is the real issue.</a:t>
            </a:r>
            <a:endParaRPr lang="en-US" sz="870" dirty="0"/>
          </a:p>
        </p:txBody>
      </p:sp>
      <p:sp>
        <p:nvSpPr>
          <p:cNvPr id="44" name="Text 39"/>
          <p:cNvSpPr txBox="1"/>
          <p:nvPr/>
        </p:nvSpPr>
        <p:spPr>
          <a:xfrm>
            <a:off x="539496" y="774374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9063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keep our position in Epiroc but would wait for the order rebound before adding. The earnings path we underwrite rests on backlog conversion: consensus expects fourth-quarter revenue of SEK 18.6bn and EPS of SEK 2.35, up 11% and 18% from the third quarter, which needs underground deliveries to accelerate. Margins look durable above 20%, carried by efficiency and pricing. The copper pipeline is the catalyst; the fourth-quarter report in early 2027, with equipment orders and cash conversion, is the next test.</a:t>
            </a:r>
            <a:endParaRPr lang="en-US" sz="870" dirty="0"/>
          </a:p>
        </p:txBody>
      </p:sp>
      <p:sp>
        <p:nvSpPr>
          <p:cNvPr id="46" name="Shape 41"/>
          <p:cNvSpPr/>
          <p:nvPr/>
        </p:nvSpPr>
        <p:spPr>
          <a:xfrm>
            <a:off x="3781044" y="8909533"/>
            <a:ext cx="0" cy="985647"/>
          </a:xfrm>
          <a:prstGeom prst="line">
            <a:avLst/>
          </a:prstGeom>
          <a:noFill/>
          <a:ln w="7620">
            <a:solidFill>
              <a:srgbClr val="D6D9DE"/>
            </a:solidFill>
            <a:prstDash val="solid"/>
          </a:ln>
        </p:spPr>
      </p:sp>
      <p:sp>
        <p:nvSpPr>
          <p:cNvPr id="47" name="Text 42"/>
          <p:cNvSpPr txBox="1"/>
          <p:nvPr/>
        </p:nvSpPr>
        <p:spPr>
          <a:xfrm>
            <a:off x="539496"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Equipment orders back above 20% organic growth in the fourth quarter as copper projects are booked; surface tenders converting into orders; cash conversion back above 90%; an Equipment &amp; Service margin near 23.8% without currency gains.</a:t>
            </a:r>
            <a:endParaRPr lang="en-US" sz="870" dirty="0"/>
          </a:p>
        </p:txBody>
      </p:sp>
      <p:sp>
        <p:nvSpPr>
          <p:cNvPr id="49" name="Text 44"/>
          <p:cNvSpPr txBox="1"/>
          <p:nvPr/>
        </p:nvSpPr>
        <p:spPr>
          <a:xfrm>
            <a:off x="3963924"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 second quarter of equipment orders below 15% organic growth; copper decisions slipping into mid-2027 as negotiations drag; inventory rising further, with rolling cash conversion below 75%; infrastructure demand guided from stable to weaker.</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volumes short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Orders rose 12% organically to SEK 17.5bn, with equipment up 16% and service up 13%, against 30% and 6% in the second quarter; large orders reached SEK 790m, including a SEK 610m order for the Khoemacau copper mine. Revenue grew 7% organically to SEK 16.8bn: equipment only 5%, held back by long lead times on large surface rigs and a base that included more than SEK 300m of Roy Hill automation invoicing, service 10%. Equipment &amp; Service lifted its adjusted margin to 23.8% from 21.9% on volume and efficiency; Tools &amp; Attachments reached 13.2%, its best since early 2024. Currency added 3% to orders and revenue.</a:t>
            </a:r>
            <a:endParaRPr lang="en-US" sz="870" dirty="0"/>
          </a:p>
        </p:txBody>
      </p:sp>
      <p:sp>
        <p:nvSpPr>
          <p:cNvPr id="9" name="Text 5"/>
          <p:cNvSpPr txBox="1"/>
          <p:nvPr/>
        </p:nvSpPr>
        <p:spPr>
          <a:xfrm>
            <a:off x="539496" y="252511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miss on revenue, operating profit and earnings met only a 2.0% fall on 28 October, after a 5.1% intraday drop: the reaction is small relative to the surprise. The weak points are confirmed: equipment orders grew 16% organically against analyst expectations of about 26%, surface tenders did not convert, the infrastructure outlook was trimmed to “remain stable” and operating cash flow fell to SEK 1.4bn from 2.5bn. The most likely reading is that investors looked through them to the 20.4% margin and a copper pipeline management calls very strong; a 6.5% fall in the two weeks before the release had also lowered expectations.</a:t>
            </a:r>
            <a:endParaRPr lang="en-US" sz="870" dirty="0"/>
          </a:p>
        </p:txBody>
      </p:sp>
      <p:sp>
        <p:nvSpPr>
          <p:cNvPr id="10" name="Text 6"/>
          <p:cNvSpPr txBox="1"/>
          <p:nvPr/>
        </p:nvSpPr>
        <p:spPr>
          <a:xfrm>
            <a:off x="539496" y="360090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copper pipeline strong, timing uncertain</a:t>
            </a:r>
            <a:endParaRPr lang="en-US" sz="1100" dirty="0"/>
          </a:p>
        </p:txBody>
      </p:sp>
      <p:sp>
        <p:nvSpPr>
          <p:cNvPr id="11" name="Text 7"/>
          <p:cNvSpPr txBox="1"/>
          <p:nvPr/>
        </p:nvSpPr>
        <p:spPr>
          <a:xfrm>
            <a:off x="539496" y="384779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Epiroc gives no numeric guidance. It expects mining demand to remain high and infrastructure demand to remain stable, where in July it expected infrastructure to increase somewhat; the weakness is in housing-related attachments. Management calls the copper pipeline for the fourth and first quarters very strong, but warns that investment decisions take months to become firm orders. Lead times are six to seven months for underground equipment and up to 12 months for large surface rigs, so the order book feeds revenue into 2027. Savings from moving tools production from Langley, Canada, to Matehuala, Mexico, are not yet in the numbers.</a:t>
            </a:r>
            <a:endParaRPr lang="en-US" sz="870" dirty="0"/>
          </a:p>
        </p:txBody>
      </p:sp>
      <p:sp>
        <p:nvSpPr>
          <p:cNvPr id="12" name="Text 8"/>
          <p:cNvSpPr txBox="1"/>
          <p:nvPr/>
        </p:nvSpPr>
        <p:spPr>
          <a:xfrm>
            <a:off x="539496" y="492358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back to the long-run average</a:t>
            </a:r>
            <a:endParaRPr lang="en-US" sz="1100" dirty="0"/>
          </a:p>
        </p:txBody>
      </p:sp>
      <p:sp>
        <p:nvSpPr>
          <p:cNvPr id="13" name="Text 9"/>
          <p:cNvSpPr txBox="1"/>
          <p:nvPr/>
        </p:nvSpPr>
        <p:spPr>
          <a:xfrm>
            <a:off x="539496" y="5170475"/>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EPI A: share price vs. consensus earnings and valuation</a:t>
            </a:r>
            <a:endParaRPr lang="en-US" sz="870" dirty="0"/>
          </a:p>
        </p:txBody>
      </p:sp>
      <p:sp>
        <p:nvSpPr>
          <p:cNvPr id="14" name="Text 10"/>
          <p:cNvSpPr txBox="1"/>
          <p:nvPr/>
        </p:nvSpPr>
        <p:spPr>
          <a:xfrm>
            <a:off x="539496" y="5344211"/>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the June 2018 listing · Bloomberg 12m-forward consensus · 40-week MA · log scale · last price SEK 247.0, intraday 28 Oct</a:t>
            </a:r>
            <a:endParaRPr lang="en-US" sz="700" dirty="0"/>
          </a:p>
        </p:txBody>
      </p:sp>
      <p:pic>
        <p:nvPicPr>
          <p:cNvPr id="15" name="Image 2" descr="/home/claude/epi/c2_crop.png">    </p:cNvPr>
          <p:cNvPicPr>
            <a:picLocks noChangeAspect="1"/>
          </p:cNvPicPr>
          <p:nvPr/>
        </p:nvPicPr>
        <p:blipFill>
          <a:blip r:embed="rId3"/>
          <a:stretch>
            <a:fillRect/>
          </a:stretch>
        </p:blipFill>
        <p:spPr>
          <a:xfrm>
            <a:off x="928482" y="5505501"/>
            <a:ext cx="5705124" cy="3413946"/>
          </a:xfrm>
          <a:prstGeom prst="rect">
            <a:avLst/>
          </a:prstGeom>
        </p:spPr>
      </p:pic>
      <p:sp>
        <p:nvSpPr>
          <p:cNvPr id="16" name="Text 11"/>
          <p:cNvSpPr txBox="1"/>
          <p:nvPr/>
        </p:nvSpPr>
        <p:spPr>
          <a:xfrm>
            <a:off x="539496" y="89743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up 11% over 12 months while consensus 12m-forward EPS rose 22% to SEK 9.95, so earnings have outrun the price. Since the July results, EPS is up 6% and the price 5%. The forward P/E has fallen from 33.3x in February to 24.8x, in line with its average since the 2018 listing and well below the one-year average of 27.9x. The price sits 3.6% below its 40-week moving average of SEK 256 and 11% below the June high of SEK 278.2. The multiple no longer carries a premium; earnings delivery has to do the work.</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Epiroc Q3 2026 interim report and results call of 28 October 2026, StreetAccount,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Epiroc Q3 2026: margins deliver, orders and cash do not</dc:title>
  <dc:subject>PptxGenJS Presentation</dc:subject>
  <dc:creator>Syz Research</dc:creator>
  <cp:lastModifiedBy>Syz Research</cp:lastModifiedBy>
  <cp:revision>1</cp:revision>
  <dcterms:created xsi:type="dcterms:W3CDTF">2026-10-28T13:50:43Z</dcterms:created>
  <dcterms:modified xsi:type="dcterms:W3CDTF">2026-10-28T13:50:43Z</dcterms:modified>
</cp:coreProperties>
</file>