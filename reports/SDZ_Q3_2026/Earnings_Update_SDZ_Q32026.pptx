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28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55448"/>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Earnings update</a:t>
            </a:r>
            <a:endParaRPr lang="en-US" sz="700" dirty="0"/>
          </a:p>
        </p:txBody>
      </p:sp>
      <p:sp>
        <p:nvSpPr>
          <p:cNvPr id="7" name="Text 3"/>
          <p:cNvSpPr txBox="1"/>
          <p:nvPr/>
        </p:nvSpPr>
        <p:spPr>
          <a:xfrm>
            <a:off x="539496" y="1019556"/>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Sandoz Q3 2026: margins up, sales miss at a full valuation</a:t>
            </a:r>
            <a:endParaRPr lang="en-US" sz="1700" dirty="0"/>
          </a:p>
        </p:txBody>
      </p:sp>
      <p:sp>
        <p:nvSpPr>
          <p:cNvPr id="8" name="Text 4"/>
          <p:cNvSpPr txBox="1"/>
          <p:nvPr/>
        </p:nvSpPr>
        <p:spPr>
          <a:xfrm>
            <a:off x="539496" y="1319530"/>
            <a:ext cx="6483096" cy="164592"/>
          </a:xfrm>
          <a:prstGeom prst="rect">
            <a:avLst/>
          </a:prstGeom>
          <a:noFill/>
          <a:ln/>
        </p:spPr>
        <p:txBody>
          <a:bodyPr wrap="square" lIns="0" tIns="0" rIns="0" bIns="0" rtlCol="0" anchor="t"/>
          <a:lstStyle/>
          <a:p>
            <a:pPr indent="0" marL="0">
              <a:buNone/>
            </a:pPr>
            <a:r>
              <a:rPr lang="en-US" sz="870" b="1" dirty="0">
                <a:solidFill>
                  <a:srgbClr val="6B7280"/>
                </a:solidFill>
                <a:latin typeface="Nunito" pitchFamily="34" charset="0"/>
                <a:ea typeface="Nunito" pitchFamily="34" charset="-122"/>
                <a:cs typeface="Nunito" pitchFamily="34" charset="-120"/>
              </a:rPr>
              <a:t>28 October 2026 · Syz Research</a:t>
            </a:r>
            <a:endParaRPr lang="en-US" sz="870" dirty="0"/>
          </a:p>
        </p:txBody>
      </p:sp>
      <p:sp>
        <p:nvSpPr>
          <p:cNvPr id="9" name="Shape 5"/>
          <p:cNvSpPr/>
          <p:nvPr/>
        </p:nvSpPr>
        <p:spPr>
          <a:xfrm>
            <a:off x="539496" y="1602994"/>
            <a:ext cx="42977" cy="536067"/>
          </a:xfrm>
          <a:prstGeom prst="rect">
            <a:avLst/>
          </a:prstGeom>
          <a:solidFill>
            <a:srgbClr val="FF6C0E"/>
          </a:solidFill>
          <a:ln w="12700">
            <a:solidFill>
              <a:srgbClr val="FF6C0E"/>
            </a:solidFill>
            <a:prstDash val="solid"/>
          </a:ln>
        </p:spPr>
      </p:sp>
      <p:sp>
        <p:nvSpPr>
          <p:cNvPr id="10" name="Text 6"/>
          <p:cNvSpPr txBox="1"/>
          <p:nvPr/>
        </p:nvSpPr>
        <p:spPr>
          <a:xfrm>
            <a:off x="722376" y="1621282"/>
            <a:ext cx="6300216" cy="298323"/>
          </a:xfrm>
          <a:prstGeom prst="rect">
            <a:avLst/>
          </a:prstGeom>
          <a:noFill/>
          <a:ln/>
        </p:spPr>
        <p:txBody>
          <a:bodyPr wrap="square" lIns="0" tIns="0" rIns="0" bIns="0" rtlCol="0" anchor="t"/>
          <a:lstStyle/>
          <a:p>
            <a:pPr indent="0" marL="0">
              <a:lnSpc>
                <a:spcPct val="112500"/>
              </a:lnSpc>
              <a:buNone/>
            </a:pPr>
            <a:r>
              <a:rPr lang="en-US" sz="870" b="1" dirty="0">
                <a:solidFill>
                  <a:srgbClr val="202945"/>
                </a:solidFill>
                <a:latin typeface="Nunito" pitchFamily="34" charset="0"/>
                <a:ea typeface="Nunito" pitchFamily="34" charset="-122"/>
                <a:cs typeface="Nunito" pitchFamily="34" charset="-120"/>
              </a:rPr>
              <a:t>“Today, we have narrowed our 2026 net sales guidance to 5%–6% and upgraded our core EBITDA margin guidance for the year to 23%–23.5%. We will enter 2027 with strong momentum.”</a:t>
            </a:r>
            <a:endParaRPr lang="en-US" sz="870" dirty="0"/>
          </a:p>
        </p:txBody>
      </p:sp>
      <p:sp>
        <p:nvSpPr>
          <p:cNvPr id="11" name="Text 7"/>
          <p:cNvSpPr txBox="1"/>
          <p:nvPr/>
        </p:nvSpPr>
        <p:spPr>
          <a:xfrm>
            <a:off x="722376" y="1956181"/>
            <a:ext cx="6300216" cy="155448"/>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Richard Saynor, CEO, Q3 2026 earnings call, 28 October 2026</a:t>
            </a:r>
            <a:endParaRPr lang="en-US" sz="700" dirty="0"/>
          </a:p>
        </p:txBody>
      </p:sp>
      <p:sp>
        <p:nvSpPr>
          <p:cNvPr id="12" name="Text 8"/>
          <p:cNvSpPr txBox="1"/>
          <p:nvPr/>
        </p:nvSpPr>
        <p:spPr>
          <a:xfrm>
            <a:off x="539496" y="2257933"/>
            <a:ext cx="6483096" cy="332080"/>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Sandoz, spun off from Novartis in October 2023, sells generic medicines and biosimilars, copies of biologic drugs. Biosimilars are 34% of sales and Europe 53%. Nine-month 2026 sales USD 8.7bn; SIX-listed, market value around CHF 34bn.</a:t>
            </a:r>
            <a:endParaRPr lang="en-US" sz="870" dirty="0"/>
          </a:p>
        </p:txBody>
      </p:sp>
      <p:sp>
        <p:nvSpPr>
          <p:cNvPr id="13" name="Text 9"/>
          <p:cNvSpPr txBox="1"/>
          <p:nvPr/>
        </p:nvSpPr>
        <p:spPr>
          <a:xfrm>
            <a:off x="539496" y="270888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4" name="Text 10"/>
          <p:cNvSpPr txBox="1"/>
          <p:nvPr/>
        </p:nvSpPr>
        <p:spPr>
          <a:xfrm>
            <a:off x="539496" y="2969489"/>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Miss</a:t>
            </a:r>
            <a:endParaRPr lang="en-US" sz="700" dirty="0"/>
          </a:p>
        </p:txBody>
      </p:sp>
      <p:sp>
        <p:nvSpPr>
          <p:cNvPr id="15" name="Text 11"/>
          <p:cNvSpPr txBox="1"/>
          <p:nvPr/>
        </p:nvSpPr>
        <p:spPr>
          <a:xfrm>
            <a:off x="1133856" y="2946629"/>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Q3 sales of USD 2.94bn grew 5% at constant currencies, 1.8% below consensus.</a:t>
            </a:r>
            <a:endParaRPr lang="en-US" sz="870" dirty="0"/>
          </a:p>
        </p:txBody>
      </p:sp>
      <p:sp>
        <p:nvSpPr>
          <p:cNvPr id="16" name="Text 12"/>
          <p:cNvSpPr txBox="1"/>
          <p:nvPr/>
        </p:nvSpPr>
        <p:spPr>
          <a:xfrm>
            <a:off x="539496" y="3172104"/>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Reaction</a:t>
            </a:r>
            <a:endParaRPr lang="en-US" sz="700" dirty="0"/>
          </a:p>
        </p:txBody>
      </p:sp>
      <p:sp>
        <p:nvSpPr>
          <p:cNvPr id="17" name="Text 13"/>
          <p:cNvSpPr txBox="1"/>
          <p:nvPr/>
        </p:nvSpPr>
        <p:spPr>
          <a:xfrm>
            <a:off x="1133856" y="3149244"/>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Shares fell 3.0% on 28 October, two days after a record close and a 42% gain this year.</a:t>
            </a:r>
            <a:endParaRPr lang="en-US" sz="870" dirty="0"/>
          </a:p>
        </p:txBody>
      </p:sp>
      <p:sp>
        <p:nvSpPr>
          <p:cNvPr id="18" name="Text 14"/>
          <p:cNvSpPr txBox="1"/>
          <p:nvPr/>
        </p:nvSpPr>
        <p:spPr>
          <a:xfrm>
            <a:off x="539496" y="3374720"/>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Raised</a:t>
            </a:r>
            <a:endParaRPr lang="en-US" sz="700" dirty="0"/>
          </a:p>
        </p:txBody>
      </p:sp>
      <p:sp>
        <p:nvSpPr>
          <p:cNvPr id="19" name="Text 15"/>
          <p:cNvSpPr txBox="1"/>
          <p:nvPr/>
        </p:nvSpPr>
        <p:spPr>
          <a:xfrm>
            <a:off x="1133856" y="335186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Core EBITDA margin guide raised to 23.0–23.5% from about 22.7%; sales growth narrowed to 5–6%.</a:t>
            </a:r>
            <a:endParaRPr lang="en-US" sz="870" dirty="0"/>
          </a:p>
        </p:txBody>
      </p:sp>
      <p:sp>
        <p:nvSpPr>
          <p:cNvPr id="20" name="Text 16"/>
          <p:cNvSpPr txBox="1"/>
          <p:nvPr/>
        </p:nvSpPr>
        <p:spPr>
          <a:xfrm>
            <a:off x="539496" y="3577336"/>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1" name="Text 17"/>
          <p:cNvSpPr txBox="1"/>
          <p:nvPr/>
        </p:nvSpPr>
        <p:spPr>
          <a:xfrm>
            <a:off x="1133856" y="355447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21.6x forward earnings, 39% above the average since the 2023 listing, after a 24% rise since August.</a:t>
            </a:r>
            <a:endParaRPr lang="en-US" sz="870" dirty="0"/>
          </a:p>
        </p:txBody>
      </p:sp>
      <p:sp>
        <p:nvSpPr>
          <p:cNvPr id="22" name="Shape 18"/>
          <p:cNvSpPr/>
          <p:nvPr/>
        </p:nvSpPr>
        <p:spPr>
          <a:xfrm>
            <a:off x="539496" y="3839388"/>
            <a:ext cx="6483096" cy="640080"/>
          </a:xfrm>
          <a:prstGeom prst="rect">
            <a:avLst/>
          </a:prstGeom>
          <a:solidFill>
            <a:srgbClr val="FFFFFF"/>
          </a:solidFill>
          <a:ln w="16510">
            <a:solidFill>
              <a:srgbClr val="202945"/>
            </a:solidFill>
            <a:prstDash val="solid"/>
          </a:ln>
        </p:spPr>
      </p:sp>
      <p:sp>
        <p:nvSpPr>
          <p:cNvPr id="23" name="Text 19"/>
          <p:cNvSpPr txBox="1"/>
          <p:nvPr/>
        </p:nvSpPr>
        <p:spPr>
          <a:xfrm>
            <a:off x="649224"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Net sales</a:t>
            </a:r>
            <a:endParaRPr lang="en-US" sz="700" dirty="0"/>
          </a:p>
        </p:txBody>
      </p:sp>
      <p:sp>
        <p:nvSpPr>
          <p:cNvPr id="24" name="Text 20"/>
          <p:cNvSpPr txBox="1"/>
          <p:nvPr/>
        </p:nvSpPr>
        <p:spPr>
          <a:xfrm>
            <a:off x="649224"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2.94bn</a:t>
            </a:r>
            <a:endParaRPr lang="en-US" sz="1100" dirty="0"/>
          </a:p>
        </p:txBody>
      </p:sp>
      <p:sp>
        <p:nvSpPr>
          <p:cNvPr id="25" name="Text 21"/>
          <p:cNvSpPr txBox="1"/>
          <p:nvPr/>
        </p:nvSpPr>
        <p:spPr>
          <a:xfrm>
            <a:off x="649224" y="4260012"/>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-1.8% vs. consensus</a:t>
            </a:r>
            <a:endParaRPr lang="en-US" sz="700" dirty="0"/>
          </a:p>
        </p:txBody>
      </p:sp>
      <p:sp>
        <p:nvSpPr>
          <p:cNvPr id="26" name="Shape 22"/>
          <p:cNvSpPr/>
          <p:nvPr/>
        </p:nvSpPr>
        <p:spPr>
          <a:xfrm>
            <a:off x="2160270" y="3839388"/>
            <a:ext cx="0" cy="640080"/>
          </a:xfrm>
          <a:prstGeom prst="line">
            <a:avLst/>
          </a:prstGeom>
          <a:noFill/>
          <a:ln w="7620">
            <a:solidFill>
              <a:srgbClr val="D6D9DE"/>
            </a:solidFill>
            <a:prstDash val="solid"/>
          </a:ln>
        </p:spPr>
      </p:sp>
      <p:sp>
        <p:nvSpPr>
          <p:cNvPr id="27" name="Text 23"/>
          <p:cNvSpPr txBox="1"/>
          <p:nvPr/>
        </p:nvSpPr>
        <p:spPr>
          <a:xfrm>
            <a:off x="2269998"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Biosimilars</a:t>
            </a:r>
            <a:endParaRPr lang="en-US" sz="700" dirty="0"/>
          </a:p>
        </p:txBody>
      </p:sp>
      <p:sp>
        <p:nvSpPr>
          <p:cNvPr id="28" name="Text 24"/>
          <p:cNvSpPr txBox="1"/>
          <p:nvPr/>
        </p:nvSpPr>
        <p:spPr>
          <a:xfrm>
            <a:off x="2269998"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998m</a:t>
            </a:r>
            <a:endParaRPr lang="en-US" sz="1100" dirty="0"/>
          </a:p>
        </p:txBody>
      </p:sp>
      <p:sp>
        <p:nvSpPr>
          <p:cNvPr id="29" name="Text 25"/>
          <p:cNvSpPr txBox="1"/>
          <p:nvPr/>
        </p:nvSpPr>
        <p:spPr>
          <a:xfrm>
            <a:off x="2269998" y="4260012"/>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-2% vs. consensus</a:t>
            </a:r>
            <a:endParaRPr lang="en-US" sz="700" dirty="0"/>
          </a:p>
        </p:txBody>
      </p:sp>
      <p:sp>
        <p:nvSpPr>
          <p:cNvPr id="30" name="Shape 26"/>
          <p:cNvSpPr/>
          <p:nvPr/>
        </p:nvSpPr>
        <p:spPr>
          <a:xfrm>
            <a:off x="3781044" y="3839388"/>
            <a:ext cx="0" cy="640080"/>
          </a:xfrm>
          <a:prstGeom prst="line">
            <a:avLst/>
          </a:prstGeom>
          <a:noFill/>
          <a:ln w="7620">
            <a:solidFill>
              <a:srgbClr val="D6D9DE"/>
            </a:solidFill>
            <a:prstDash val="solid"/>
          </a:ln>
        </p:spPr>
      </p:sp>
      <p:sp>
        <p:nvSpPr>
          <p:cNvPr id="31" name="Text 27"/>
          <p:cNvSpPr txBox="1"/>
          <p:nvPr/>
        </p:nvSpPr>
        <p:spPr>
          <a:xfrm>
            <a:off x="3890772"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2026 sales growth guide</a:t>
            </a:r>
            <a:endParaRPr lang="en-US" sz="700" dirty="0"/>
          </a:p>
        </p:txBody>
      </p:sp>
      <p:sp>
        <p:nvSpPr>
          <p:cNvPr id="32" name="Text 28"/>
          <p:cNvSpPr txBox="1"/>
          <p:nvPr/>
        </p:nvSpPr>
        <p:spPr>
          <a:xfrm>
            <a:off x="3890772"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5–6% CC</a:t>
            </a:r>
            <a:endParaRPr lang="en-US" sz="1100" dirty="0"/>
          </a:p>
        </p:txBody>
      </p:sp>
      <p:sp>
        <p:nvSpPr>
          <p:cNvPr id="33" name="Text 29"/>
          <p:cNvSpPr txBox="1"/>
          <p:nvPr/>
        </p:nvSpPr>
        <p:spPr>
          <a:xfrm>
            <a:off x="3890772" y="4260012"/>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Narrowed, lower end</a:t>
            </a:r>
            <a:endParaRPr lang="en-US" sz="700" dirty="0"/>
          </a:p>
        </p:txBody>
      </p:sp>
      <p:sp>
        <p:nvSpPr>
          <p:cNvPr id="34" name="Shape 30"/>
          <p:cNvSpPr/>
          <p:nvPr/>
        </p:nvSpPr>
        <p:spPr>
          <a:xfrm>
            <a:off x="5401818" y="3839388"/>
            <a:ext cx="0" cy="640080"/>
          </a:xfrm>
          <a:prstGeom prst="line">
            <a:avLst/>
          </a:prstGeom>
          <a:noFill/>
          <a:ln w="7620">
            <a:solidFill>
              <a:srgbClr val="D6D9DE"/>
            </a:solidFill>
            <a:prstDash val="solid"/>
          </a:ln>
        </p:spPr>
      </p:sp>
      <p:sp>
        <p:nvSpPr>
          <p:cNvPr id="35" name="Text 31"/>
          <p:cNvSpPr txBox="1"/>
          <p:nvPr/>
        </p:nvSpPr>
        <p:spPr>
          <a:xfrm>
            <a:off x="5511546"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2026 core EBITDA margin</a:t>
            </a:r>
            <a:endParaRPr lang="en-US" sz="700" dirty="0"/>
          </a:p>
        </p:txBody>
      </p:sp>
      <p:sp>
        <p:nvSpPr>
          <p:cNvPr id="36" name="Text 32"/>
          <p:cNvSpPr txBox="1"/>
          <p:nvPr/>
        </p:nvSpPr>
        <p:spPr>
          <a:xfrm>
            <a:off x="5511546"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23.0–23.5%</a:t>
            </a:r>
            <a:endParaRPr lang="en-US" sz="1100" dirty="0"/>
          </a:p>
        </p:txBody>
      </p:sp>
      <p:sp>
        <p:nvSpPr>
          <p:cNvPr id="37" name="Text 33"/>
          <p:cNvSpPr txBox="1"/>
          <p:nvPr/>
        </p:nvSpPr>
        <p:spPr>
          <a:xfrm>
            <a:off x="5511546"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+55bp vs. prior guide</a:t>
            </a:r>
            <a:endParaRPr lang="en-US" sz="700" dirty="0"/>
          </a:p>
        </p:txBody>
      </p:sp>
      <p:sp>
        <p:nvSpPr>
          <p:cNvPr id="38" name="Text 34"/>
          <p:cNvSpPr txBox="1"/>
          <p:nvPr/>
        </p:nvSpPr>
        <p:spPr>
          <a:xfrm>
            <a:off x="539496" y="4598340"/>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A margin upgrade meets a full valuation</a:t>
            </a:r>
            <a:endParaRPr lang="en-US" sz="1100" dirty="0"/>
          </a:p>
        </p:txBody>
      </p:sp>
      <p:sp>
        <p:nvSpPr>
          <p:cNvPr id="39" name="Text 35"/>
          <p:cNvSpPr txBox="1"/>
          <p:nvPr/>
        </p:nvSpPr>
        <p:spPr>
          <a:xfrm>
            <a:off x="539496" y="4845228"/>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Q3 sales missed consensus by 1.8%, Sandoz narrowed its 2026 growth guide to the low end of its range, and the shares fell 3.0% on 28 October. The fall is large for the size of the miss, since the higher margin guide points to earnings estimates 1% to 3% higher. The stock entered the release at 22.2x forward earnings, the highest since February.</a:t>
            </a:r>
            <a:endParaRPr lang="en-US" sz="870" dirty="0"/>
          </a:p>
        </p:txBody>
      </p:sp>
      <p:sp>
        <p:nvSpPr>
          <p:cNvPr id="40" name="Text 36"/>
          <p:cNvSpPr txBox="1"/>
          <p:nvPr/>
        </p:nvSpPr>
        <p:spPr>
          <a:xfrm>
            <a:off x="539496" y="5413756"/>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1</a:t>
            </a:r>
            <a:pPr indent="0" marL="0">
              <a:buNone/>
            </a:pPr>
            <a:r>
              <a:rPr lang="en-US" sz="870" b="1" dirty="0">
                <a:solidFill>
                  <a:srgbClr val="202945"/>
                </a:solidFill>
                <a:latin typeface="Nunito" pitchFamily="34" charset="0"/>
                <a:ea typeface="Nunito" pitchFamily="34" charset="-122"/>
                <a:cs typeface="Nunito" pitchFamily="34" charset="-120"/>
              </a:rPr>
              <a:t> · SDZ: Q3 2026 sales growth by business and region</a:t>
            </a:r>
            <a:endParaRPr lang="en-US" sz="870" dirty="0"/>
          </a:p>
        </p:txBody>
      </p:sp>
      <p:sp>
        <p:nvSpPr>
          <p:cNvPr id="41" name="Text 37"/>
          <p:cNvSpPr txBox="1"/>
          <p:nvPr/>
        </p:nvSpPr>
        <p:spPr>
          <a:xfrm>
            <a:off x="539496" y="5587492"/>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Net sales growth at constant currencies, % · group ex B2B excludes the anti-infective active ingredient headwind · company figures</a:t>
            </a:r>
            <a:endParaRPr lang="en-US" sz="700" dirty="0"/>
          </a:p>
        </p:txBody>
      </p:sp>
      <p:pic>
        <p:nvPicPr>
          <p:cNvPr id="42" name="Image 2" descr="/home/claude/sdz/c1_crop.png">    </p:cNvPr>
          <p:cNvPicPr>
            <a:picLocks noChangeAspect="1"/>
          </p:cNvPicPr>
          <p:nvPr/>
        </p:nvPicPr>
        <p:blipFill>
          <a:blip r:embed="rId3"/>
          <a:stretch>
            <a:fillRect/>
          </a:stretch>
        </p:blipFill>
        <p:spPr>
          <a:xfrm>
            <a:off x="1511960" y="5748782"/>
            <a:ext cx="4538167" cy="1415908"/>
          </a:xfrm>
          <a:prstGeom prst="rect">
            <a:avLst/>
          </a:prstGeom>
        </p:spPr>
      </p:pic>
      <p:sp>
        <p:nvSpPr>
          <p:cNvPr id="43" name="Text 38"/>
          <p:cNvSpPr txBox="1"/>
          <p:nvPr/>
        </p:nvSpPr>
        <p:spPr>
          <a:xfrm>
            <a:off x="539496" y="7219554"/>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Biosimilars grew 17% and now make up 34% of sales, carried by Wyost and Jubbonti in North America, where sales rose 20%. Generics were flat, held back by lower penicillin ingredient prices; excluding that B2B headwind, group growth was 7%. Europe grew 1%, slowed by biosimilar supply tightness and a difficult German market.</a:t>
            </a:r>
            <a:endParaRPr lang="en-US" sz="870" dirty="0"/>
          </a:p>
        </p:txBody>
      </p:sp>
      <p:sp>
        <p:nvSpPr>
          <p:cNvPr id="44" name="Text 39"/>
          <p:cNvSpPr txBox="1"/>
          <p:nvPr/>
        </p:nvSpPr>
        <p:spPr>
          <a:xfrm>
            <a:off x="539496" y="782465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5" name="Text 40"/>
          <p:cNvSpPr txBox="1"/>
          <p:nvPr/>
        </p:nvSpPr>
        <p:spPr>
          <a:xfrm>
            <a:off x="539496" y="807154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stay positive on Sandoz and keep the position. We underwrite consensus forward EPS of USD 4.45, 16% above a year ago, carried by the biosimilar mix and the higher margin guide. The debate has moved from growth to supply: biosimilar capacity stays tight until 2027 and the German market is unsettled. At 21.6x, the valuation leaves little room for further sales misses, and we expect the shares to follow earnings upgrades from here. The next test is the full-year results in March 2027, with the first 2027 guidance.</a:t>
            </a:r>
            <a:endParaRPr lang="en-US" sz="870" dirty="0"/>
          </a:p>
        </p:txBody>
      </p:sp>
      <p:sp>
        <p:nvSpPr>
          <p:cNvPr id="46" name="Shape 41"/>
          <p:cNvSpPr/>
          <p:nvPr/>
        </p:nvSpPr>
        <p:spPr>
          <a:xfrm>
            <a:off x="3781044" y="8990442"/>
            <a:ext cx="0" cy="828751"/>
          </a:xfrm>
          <a:prstGeom prst="line">
            <a:avLst/>
          </a:prstGeom>
          <a:noFill/>
          <a:ln w="7620">
            <a:solidFill>
              <a:srgbClr val="D6D9DE"/>
            </a:solidFill>
            <a:prstDash val="solid"/>
          </a:ln>
        </p:spPr>
      </p:sp>
      <p:sp>
        <p:nvSpPr>
          <p:cNvPr id="47" name="Text 42"/>
          <p:cNvSpPr txBox="1"/>
          <p:nvPr/>
        </p:nvSpPr>
        <p:spPr>
          <a:xfrm>
            <a:off x="539496" y="8990442"/>
            <a:ext cx="3058668"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strengthen our view</a:t>
            </a:r>
            <a:endParaRPr lang="en-US" sz="700" dirty="0"/>
          </a:p>
        </p:txBody>
      </p:sp>
      <p:sp>
        <p:nvSpPr>
          <p:cNvPr id="48" name="Text 43"/>
          <p:cNvSpPr txBox="1"/>
          <p:nvPr/>
        </p:nvSpPr>
        <p:spPr>
          <a:xfrm>
            <a:off x="539496" y="9182466"/>
            <a:ext cx="3058668"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Biosimilar supply restored ahead of the 2027 target, with European growth back above 5%; the anti-infective headwind gone in Q4 as guided; a 2027 core EBITDA margin guide above 24%, helped by generic semaglutide launches.</a:t>
            </a:r>
            <a:endParaRPr lang="en-US" sz="870" dirty="0"/>
          </a:p>
        </p:txBody>
      </p:sp>
      <p:sp>
        <p:nvSpPr>
          <p:cNvPr id="49" name="Text 44"/>
          <p:cNvSpPr txBox="1"/>
          <p:nvPr/>
        </p:nvSpPr>
        <p:spPr>
          <a:xfrm>
            <a:off x="3963924" y="8990442"/>
            <a:ext cx="3058668"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change our view</a:t>
            </a:r>
            <a:endParaRPr lang="en-US" sz="700" dirty="0"/>
          </a:p>
        </p:txBody>
      </p:sp>
      <p:sp>
        <p:nvSpPr>
          <p:cNvPr id="50" name="Text 45"/>
          <p:cNvSpPr txBox="1"/>
          <p:nvPr/>
        </p:nvSpPr>
        <p:spPr>
          <a:xfrm>
            <a:off x="3963924" y="9182466"/>
            <a:ext cx="3058668"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Q4 sales growth below 4% at constant currencies, leaving 2026 under the new 5% floor; supply limits lasting into the second half of 2027; further German price cuts or tender losses that keep European growth near zero.</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28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329184"/>
          </a:xfrm>
          <a:prstGeom prst="rect">
            <a:avLst/>
          </a:prstGeom>
          <a:noFill/>
          <a:ln/>
        </p:spPr>
        <p:txBody>
          <a:bodyPr wrap="square" lIns="0" tIns="0" rIns="0" bIns="0" rtlCol="0" anchor="t"/>
          <a:lstStyle/>
          <a:p>
            <a:pPr indent="0" marL="0">
              <a:buNone/>
            </a:pPr>
            <a:r>
              <a:rPr lang="en-US" sz="1700" b="1" dirty="0">
                <a:solidFill>
                  <a:srgbClr val="202945"/>
                </a:solidFill>
                <a:latin typeface="Nunito" pitchFamily="34" charset="0"/>
                <a:ea typeface="Nunito" pitchFamily="34" charset="-122"/>
                <a:cs typeface="Nunito" pitchFamily="34" charset="-120"/>
              </a:rPr>
              <a:t>Beyond the key takeaways</a:t>
            </a:r>
            <a:endParaRPr lang="en-US" sz="1700" dirty="0"/>
          </a:p>
        </p:txBody>
      </p:sp>
      <p:sp>
        <p:nvSpPr>
          <p:cNvPr id="7" name="Text 3"/>
          <p:cNvSpPr txBox="1"/>
          <p:nvPr/>
        </p:nvSpPr>
        <p:spPr>
          <a:xfrm>
            <a:off x="539496" y="123901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biosimilars grew, generics stalled</a:t>
            </a:r>
            <a:endParaRPr lang="en-US" sz="1100" dirty="0"/>
          </a:p>
        </p:txBody>
      </p:sp>
      <p:sp>
        <p:nvSpPr>
          <p:cNvPr id="8" name="Text 4"/>
          <p:cNvSpPr txBox="1"/>
          <p:nvPr/>
        </p:nvSpPr>
        <p:spPr>
          <a:xfrm>
            <a:off x="539496" y="148590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Net sales rose 4% in dollars and 5% at constant currencies to USD 2.94bn. Biosimilars grew 17% at constant currencies to USD 998m, supported by Wyost and Jubbonti in the US, with shares of 56% and 49% of their biosimilar markets, and by the European launch of Afqlir, at 73% share across 22 markets. Generics were flat at USD 1.94bn: lower prices for penicillin active ingredients, after Chinese suppliers cut prices following US tariffs, weighed on the anti-infective B2B business. Excluding that effect, generics grew 2% and the group 7%. Over nine months, sales rose 5% to USD 8.70bn, with volumes up 10% and prices down 5%.</a:t>
            </a:r>
            <a:endParaRPr lang="en-US" sz="870" dirty="0"/>
          </a:p>
        </p:txBody>
      </p:sp>
      <p:sp>
        <p:nvSpPr>
          <p:cNvPr id="9" name="Text 5"/>
          <p:cNvSpPr txBox="1"/>
          <p:nvPr/>
        </p:nvSpPr>
        <p:spPr>
          <a:xfrm>
            <a:off x="539496" y="252511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Sales were 1.8% below consensus, with biosimilars 2% short and generics 1.8% short, and the shares fell 3.0% on 28 October. The move is large for a sales miss of this size combined with a higher margin guide, so surprise and reaction diverge in degree. The confirmed drivers are the narrowed sales guide, now at the lower end of the earlier range, and the shortfall in European biosimilar supply. We think positioning explains the rest: the shares closed at a record CHF 82.36 two days before the release, up 24% since the H1 results, on 22.4x forward earnings.</a:t>
            </a:r>
            <a:endParaRPr lang="en-US" sz="870" dirty="0"/>
          </a:p>
        </p:txBody>
      </p:sp>
      <p:sp>
        <p:nvSpPr>
          <p:cNvPr id="10" name="Text 6"/>
          <p:cNvSpPr txBox="1"/>
          <p:nvPr/>
        </p:nvSpPr>
        <p:spPr>
          <a:xfrm>
            <a:off x="539496" y="344401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margin guide up, sales range narrowed</a:t>
            </a:r>
            <a:endParaRPr lang="en-US" sz="1100" dirty="0"/>
          </a:p>
        </p:txBody>
      </p:sp>
      <p:sp>
        <p:nvSpPr>
          <p:cNvPr id="11" name="Text 7"/>
          <p:cNvSpPr txBox="1"/>
          <p:nvPr/>
        </p:nvSpPr>
        <p:spPr>
          <a:xfrm>
            <a:off x="539496" y="3690899"/>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Sandoz now expects 2026 sales growth of 5% to 6% at constant currencies, against mid-to-high single digits before, and a core EBITDA margin of 23.0% to 23.5%, against an earlier target of about 22.7% and 21.7% in 2025. With a first-half margin of 20.9%, the new range implies a second-half margin of about 25% on our estimates. Management expects the anti-infective headwind to become immaterial from Q4 and the biosimilar supply constraints to ease by 2027 as partners add capacity. Generic semaglutide shipped to Brazil and won approval in Canada; it adds nothing material in 2026 and becomes a growth driver in 2027.</a:t>
            </a:r>
            <a:endParaRPr lang="en-US" sz="870" dirty="0"/>
          </a:p>
        </p:txBody>
      </p:sp>
      <p:sp>
        <p:nvSpPr>
          <p:cNvPr id="12" name="Text 8"/>
          <p:cNvSpPr txBox="1"/>
          <p:nvPr/>
        </p:nvSpPr>
        <p:spPr>
          <a:xfrm>
            <a:off x="539496" y="476669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the multiple ran ahead of earnings</a:t>
            </a:r>
            <a:endParaRPr lang="en-US" sz="1100" dirty="0"/>
          </a:p>
        </p:txBody>
      </p:sp>
      <p:sp>
        <p:nvSpPr>
          <p:cNvPr id="13" name="Text 9"/>
          <p:cNvSpPr txBox="1"/>
          <p:nvPr/>
        </p:nvSpPr>
        <p:spPr>
          <a:xfrm>
            <a:off x="539496" y="5013579"/>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2</a:t>
            </a:r>
            <a:pPr indent="0" marL="0">
              <a:buNone/>
            </a:pPr>
            <a:r>
              <a:rPr lang="en-US" sz="870" b="1" dirty="0">
                <a:solidFill>
                  <a:srgbClr val="202945"/>
                </a:solidFill>
                <a:latin typeface="Nunito" pitchFamily="34" charset="0"/>
                <a:ea typeface="Nunito" pitchFamily="34" charset="-122"/>
                <a:cs typeface="Nunito" pitchFamily="34" charset="-120"/>
              </a:rPr>
              <a:t> · SDZ: share price vs. consensus earnings and valuation</a:t>
            </a:r>
            <a:endParaRPr lang="en-US" sz="870" dirty="0"/>
          </a:p>
        </p:txBody>
      </p:sp>
      <p:sp>
        <p:nvSpPr>
          <p:cNvPr id="14" name="Text 10"/>
          <p:cNvSpPr txBox="1"/>
          <p:nvPr/>
        </p:nvSpPr>
        <p:spPr>
          <a:xfrm>
            <a:off x="539496" y="5187315"/>
            <a:ext cx="6483096" cy="23114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SDZ SW Equity, daily data resampled to weekly, from October 2023 · BEst 12m-forward consensus, EPS converted to CHF as price divided by P/E · 40-week simple MA · log scale · P/E shaded above (orange) / below (blue) its average since October 2023 · last price as of 28 October, the release day</a:t>
            </a:r>
            <a:endParaRPr lang="en-US" sz="700" dirty="0"/>
          </a:p>
        </p:txBody>
      </p:sp>
      <p:pic>
        <p:nvPicPr>
          <p:cNvPr id="15" name="Image 2" descr="/home/claude/sdz/c2_crop.png">    </p:cNvPr>
          <p:cNvPicPr>
            <a:picLocks noChangeAspect="1"/>
          </p:cNvPicPr>
          <p:nvPr/>
        </p:nvPicPr>
        <p:blipFill>
          <a:blip r:embed="rId3"/>
          <a:stretch>
            <a:fillRect/>
          </a:stretch>
        </p:blipFill>
        <p:spPr>
          <a:xfrm>
            <a:off x="928482" y="5464175"/>
            <a:ext cx="5705124" cy="3413946"/>
          </a:xfrm>
          <a:prstGeom prst="rect">
            <a:avLst/>
          </a:prstGeom>
        </p:spPr>
      </p:pic>
      <p:sp>
        <p:nvSpPr>
          <p:cNvPr id="16" name="Text 11"/>
          <p:cNvSpPr txBox="1"/>
          <p:nvPr/>
        </p:nvSpPr>
        <p:spPr>
          <a:xfrm>
            <a:off x="539496" y="8932985"/>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Over 12 months the share price rose 60% while consensus forward EPS rose 16% in dollars, so most of the gain came from the multiple. Since the H1 results on 5 August the price is up 24% and EPS in francs 5%, taking the forward P/E from 18.3x to 22.4x on 26 October. It now stands at 21.6x, 39% above the 15.5x average since the 2023 listing and above the 19.4x one-year average. The price is 18% above its 40-week average of CHF 67.5. A 10% upgrade at today’s price would bring the multiple to 19.6x.</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28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664708"/>
            <a:ext cx="6483096" cy="18288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SYZ</a:t>
            </a:r>
            <a:pPr indent="0" marL="0">
              <a:buNone/>
            </a:pPr>
            <a:r>
              <a:rPr lang="en-US" sz="700" b="1" dirty="0">
                <a:solidFill>
                  <a:srgbClr val="9AA0A8"/>
                </a:solidFill>
                <a:latin typeface="Nunito" pitchFamily="34" charset="0"/>
                <a:ea typeface="Nunito" pitchFamily="34" charset="-122"/>
                <a:cs typeface="Nunito" pitchFamily="34" charset="-120"/>
              </a:rPr>
              <a:t> Source: Syz Research, Bloomberg, company filings, Sandoz results release and earnings call of 28 October 2026, Finanz und Wirtschaft and AWP of 28 October 2026, analyst research notes of 16 and 28 October 2026</a:t>
            </a:r>
            <a:endParaRPr lang="en-US" sz="700" dirty="0"/>
          </a:p>
        </p:txBody>
      </p:sp>
      <p:sp>
        <p:nvSpPr>
          <p:cNvPr id="7" name="Text 3"/>
          <p:cNvSpPr txBox="1"/>
          <p:nvPr/>
        </p:nvSpPr>
        <p:spPr>
          <a:xfrm>
            <a:off x="539496" y="5993892"/>
            <a:ext cx="6483096" cy="182880"/>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Disclaimer</a:t>
            </a:r>
            <a:endParaRPr lang="en-US" sz="700" dirty="0"/>
          </a:p>
        </p:txBody>
      </p:sp>
      <p:sp>
        <p:nvSpPr>
          <p:cNvPr id="8" name="Text 4"/>
          <p:cNvSpPr txBox="1"/>
          <p:nvPr/>
        </p:nvSpPr>
        <p:spPr>
          <a:xfrm>
            <a:off x="539496" y="6176772"/>
            <a:ext cx="6483096" cy="55270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700" dirty="0"/>
          </a:p>
        </p:txBody>
      </p:sp>
      <p:sp>
        <p:nvSpPr>
          <p:cNvPr id="9" name="Text 5"/>
          <p:cNvSpPr txBox="1"/>
          <p:nvPr/>
        </p:nvSpPr>
        <p:spPr>
          <a:xfrm>
            <a:off x="539496" y="672947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700" dirty="0"/>
          </a:p>
        </p:txBody>
      </p:sp>
      <p:sp>
        <p:nvSpPr>
          <p:cNvPr id="10" name="Text 6"/>
          <p:cNvSpPr txBox="1"/>
          <p:nvPr/>
        </p:nvSpPr>
        <p:spPr>
          <a:xfrm>
            <a:off x="539496" y="7157720"/>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700" dirty="0"/>
          </a:p>
        </p:txBody>
      </p:sp>
      <p:sp>
        <p:nvSpPr>
          <p:cNvPr id="11" name="Text 7"/>
          <p:cNvSpPr txBox="1"/>
          <p:nvPr/>
        </p:nvSpPr>
        <p:spPr>
          <a:xfrm>
            <a:off x="539496" y="7585964"/>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700" dirty="0"/>
          </a:p>
        </p:txBody>
      </p:sp>
      <p:sp>
        <p:nvSpPr>
          <p:cNvPr id="12" name="Text 8"/>
          <p:cNvSpPr txBox="1"/>
          <p:nvPr/>
        </p:nvSpPr>
        <p:spPr>
          <a:xfrm>
            <a:off x="539496" y="8387588"/>
            <a:ext cx="6483096" cy="30378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700" dirty="0"/>
          </a:p>
        </p:txBody>
      </p:sp>
      <p:sp>
        <p:nvSpPr>
          <p:cNvPr id="13" name="Text 9"/>
          <p:cNvSpPr txBox="1"/>
          <p:nvPr/>
        </p:nvSpPr>
        <p:spPr>
          <a:xfrm>
            <a:off x="539496" y="8691372"/>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700" dirty="0"/>
          </a:p>
        </p:txBody>
      </p:sp>
      <p:sp>
        <p:nvSpPr>
          <p:cNvPr id="14" name="Text 10"/>
          <p:cNvSpPr txBox="1"/>
          <p:nvPr/>
        </p:nvSpPr>
        <p:spPr>
          <a:xfrm>
            <a:off x="539496" y="949299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Sandoz Q3 2026: margins up, sales miss at a full valuation</dc:title>
  <dc:subject>PptxGenJS Presentation</dc:subject>
  <dc:creator>Syz Research</dc:creator>
  <cp:lastModifiedBy>Syz Research</cp:lastModifiedBy>
  <cp:revision>1</cp:revision>
  <dcterms:created xsi:type="dcterms:W3CDTF">2026-10-28T13:47:25Z</dcterms:created>
  <dcterms:modified xsi:type="dcterms:W3CDTF">2026-10-28T13:47:25Z</dcterms:modified>
</cp:coreProperties>
</file>