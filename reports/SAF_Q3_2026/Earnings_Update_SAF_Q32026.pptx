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23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1 / 3</a:t>
            </a:r>
            <a:endParaRPr lang="en-US" sz="700" dirty="0"/>
          </a:p>
        </p:txBody>
      </p:sp>
      <p:sp>
        <p:nvSpPr>
          <p:cNvPr id="6" name="Text 2"/>
          <p:cNvSpPr txBox="1"/>
          <p:nvPr/>
        </p:nvSpPr>
        <p:spPr>
          <a:xfrm>
            <a:off x="539496" y="836676"/>
            <a:ext cx="6483096" cy="164592"/>
          </a:xfrm>
          <a:prstGeom prst="rect">
            <a:avLst/>
          </a:prstGeom>
          <a:noFill/>
          <a:ln/>
        </p:spPr>
        <p:txBody>
          <a:bodyPr wrap="square" lIns="0" tIns="0" rIns="0" bIns="0" rtlCol="0" anchor="t"/>
          <a:lstStyle/>
          <a:p>
            <a:pPr indent="0" marL="0">
              <a:buNone/>
            </a:pPr>
            <a:r>
              <a:rPr lang="en-US" sz="800" b="1" spc="120" kern="0" dirty="0">
                <a:solidFill>
                  <a:srgbClr val="FF6C0E"/>
                </a:solidFill>
                <a:latin typeface="Nunito" pitchFamily="34" charset="0"/>
                <a:ea typeface="Nunito" pitchFamily="34" charset="-122"/>
                <a:cs typeface="Nunito" pitchFamily="34" charset="-120"/>
              </a:rPr>
              <a:t>Earnings update · Aerospace and defence</a:t>
            </a:r>
            <a:endParaRPr lang="en-US" sz="800" dirty="0"/>
          </a:p>
        </p:txBody>
      </p:sp>
      <p:sp>
        <p:nvSpPr>
          <p:cNvPr id="7" name="Text 3"/>
          <p:cNvSpPr txBox="1"/>
          <p:nvPr/>
        </p:nvSpPr>
        <p:spPr>
          <a:xfrm>
            <a:off x="539496" y="1028700"/>
            <a:ext cx="6483096" cy="263398"/>
          </a:xfrm>
          <a:prstGeom prst="rect">
            <a:avLst/>
          </a:prstGeom>
          <a:noFill/>
          <a:ln/>
        </p:spPr>
        <p:txBody>
          <a:bodyPr wrap="square" lIns="0" tIns="0" rIns="0" bIns="0" rtlCol="0" anchor="t"/>
          <a:lstStyle/>
          <a:p>
            <a:pPr indent="0" marL="0">
              <a:lnSpc>
                <a:spcPct val="101667"/>
              </a:lnSpc>
              <a:buNone/>
            </a:pPr>
            <a:r>
              <a:rPr lang="en-US" sz="1700" b="1" dirty="0">
                <a:solidFill>
                  <a:srgbClr val="202945"/>
                </a:solidFill>
                <a:latin typeface="Nunito" pitchFamily="34" charset="0"/>
                <a:ea typeface="Nunito" pitchFamily="34" charset="-122"/>
                <a:cs typeface="Nunito" pitchFamily="34" charset="-120"/>
              </a:rPr>
              <a:t>Safran Q3 2026: no upgrade, the de-rating overshoots</a:t>
            </a:r>
            <a:endParaRPr lang="en-US" sz="1700" dirty="0"/>
          </a:p>
        </p:txBody>
      </p:sp>
      <p:sp>
        <p:nvSpPr>
          <p:cNvPr id="8" name="Text 4"/>
          <p:cNvSpPr txBox="1"/>
          <p:nvPr/>
        </p:nvSpPr>
        <p:spPr>
          <a:xfrm>
            <a:off x="539496" y="1328674"/>
            <a:ext cx="6483096" cy="164592"/>
          </a:xfrm>
          <a:prstGeom prst="rect">
            <a:avLst/>
          </a:prstGeom>
          <a:noFill/>
          <a:ln/>
        </p:spPr>
        <p:txBody>
          <a:bodyPr wrap="square" lIns="0" tIns="0" rIns="0" bIns="0" rtlCol="0" anchor="t"/>
          <a:lstStyle/>
          <a:p>
            <a:pPr indent="0" marL="0">
              <a:buNone/>
            </a:pPr>
            <a:r>
              <a:rPr lang="en-US" sz="850" b="1" dirty="0">
                <a:solidFill>
                  <a:srgbClr val="6B7280"/>
                </a:solidFill>
                <a:latin typeface="Nunito" pitchFamily="34" charset="0"/>
                <a:ea typeface="Nunito" pitchFamily="34" charset="-122"/>
                <a:cs typeface="Nunito" pitchFamily="34" charset="-120"/>
              </a:rPr>
              <a:t>23 October 2026 · Syz Research</a:t>
            </a:r>
            <a:endParaRPr lang="en-US" sz="850" dirty="0"/>
          </a:p>
        </p:txBody>
      </p:sp>
      <p:sp>
        <p:nvSpPr>
          <p:cNvPr id="9" name="Text 5"/>
          <p:cNvSpPr txBox="1"/>
          <p:nvPr/>
        </p:nvSpPr>
        <p:spPr>
          <a:xfrm>
            <a:off x="539496" y="1612138"/>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Key takeaways</a:t>
            </a:r>
            <a:endParaRPr lang="en-US" sz="1100" dirty="0"/>
          </a:p>
        </p:txBody>
      </p:sp>
      <p:sp>
        <p:nvSpPr>
          <p:cNvPr id="10" name="Text 6"/>
          <p:cNvSpPr txBox="1"/>
          <p:nvPr/>
        </p:nvSpPr>
        <p:spPr>
          <a:xfrm>
            <a:off x="539496" y="1872742"/>
            <a:ext cx="576072" cy="156896"/>
          </a:xfrm>
          <a:prstGeom prst="rect">
            <a:avLst/>
          </a:prstGeom>
          <a:noFill/>
          <a:ln/>
        </p:spPr>
        <p:txBody>
          <a:bodyPr wrap="square" lIns="0" tIns="0" rIns="0" bIns="0" rtlCol="0" anchor="t"/>
          <a:lstStyle/>
          <a:p>
            <a:pPr indent="0" marL="0">
              <a:buNone/>
            </a:pPr>
            <a:r>
              <a:rPr lang="en-US" sz="700" b="1" spc="80" kern="0" dirty="0">
                <a:solidFill>
                  <a:srgbClr val="3BAF90"/>
                </a:solidFill>
                <a:latin typeface="Nunito" pitchFamily="34" charset="0"/>
                <a:ea typeface="Nunito" pitchFamily="34" charset="-122"/>
                <a:cs typeface="Nunito" pitchFamily="34" charset="-120"/>
              </a:rPr>
              <a:t>In line</a:t>
            </a:r>
            <a:endParaRPr lang="en-US" sz="700" dirty="0"/>
          </a:p>
        </p:txBody>
      </p:sp>
      <p:sp>
        <p:nvSpPr>
          <p:cNvPr id="11" name="Text 7"/>
          <p:cNvSpPr txBox="1"/>
          <p:nvPr/>
        </p:nvSpPr>
        <p:spPr>
          <a:xfrm>
            <a:off x="1133856" y="1849882"/>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Q3 revenue of EUR 9.0bn was in line; propulsion aftermarket rose 18.7% and defence beat.</a:t>
            </a:r>
            <a:endParaRPr lang="en-US" sz="870" dirty="0"/>
          </a:p>
        </p:txBody>
      </p:sp>
      <p:sp>
        <p:nvSpPr>
          <p:cNvPr id="12" name="Text 8"/>
          <p:cNvSpPr txBox="1"/>
          <p:nvPr/>
        </p:nvSpPr>
        <p:spPr>
          <a:xfrm>
            <a:off x="539496" y="2075358"/>
            <a:ext cx="576072" cy="156896"/>
          </a:xfrm>
          <a:prstGeom prst="rect">
            <a:avLst/>
          </a:prstGeom>
          <a:noFill/>
          <a:ln/>
        </p:spPr>
        <p:txBody>
          <a:bodyPr wrap="square" lIns="0" tIns="0" rIns="0" bIns="0" rtlCol="0" anchor="t"/>
          <a:lstStyle/>
          <a:p>
            <a:pPr indent="0" marL="0">
              <a:buNone/>
            </a:pPr>
            <a:r>
              <a:rPr lang="en-US" sz="700" b="1" spc="80" kern="0" dirty="0">
                <a:solidFill>
                  <a:srgbClr val="FF6C0E"/>
                </a:solidFill>
                <a:latin typeface="Nunito" pitchFamily="34" charset="0"/>
                <a:ea typeface="Nunito" pitchFamily="34" charset="-122"/>
                <a:cs typeface="Nunito" pitchFamily="34" charset="-120"/>
              </a:rPr>
              <a:t>No raise</a:t>
            </a:r>
            <a:endParaRPr lang="en-US" sz="700" dirty="0"/>
          </a:p>
        </p:txBody>
      </p:sp>
      <p:sp>
        <p:nvSpPr>
          <p:cNvPr id="13" name="Text 9"/>
          <p:cNvSpPr txBox="1"/>
          <p:nvPr/>
        </p:nvSpPr>
        <p:spPr>
          <a:xfrm>
            <a:off x="1133856" y="2052498"/>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Targets were only confirmed: the EUR 6.45bn operating income midpoint sits 2.1% below consensus.</a:t>
            </a:r>
            <a:endParaRPr lang="en-US" sz="870" dirty="0"/>
          </a:p>
        </p:txBody>
      </p:sp>
      <p:sp>
        <p:nvSpPr>
          <p:cNvPr id="14" name="Text 10"/>
          <p:cNvSpPr txBox="1"/>
          <p:nvPr/>
        </p:nvSpPr>
        <p:spPr>
          <a:xfrm>
            <a:off x="539496" y="2277974"/>
            <a:ext cx="576072" cy="156896"/>
          </a:xfrm>
          <a:prstGeom prst="rect">
            <a:avLst/>
          </a:prstGeom>
          <a:noFill/>
          <a:ln/>
        </p:spPr>
        <p:txBody>
          <a:bodyPr wrap="square" lIns="0" tIns="0" rIns="0" bIns="0" rtlCol="0" anchor="t"/>
          <a:lstStyle/>
          <a:p>
            <a:pPr indent="0" marL="0">
              <a:buNone/>
            </a:pPr>
            <a:r>
              <a:rPr lang="en-US" sz="700" b="1" spc="80" kern="0" dirty="0">
                <a:solidFill>
                  <a:srgbClr val="FF6C0E"/>
                </a:solidFill>
                <a:latin typeface="Nunito" pitchFamily="34" charset="0"/>
                <a:ea typeface="Nunito" pitchFamily="34" charset="-122"/>
                <a:cs typeface="Nunito" pitchFamily="34" charset="-120"/>
              </a:rPr>
              <a:t>Watch</a:t>
            </a:r>
            <a:endParaRPr lang="en-US" sz="700" dirty="0"/>
          </a:p>
        </p:txBody>
      </p:sp>
      <p:sp>
        <p:nvSpPr>
          <p:cNvPr id="15" name="Text 11"/>
          <p:cNvSpPr txBox="1"/>
          <p:nvPr/>
        </p:nvSpPr>
        <p:spPr>
          <a:xfrm>
            <a:off x="1133856" y="2255114"/>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Jet fuel above $100 and a French surtax worth about EUR 500m this year cloud 2027.</a:t>
            </a:r>
            <a:endParaRPr lang="en-US" sz="870" dirty="0"/>
          </a:p>
        </p:txBody>
      </p:sp>
      <p:sp>
        <p:nvSpPr>
          <p:cNvPr id="16" name="Text 12"/>
          <p:cNvSpPr txBox="1"/>
          <p:nvPr/>
        </p:nvSpPr>
        <p:spPr>
          <a:xfrm>
            <a:off x="539496" y="2480589"/>
            <a:ext cx="576072" cy="156896"/>
          </a:xfrm>
          <a:prstGeom prst="rect">
            <a:avLst/>
          </a:prstGeom>
          <a:noFill/>
          <a:ln/>
        </p:spPr>
        <p:txBody>
          <a:bodyPr wrap="square" lIns="0" tIns="0" rIns="0" bIns="0" rtlCol="0" anchor="t"/>
          <a:lstStyle/>
          <a:p>
            <a:pPr indent="0" marL="0">
              <a:buNone/>
            </a:pPr>
            <a:r>
              <a:rPr lang="en-US" sz="700" b="1" spc="80" kern="0" dirty="0">
                <a:solidFill>
                  <a:srgbClr val="4B5F80"/>
                </a:solidFill>
                <a:latin typeface="Nunito" pitchFamily="34" charset="0"/>
                <a:ea typeface="Nunito" pitchFamily="34" charset="-122"/>
                <a:cs typeface="Nunito" pitchFamily="34" charset="-120"/>
              </a:rPr>
              <a:t>Valuation</a:t>
            </a:r>
            <a:endParaRPr lang="en-US" sz="700" dirty="0"/>
          </a:p>
        </p:txBody>
      </p:sp>
      <p:sp>
        <p:nvSpPr>
          <p:cNvPr id="17" name="Text 13"/>
          <p:cNvSpPr txBox="1"/>
          <p:nvPr/>
        </p:nvSpPr>
        <p:spPr>
          <a:xfrm>
            <a:off x="1133856" y="2457729"/>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The shares fell 6.2% to 27.0x forward earnings, below their five-year average of 30.0x.</a:t>
            </a:r>
            <a:endParaRPr lang="en-US" sz="870" dirty="0"/>
          </a:p>
        </p:txBody>
      </p:sp>
      <p:sp>
        <p:nvSpPr>
          <p:cNvPr id="18" name="Shape 14"/>
          <p:cNvSpPr/>
          <p:nvPr/>
        </p:nvSpPr>
        <p:spPr>
          <a:xfrm>
            <a:off x="539496" y="2742641"/>
            <a:ext cx="6483096" cy="676656"/>
          </a:xfrm>
          <a:prstGeom prst="rect">
            <a:avLst/>
          </a:prstGeom>
          <a:solidFill>
            <a:srgbClr val="FFFFFF"/>
          </a:solidFill>
          <a:ln w="16510">
            <a:solidFill>
              <a:srgbClr val="202945"/>
            </a:solidFill>
            <a:prstDash val="solid"/>
          </a:ln>
        </p:spPr>
      </p:sp>
      <p:sp>
        <p:nvSpPr>
          <p:cNvPr id="19" name="Text 15"/>
          <p:cNvSpPr txBox="1"/>
          <p:nvPr/>
        </p:nvSpPr>
        <p:spPr>
          <a:xfrm>
            <a:off x="649224" y="2824937"/>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Q3 revenue</a:t>
            </a:r>
            <a:endParaRPr lang="en-US" sz="720" dirty="0"/>
          </a:p>
        </p:txBody>
      </p:sp>
      <p:sp>
        <p:nvSpPr>
          <p:cNvPr id="20" name="Text 16"/>
          <p:cNvSpPr txBox="1"/>
          <p:nvPr/>
        </p:nvSpPr>
        <p:spPr>
          <a:xfrm>
            <a:off x="649224" y="2971241"/>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EUR 9.0bn</a:t>
            </a:r>
            <a:endParaRPr lang="en-US" sz="1300" dirty="0"/>
          </a:p>
        </p:txBody>
      </p:sp>
      <p:sp>
        <p:nvSpPr>
          <p:cNvPr id="21" name="Text 17"/>
          <p:cNvSpPr txBox="1"/>
          <p:nvPr/>
        </p:nvSpPr>
        <p:spPr>
          <a:xfrm>
            <a:off x="649224" y="3208985"/>
            <a:ext cx="1437894" cy="146304"/>
          </a:xfrm>
          <a:prstGeom prst="rect">
            <a:avLst/>
          </a:prstGeom>
          <a:noFill/>
          <a:ln/>
        </p:spPr>
        <p:txBody>
          <a:bodyPr wrap="square" lIns="0" tIns="0" rIns="0" bIns="0" rtlCol="0" anchor="t"/>
          <a:lstStyle/>
          <a:p>
            <a:pPr indent="0" marL="0">
              <a:buNone/>
            </a:pPr>
            <a:r>
              <a:rPr lang="en-US" sz="720" b="1" dirty="0">
                <a:solidFill>
                  <a:srgbClr val="4B5F80"/>
                </a:solidFill>
                <a:latin typeface="Nunito" pitchFamily="34" charset="0"/>
                <a:ea typeface="Nunito" pitchFamily="34" charset="-122"/>
                <a:cs typeface="Nunito" pitchFamily="34" charset="-120"/>
              </a:rPr>
              <a:t>+13.4% organic, in line</a:t>
            </a:r>
            <a:endParaRPr lang="en-US" sz="720" dirty="0"/>
          </a:p>
        </p:txBody>
      </p:sp>
      <p:sp>
        <p:nvSpPr>
          <p:cNvPr id="22" name="Shape 18"/>
          <p:cNvSpPr/>
          <p:nvPr/>
        </p:nvSpPr>
        <p:spPr>
          <a:xfrm>
            <a:off x="2160270" y="2742641"/>
            <a:ext cx="0" cy="676656"/>
          </a:xfrm>
          <a:prstGeom prst="line">
            <a:avLst/>
          </a:prstGeom>
          <a:noFill/>
          <a:ln w="7620">
            <a:solidFill>
              <a:srgbClr val="D6D9DE"/>
            </a:solidFill>
            <a:prstDash val="solid"/>
          </a:ln>
        </p:spPr>
      </p:sp>
      <p:sp>
        <p:nvSpPr>
          <p:cNvPr id="23" name="Text 19"/>
          <p:cNvSpPr txBox="1"/>
          <p:nvPr/>
        </p:nvSpPr>
        <p:spPr>
          <a:xfrm>
            <a:off x="2269998" y="2824937"/>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Propulsion aftermarket</a:t>
            </a:r>
            <a:endParaRPr lang="en-US" sz="720" dirty="0"/>
          </a:p>
        </p:txBody>
      </p:sp>
      <p:sp>
        <p:nvSpPr>
          <p:cNvPr id="24" name="Text 20"/>
          <p:cNvSpPr txBox="1"/>
          <p:nvPr/>
        </p:nvSpPr>
        <p:spPr>
          <a:xfrm>
            <a:off x="2269998" y="2971241"/>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+18.7%</a:t>
            </a:r>
            <a:endParaRPr lang="en-US" sz="1300" dirty="0"/>
          </a:p>
        </p:txBody>
      </p:sp>
      <p:sp>
        <p:nvSpPr>
          <p:cNvPr id="25" name="Text 21"/>
          <p:cNvSpPr txBox="1"/>
          <p:nvPr/>
        </p:nvSpPr>
        <p:spPr>
          <a:xfrm>
            <a:off x="2269998" y="3208985"/>
            <a:ext cx="1437894" cy="146304"/>
          </a:xfrm>
          <a:prstGeom prst="rect">
            <a:avLst/>
          </a:prstGeom>
          <a:noFill/>
          <a:ln/>
        </p:spPr>
        <p:txBody>
          <a:bodyPr wrap="square" lIns="0" tIns="0" rIns="0" bIns="0" rtlCol="0" anchor="t"/>
          <a:lstStyle/>
          <a:p>
            <a:pPr indent="0" marL="0">
              <a:buNone/>
            </a:pPr>
            <a:r>
              <a:rPr lang="en-US" sz="720" b="1" dirty="0">
                <a:solidFill>
                  <a:srgbClr val="3BAF90"/>
                </a:solidFill>
                <a:latin typeface="Nunito" pitchFamily="34" charset="0"/>
                <a:ea typeface="Nunito" pitchFamily="34" charset="-122"/>
                <a:cs typeface="Nunito" pitchFamily="34" charset="-120"/>
              </a:rPr>
              <a:t>Original equipment +3.5%</a:t>
            </a:r>
            <a:endParaRPr lang="en-US" sz="720" dirty="0"/>
          </a:p>
        </p:txBody>
      </p:sp>
      <p:sp>
        <p:nvSpPr>
          <p:cNvPr id="26" name="Shape 22"/>
          <p:cNvSpPr/>
          <p:nvPr/>
        </p:nvSpPr>
        <p:spPr>
          <a:xfrm>
            <a:off x="3781044" y="2742641"/>
            <a:ext cx="0" cy="676656"/>
          </a:xfrm>
          <a:prstGeom prst="line">
            <a:avLst/>
          </a:prstGeom>
          <a:noFill/>
          <a:ln w="7620">
            <a:solidFill>
              <a:srgbClr val="D6D9DE"/>
            </a:solidFill>
            <a:prstDash val="solid"/>
          </a:ln>
        </p:spPr>
      </p:sp>
      <p:sp>
        <p:nvSpPr>
          <p:cNvPr id="27" name="Text 23"/>
          <p:cNvSpPr txBox="1"/>
          <p:nvPr/>
        </p:nvSpPr>
        <p:spPr>
          <a:xfrm>
            <a:off x="3890772" y="2824937"/>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LEAP deliveries</a:t>
            </a:r>
            <a:endParaRPr lang="en-US" sz="720" dirty="0"/>
          </a:p>
        </p:txBody>
      </p:sp>
      <p:sp>
        <p:nvSpPr>
          <p:cNvPr id="28" name="Text 24"/>
          <p:cNvSpPr txBox="1"/>
          <p:nvPr/>
        </p:nvSpPr>
        <p:spPr>
          <a:xfrm>
            <a:off x="3890772" y="2971241"/>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535</a:t>
            </a:r>
            <a:endParaRPr lang="en-US" sz="1300" dirty="0"/>
          </a:p>
        </p:txBody>
      </p:sp>
      <p:sp>
        <p:nvSpPr>
          <p:cNvPr id="29" name="Text 25"/>
          <p:cNvSpPr txBox="1"/>
          <p:nvPr/>
        </p:nvSpPr>
        <p:spPr>
          <a:xfrm>
            <a:off x="3890772" y="3208985"/>
            <a:ext cx="1437894" cy="146304"/>
          </a:xfrm>
          <a:prstGeom prst="rect">
            <a:avLst/>
          </a:prstGeom>
          <a:noFill/>
          <a:ln/>
        </p:spPr>
        <p:txBody>
          <a:bodyPr wrap="square" lIns="0" tIns="0" rIns="0" bIns="0" rtlCol="0" anchor="t"/>
          <a:lstStyle/>
          <a:p>
            <a:pPr indent="0" marL="0">
              <a:buNone/>
            </a:pPr>
            <a:r>
              <a:rPr lang="en-US" sz="720" b="1" dirty="0">
                <a:solidFill>
                  <a:srgbClr val="4B5F80"/>
                </a:solidFill>
                <a:latin typeface="Nunito" pitchFamily="34" charset="0"/>
                <a:ea typeface="Nunito" pitchFamily="34" charset="-122"/>
                <a:cs typeface="Nunito" pitchFamily="34" charset="-120"/>
              </a:rPr>
              <a:t>+5% y/y</a:t>
            </a:r>
            <a:endParaRPr lang="en-US" sz="720" dirty="0"/>
          </a:p>
        </p:txBody>
      </p:sp>
      <p:sp>
        <p:nvSpPr>
          <p:cNvPr id="30" name="Shape 26"/>
          <p:cNvSpPr/>
          <p:nvPr/>
        </p:nvSpPr>
        <p:spPr>
          <a:xfrm>
            <a:off x="5401818" y="2742641"/>
            <a:ext cx="0" cy="676656"/>
          </a:xfrm>
          <a:prstGeom prst="line">
            <a:avLst/>
          </a:prstGeom>
          <a:noFill/>
          <a:ln w="7620">
            <a:solidFill>
              <a:srgbClr val="D6D9DE"/>
            </a:solidFill>
            <a:prstDash val="solid"/>
          </a:ln>
        </p:spPr>
      </p:sp>
      <p:sp>
        <p:nvSpPr>
          <p:cNvPr id="31" name="Text 27"/>
          <p:cNvSpPr txBox="1"/>
          <p:nvPr/>
        </p:nvSpPr>
        <p:spPr>
          <a:xfrm>
            <a:off x="5511546" y="2824937"/>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FY26 op. income guide</a:t>
            </a:r>
            <a:endParaRPr lang="en-US" sz="720" dirty="0"/>
          </a:p>
        </p:txBody>
      </p:sp>
      <p:sp>
        <p:nvSpPr>
          <p:cNvPr id="32" name="Text 28"/>
          <p:cNvSpPr txBox="1"/>
          <p:nvPr/>
        </p:nvSpPr>
        <p:spPr>
          <a:xfrm>
            <a:off x="5511546" y="2971241"/>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EUR 6.4–6.5bn</a:t>
            </a:r>
            <a:endParaRPr lang="en-US" sz="1300" dirty="0"/>
          </a:p>
        </p:txBody>
      </p:sp>
      <p:sp>
        <p:nvSpPr>
          <p:cNvPr id="33" name="Text 29"/>
          <p:cNvSpPr txBox="1"/>
          <p:nvPr/>
        </p:nvSpPr>
        <p:spPr>
          <a:xfrm>
            <a:off x="5511546" y="3208985"/>
            <a:ext cx="1437894" cy="146304"/>
          </a:xfrm>
          <a:prstGeom prst="rect">
            <a:avLst/>
          </a:prstGeom>
          <a:noFill/>
          <a:ln/>
        </p:spPr>
        <p:txBody>
          <a:bodyPr wrap="square" lIns="0" tIns="0" rIns="0" bIns="0" rtlCol="0" anchor="t"/>
          <a:lstStyle/>
          <a:p>
            <a:pPr indent="0" marL="0">
              <a:buNone/>
            </a:pPr>
            <a:r>
              <a:rPr lang="en-US" sz="720" b="1" dirty="0">
                <a:solidFill>
                  <a:srgbClr val="FF6C0E"/>
                </a:solidFill>
                <a:latin typeface="Nunito" pitchFamily="34" charset="0"/>
                <a:ea typeface="Nunito" pitchFamily="34" charset="-122"/>
                <a:cs typeface="Nunito" pitchFamily="34" charset="-120"/>
              </a:rPr>
              <a:t>-2.1% vs. consensus</a:t>
            </a:r>
            <a:endParaRPr lang="en-US" sz="720" dirty="0"/>
          </a:p>
        </p:txBody>
      </p:sp>
      <p:sp>
        <p:nvSpPr>
          <p:cNvPr id="34" name="Text 30"/>
          <p:cNvSpPr txBox="1"/>
          <p:nvPr/>
        </p:nvSpPr>
        <p:spPr>
          <a:xfrm>
            <a:off x="539496" y="3538169"/>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What the quarter means for the investment case</a:t>
            </a:r>
            <a:endParaRPr lang="en-US" sz="1100" dirty="0"/>
          </a:p>
        </p:txBody>
      </p:sp>
      <p:sp>
        <p:nvSpPr>
          <p:cNvPr id="35" name="Text 31"/>
          <p:cNvSpPr txBox="1"/>
          <p:nvPr/>
        </p:nvSpPr>
        <p:spPr>
          <a:xfrm>
            <a:off x="539496" y="3785057"/>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quarter itself was sound: revenue matched consensus, the engine aftermarket kept growing close to 20% and defence equipment beat. What disappointed was the absence of a second guidance upgrade after July’s raise, with operating income held at EUR 6.4bn to EUR 6.5bn while consensus already sat above the range. With jet fuel above $100, a French surtax likely to be extended and a cautious read-across from GE, investors now question how long airlines keep spending heavily on engine maintenance.</a:t>
            </a:r>
            <a:endParaRPr lang="en-US" sz="870" dirty="0"/>
          </a:p>
        </p:txBody>
      </p:sp>
      <p:sp>
        <p:nvSpPr>
          <p:cNvPr id="36" name="Text 32"/>
          <p:cNvSpPr txBox="1"/>
          <p:nvPr/>
        </p:nvSpPr>
        <p:spPr>
          <a:xfrm>
            <a:off x="539496" y="4667377"/>
            <a:ext cx="6483096" cy="182880"/>
          </a:xfrm>
          <a:prstGeom prst="rect">
            <a:avLst/>
          </a:prstGeom>
          <a:noFill/>
          <a:ln/>
        </p:spPr>
        <p:txBody>
          <a:bodyPr wrap="square" lIns="0" tIns="0" rIns="0" bIns="0" rtlCol="0" anchor="t"/>
          <a:lstStyle/>
          <a:p>
            <a:pPr indent="0" marL="0">
              <a:buNone/>
            </a:pPr>
            <a:r>
              <a:rPr lang="en-US" sz="950" b="1" dirty="0">
                <a:solidFill>
                  <a:srgbClr val="FF6C0E"/>
                </a:solidFill>
                <a:latin typeface="Nunito" pitchFamily="34" charset="0"/>
                <a:ea typeface="Nunito" pitchFamily="34" charset="-122"/>
                <a:cs typeface="Nunito" pitchFamily="34" charset="-120"/>
              </a:rPr>
              <a:t>Chart 1</a:t>
            </a:r>
            <a:pPr indent="0" marL="0">
              <a:buNone/>
            </a:pPr>
            <a:r>
              <a:rPr lang="en-US" sz="950" b="1" dirty="0">
                <a:solidFill>
                  <a:srgbClr val="202945"/>
                </a:solidFill>
                <a:latin typeface="Nunito" pitchFamily="34" charset="0"/>
                <a:ea typeface="Nunito" pitchFamily="34" charset="-122"/>
                <a:cs typeface="Nunito" pitchFamily="34" charset="-120"/>
              </a:rPr>
              <a:t> · SAF: Q3 2026 revenue and 2026 guidance vs. consensus</a:t>
            </a:r>
            <a:endParaRPr lang="en-US" sz="950" dirty="0"/>
          </a:p>
        </p:txBody>
      </p:sp>
      <p:sp>
        <p:nvSpPr>
          <p:cNvPr id="37" name="Text 33"/>
          <p:cNvSpPr txBox="1"/>
          <p:nvPr/>
        </p:nvSpPr>
        <p:spPr>
          <a:xfrm>
            <a:off x="539496" y="4850257"/>
            <a:ext cx="6483096" cy="118872"/>
          </a:xfrm>
          <a:prstGeom prst="rect">
            <a:avLst/>
          </a:prstGeom>
          <a:noFill/>
          <a:ln/>
        </p:spPr>
        <p:txBody>
          <a:bodyPr wrap="square" lIns="0" tIns="0" rIns="0" bIns="0" rtlCol="0" anchor="t"/>
          <a:lstStyle/>
          <a:p>
            <a:pPr indent="0" marL="0">
              <a:lnSpc>
                <a:spcPct val="108333"/>
              </a:lnSpc>
              <a:buNone/>
            </a:pPr>
            <a:r>
              <a:rPr lang="en-US" sz="720" b="1" dirty="0">
                <a:solidFill>
                  <a:srgbClr val="6B7280"/>
                </a:solidFill>
                <a:latin typeface="Nunito" pitchFamily="34" charset="0"/>
                <a:ea typeface="Nunito" pitchFamily="34" charset="-122"/>
                <a:cs typeface="Nunito" pitchFamily="34" charset="-120"/>
              </a:rPr>
              <a:t>% vs. consensus · Q3: company-compiled consensus · FY26: guidance midpoints vs. consensus per analyst first takes</a:t>
            </a:r>
            <a:endParaRPr lang="en-US" sz="720" dirty="0"/>
          </a:p>
        </p:txBody>
      </p:sp>
      <p:pic>
        <p:nvPicPr>
          <p:cNvPr id="38" name="Image 2" descr="/home/claude/saf/c1_crop.png">    </p:cNvPr>
          <p:cNvPicPr>
            <a:picLocks noChangeAspect="1"/>
          </p:cNvPicPr>
          <p:nvPr/>
        </p:nvPicPr>
        <p:blipFill>
          <a:blip r:embed="rId3"/>
          <a:stretch>
            <a:fillRect/>
          </a:stretch>
        </p:blipFill>
        <p:spPr>
          <a:xfrm>
            <a:off x="1511960" y="5014849"/>
            <a:ext cx="4538167" cy="1415908"/>
          </a:xfrm>
          <a:prstGeom prst="rect">
            <a:avLst/>
          </a:prstGeom>
        </p:spPr>
      </p:pic>
      <p:sp>
        <p:nvSpPr>
          <p:cNvPr id="39" name="Text 34"/>
          <p:cNvSpPr txBox="1"/>
          <p:nvPr/>
        </p:nvSpPr>
        <p:spPr>
          <a:xfrm>
            <a:off x="539496" y="6485621"/>
            <a:ext cx="6483096" cy="645871"/>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reported lines were in line or better: group revenue matched the company-compiled consensus within 0.1% and Equipment &amp; Defense beat by 2.5%. Aircraft Interiors missed by 1.3%, as seat certification delays flagged in July persist. The two bars on the right carry the message: confirmed targets sit about 2% below consensus, so estimates edge down rather than up into the full-year results.</a:t>
            </a:r>
            <a:endParaRPr lang="en-US" sz="870" dirty="0"/>
          </a:p>
        </p:txBody>
      </p:sp>
      <p:sp>
        <p:nvSpPr>
          <p:cNvPr id="40" name="Text 35"/>
          <p:cNvSpPr txBox="1"/>
          <p:nvPr/>
        </p:nvSpPr>
        <p:spPr>
          <a:xfrm>
            <a:off x="539496" y="7247621"/>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Base case and implications</a:t>
            </a:r>
            <a:endParaRPr lang="en-US" sz="1100" dirty="0"/>
          </a:p>
        </p:txBody>
      </p:sp>
      <p:sp>
        <p:nvSpPr>
          <p:cNvPr id="41" name="Text 36"/>
          <p:cNvSpPr txBox="1"/>
          <p:nvPr/>
        </p:nvSpPr>
        <p:spPr>
          <a:xfrm>
            <a:off x="539496" y="7494509"/>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We stay positive on Safran and would build positions on this weakness. The earnings path we underwrite is intact: 2026 operating income of EUR 6.4bn to EUR 6.5bn, a 2028 target of EUR 7bn to EUR 7.5bn that management said in July may be revisited, and profits on LEAP-1B maintenance contracts recognised from early 2027, which moves earnings into next year rather than removing them. The debate has moved from engine deliveries to the durability of heavy maintenance spending. The catalyst is 2027 guidance at the full-year results in February 2027. Near term, jet fuel and French tax headlines can keep the shares under pressure.</a:t>
            </a:r>
            <a:endParaRPr lang="en-US" sz="870" dirty="0"/>
          </a:p>
        </p:txBody>
      </p:sp>
      <p:sp>
        <p:nvSpPr>
          <p:cNvPr id="42" name="Shape 37"/>
          <p:cNvSpPr/>
          <p:nvPr/>
        </p:nvSpPr>
        <p:spPr>
          <a:xfrm>
            <a:off x="3781044" y="8570301"/>
            <a:ext cx="0" cy="985647"/>
          </a:xfrm>
          <a:prstGeom prst="line">
            <a:avLst/>
          </a:prstGeom>
          <a:noFill/>
          <a:ln w="7620">
            <a:solidFill>
              <a:srgbClr val="D6D9DE"/>
            </a:solidFill>
            <a:prstDash val="solid"/>
          </a:ln>
        </p:spPr>
      </p:sp>
      <p:sp>
        <p:nvSpPr>
          <p:cNvPr id="43" name="Text 38"/>
          <p:cNvSpPr txBox="1"/>
          <p:nvPr/>
        </p:nvSpPr>
        <p:spPr>
          <a:xfrm>
            <a:off x="539496" y="8570301"/>
            <a:ext cx="3058668" cy="155448"/>
          </a:xfrm>
          <a:prstGeom prst="rect">
            <a:avLst/>
          </a:prstGeom>
          <a:noFill/>
          <a:ln/>
        </p:spPr>
        <p:txBody>
          <a:bodyPr wrap="square" lIns="0" tIns="0" rIns="0" bIns="0" rtlCol="0" anchor="t"/>
          <a:lstStyle/>
          <a:p>
            <a:pPr indent="0" marL="0">
              <a:buNone/>
            </a:pPr>
            <a:r>
              <a:rPr lang="en-US" sz="780" b="1" spc="100" kern="0" dirty="0">
                <a:solidFill>
                  <a:srgbClr val="FF6C0E"/>
                </a:solidFill>
                <a:latin typeface="Nunito" pitchFamily="34" charset="0"/>
                <a:ea typeface="Nunito" pitchFamily="34" charset="-122"/>
                <a:cs typeface="Nunito" pitchFamily="34" charset="-120"/>
              </a:rPr>
              <a:t>What would strengthen our view</a:t>
            </a:r>
            <a:endParaRPr lang="en-US" sz="780" dirty="0"/>
          </a:p>
        </p:txBody>
      </p:sp>
      <p:sp>
        <p:nvSpPr>
          <p:cNvPr id="44" name="Text 39"/>
          <p:cNvSpPr txBox="1"/>
          <p:nvPr/>
        </p:nvSpPr>
        <p:spPr>
          <a:xfrm>
            <a:off x="539496" y="8762325"/>
            <a:ext cx="3058668" cy="784479"/>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2027 guidance in February implying operating income growth above 10%; heavy CFM56 shop visits holding, as management expected in July; advance payments on India’s 114 Rafale order, which are not in guidance; LEAP deliveries reaching high-teens growth for 2026.</a:t>
            </a:r>
            <a:endParaRPr lang="en-US" sz="870" dirty="0"/>
          </a:p>
        </p:txBody>
      </p:sp>
      <p:sp>
        <p:nvSpPr>
          <p:cNvPr id="45" name="Text 40"/>
          <p:cNvSpPr txBox="1"/>
          <p:nvPr/>
        </p:nvSpPr>
        <p:spPr>
          <a:xfrm>
            <a:off x="3963924" y="8570301"/>
            <a:ext cx="3058668" cy="155448"/>
          </a:xfrm>
          <a:prstGeom prst="rect">
            <a:avLst/>
          </a:prstGeom>
          <a:noFill/>
          <a:ln/>
        </p:spPr>
        <p:txBody>
          <a:bodyPr wrap="square" lIns="0" tIns="0" rIns="0" bIns="0" rtlCol="0" anchor="t"/>
          <a:lstStyle/>
          <a:p>
            <a:pPr indent="0" marL="0">
              <a:buNone/>
            </a:pPr>
            <a:r>
              <a:rPr lang="en-US" sz="780" b="1" spc="100" kern="0" dirty="0">
                <a:solidFill>
                  <a:srgbClr val="FF6C0E"/>
                </a:solidFill>
                <a:latin typeface="Nunito" pitchFamily="34" charset="0"/>
                <a:ea typeface="Nunito" pitchFamily="34" charset="-122"/>
                <a:cs typeface="Nunito" pitchFamily="34" charset="-120"/>
              </a:rPr>
              <a:t>What would change our view</a:t>
            </a:r>
            <a:endParaRPr lang="en-US" sz="780" dirty="0"/>
          </a:p>
        </p:txBody>
      </p:sp>
      <p:sp>
        <p:nvSpPr>
          <p:cNvPr id="46" name="Text 41"/>
          <p:cNvSpPr txBox="1"/>
          <p:nvPr/>
        </p:nvSpPr>
        <p:spPr>
          <a:xfrm>
            <a:off x="3963924" y="8762325"/>
            <a:ext cx="3058668" cy="784479"/>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Evidence of workscope compression, with airlines deferring heavy CFM56 shop visits while jet fuel stays above $100; the French surtax extended into 2027 at the 2026 level; LEAP delivery growth short of the high-teens target, pointing to supply-chain strain.</a:t>
            </a:r>
            <a:endParaRPr lang="en-US" sz="87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23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2 / 3</a:t>
            </a:r>
            <a:endParaRPr lang="en-US" sz="700" dirty="0"/>
          </a:p>
        </p:txBody>
      </p:sp>
      <p:sp>
        <p:nvSpPr>
          <p:cNvPr id="6" name="Text 2"/>
          <p:cNvSpPr txBox="1"/>
          <p:nvPr/>
        </p:nvSpPr>
        <p:spPr>
          <a:xfrm>
            <a:off x="539496" y="836676"/>
            <a:ext cx="6483096" cy="274320"/>
          </a:xfrm>
          <a:prstGeom prst="rect">
            <a:avLst/>
          </a:prstGeom>
          <a:noFill/>
          <a:ln/>
        </p:spPr>
        <p:txBody>
          <a:bodyPr wrap="square" lIns="0" tIns="0" rIns="0" bIns="0" rtlCol="0" anchor="t"/>
          <a:lstStyle/>
          <a:p>
            <a:pPr indent="0" marL="0">
              <a:buNone/>
            </a:pPr>
            <a:r>
              <a:rPr lang="en-US" sz="1400" b="1" dirty="0">
                <a:solidFill>
                  <a:srgbClr val="202945"/>
                </a:solidFill>
                <a:latin typeface="Nunito" pitchFamily="34" charset="0"/>
                <a:ea typeface="Nunito" pitchFamily="34" charset="-122"/>
                <a:cs typeface="Nunito" pitchFamily="34" charset="-120"/>
              </a:rPr>
              <a:t>Beyond the key takeaways</a:t>
            </a:r>
            <a:endParaRPr lang="en-US" sz="1400" dirty="0"/>
          </a:p>
        </p:txBody>
      </p:sp>
      <p:sp>
        <p:nvSpPr>
          <p:cNvPr id="7" name="Text 3"/>
          <p:cNvSpPr txBox="1"/>
          <p:nvPr/>
        </p:nvSpPr>
        <p:spPr>
          <a:xfrm>
            <a:off x="539496" y="1184148"/>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Results: the aftermarket still carries the group</a:t>
            </a:r>
            <a:endParaRPr lang="en-US" sz="1100" dirty="0"/>
          </a:p>
        </p:txBody>
      </p:sp>
      <p:sp>
        <p:nvSpPr>
          <p:cNvPr id="8" name="Text 4"/>
          <p:cNvSpPr txBox="1"/>
          <p:nvPr/>
        </p:nvSpPr>
        <p:spPr>
          <a:xfrm>
            <a:off x="539496" y="1431036"/>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Revenue reached EUR 9.0bn, up 14.7% reported and 13.4% organically, in line with the EUR 8.99bn company-compiled consensus. Propulsion grew 13.2% organically. The mix remains the story: aftermarket revenue rose 18.7% and services 19.0% in dollars, while original equipment grew only 3.5%. LEAP deliveries reached 535 engines, up 5%, a sharp slowdown after 41% growth in the first half, which leaves a heavy fourth quarter to meet the high-teens target for the year. Aftermarket-led growth is good for profit: in the first half it lifted the propulsion margin to a record 24.5%, above the 22% to 24% range, and the group margin to 18.4%.</a:t>
            </a:r>
            <a:endParaRPr lang="en-US" sz="870" dirty="0"/>
          </a:p>
        </p:txBody>
      </p:sp>
      <p:sp>
        <p:nvSpPr>
          <p:cNvPr id="9" name="Text 5"/>
          <p:cNvSpPr txBox="1"/>
          <p:nvPr/>
        </p:nvSpPr>
        <p:spPr>
          <a:xfrm>
            <a:off x="539496" y="2470252"/>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Equipment &amp; Defense revenue rose 16% organically to EUR 3.62bn, against EUR 3.53bn expected, the strongest division in the quarter. Reported growth is flattered by the integration of the Collins actuation business and by the transfer of Safran Ventilation Systems from Aircraft Interiors at the start of 2026. Aircraft Interiors grew 6% organically to EUR 751m, against EUR 761m expected; seat deliveries remain capped by certification delays that management in July called an industry issue. Safran reports no profit figures at the third quarter, so the margin read waits for February.</a:t>
            </a:r>
            <a:endParaRPr lang="en-US" sz="870" dirty="0"/>
          </a:p>
        </p:txBody>
      </p:sp>
      <p:sp>
        <p:nvSpPr>
          <p:cNvPr id="10" name="Text 6"/>
          <p:cNvSpPr txBox="1"/>
          <p:nvPr/>
        </p:nvSpPr>
        <p:spPr>
          <a:xfrm>
            <a:off x="539496" y="3389147"/>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Outlook: guidance held, upside pushed to 2027</a:t>
            </a:r>
            <a:endParaRPr lang="en-US" sz="1100" dirty="0"/>
          </a:p>
        </p:txBody>
      </p:sp>
      <p:sp>
        <p:nvSpPr>
          <p:cNvPr id="11" name="Text 7"/>
          <p:cNvSpPr txBox="1"/>
          <p:nvPr/>
        </p:nvSpPr>
        <p:spPr>
          <a:xfrm>
            <a:off x="539496" y="3636035"/>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Safran confirmed the 2026 targets raised in July: revenue growth in the mid-teens, recurring operating income of EUR 6.4bn to EUR 6.5bn and free cash flow of EUR 4.7bn to EUR 4.9bn, including about EUR 500m of French surtax. The midpoints sit 2.1% and 1.8% below consensus, so estimates should drift lower. Profit recognition on LEAP-1B maintenance contracts is now expected in early 2027 rather than late 2026: a timing shift that removes a 2026 upside and adds to 2027. In July, management expected heavy CFM56 workscopes to last through 2027 and 2028.</a:t>
            </a:r>
            <a:endParaRPr lang="en-US" sz="870" dirty="0"/>
          </a:p>
        </p:txBody>
      </p:sp>
      <p:sp>
        <p:nvSpPr>
          <p:cNvPr id="12" name="Text 8"/>
          <p:cNvSpPr txBox="1"/>
          <p:nvPr/>
        </p:nvSpPr>
        <p:spPr>
          <a:xfrm>
            <a:off x="539496" y="4554931"/>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Valuation: the multiple has done the adjusting</a:t>
            </a:r>
            <a:endParaRPr lang="en-US" sz="1100" dirty="0"/>
          </a:p>
        </p:txBody>
      </p:sp>
      <p:sp>
        <p:nvSpPr>
          <p:cNvPr id="13" name="Text 9"/>
          <p:cNvSpPr txBox="1"/>
          <p:nvPr/>
        </p:nvSpPr>
        <p:spPr>
          <a:xfrm>
            <a:off x="539496" y="4801819"/>
            <a:ext cx="6483096" cy="182880"/>
          </a:xfrm>
          <a:prstGeom prst="rect">
            <a:avLst/>
          </a:prstGeom>
          <a:noFill/>
          <a:ln/>
        </p:spPr>
        <p:txBody>
          <a:bodyPr wrap="square" lIns="0" tIns="0" rIns="0" bIns="0" rtlCol="0" anchor="t"/>
          <a:lstStyle/>
          <a:p>
            <a:pPr indent="0" marL="0">
              <a:buNone/>
            </a:pPr>
            <a:r>
              <a:rPr lang="en-US" sz="950" b="1" dirty="0">
                <a:solidFill>
                  <a:srgbClr val="FF6C0E"/>
                </a:solidFill>
                <a:latin typeface="Nunito" pitchFamily="34" charset="0"/>
                <a:ea typeface="Nunito" pitchFamily="34" charset="-122"/>
                <a:cs typeface="Nunito" pitchFamily="34" charset="-120"/>
              </a:rPr>
              <a:t>Chart 2</a:t>
            </a:r>
            <a:pPr indent="0" marL="0">
              <a:buNone/>
            </a:pPr>
            <a:r>
              <a:rPr lang="en-US" sz="950" b="1" dirty="0">
                <a:solidFill>
                  <a:srgbClr val="202945"/>
                </a:solidFill>
                <a:latin typeface="Nunito" pitchFamily="34" charset="0"/>
                <a:ea typeface="Nunito" pitchFamily="34" charset="-122"/>
                <a:cs typeface="Nunito" pitchFamily="34" charset="-120"/>
              </a:rPr>
              <a:t> · SAF: share price vs. consensus earnings and valuation</a:t>
            </a:r>
            <a:endParaRPr lang="en-US" sz="950" dirty="0"/>
          </a:p>
        </p:txBody>
      </p:sp>
      <p:sp>
        <p:nvSpPr>
          <p:cNvPr id="14" name="Text 10"/>
          <p:cNvSpPr txBox="1"/>
          <p:nvPr/>
        </p:nvSpPr>
        <p:spPr>
          <a:xfrm>
            <a:off x="539496" y="4984699"/>
            <a:ext cx="6483096" cy="118872"/>
          </a:xfrm>
          <a:prstGeom prst="rect">
            <a:avLst/>
          </a:prstGeom>
          <a:noFill/>
          <a:ln/>
        </p:spPr>
        <p:txBody>
          <a:bodyPr wrap="square" lIns="0" tIns="0" rIns="0" bIns="0" rtlCol="0" anchor="t"/>
          <a:lstStyle/>
          <a:p>
            <a:pPr indent="0" marL="0">
              <a:lnSpc>
                <a:spcPct val="108333"/>
              </a:lnSpc>
              <a:buNone/>
            </a:pPr>
            <a:r>
              <a:rPr lang="en-US" sz="720" b="1" dirty="0">
                <a:solidFill>
                  <a:srgbClr val="6B7280"/>
                </a:solidFill>
                <a:latin typeface="Nunito" pitchFamily="34" charset="0"/>
                <a:ea typeface="Nunito" pitchFamily="34" charset="-122"/>
                <a:cs typeface="Nunito" pitchFamily="34" charset="-120"/>
              </a:rPr>
              <a:t>Weekly, Sep 2005 to 23 Oct 2026 · Bloomberg BEst 12m-forward EPS · 40-week MA · Log scale · Last price: 23 October, intraday, after the release</a:t>
            </a:r>
            <a:endParaRPr lang="en-US" sz="720" dirty="0"/>
          </a:p>
        </p:txBody>
      </p:sp>
      <p:pic>
        <p:nvPicPr>
          <p:cNvPr id="15" name="Image 2" descr="/home/claude/saf/c2_crop.png">    </p:cNvPr>
          <p:cNvPicPr>
            <a:picLocks noChangeAspect="1"/>
          </p:cNvPicPr>
          <p:nvPr/>
        </p:nvPicPr>
        <p:blipFill>
          <a:blip r:embed="rId3"/>
          <a:stretch>
            <a:fillRect/>
          </a:stretch>
        </p:blipFill>
        <p:spPr>
          <a:xfrm>
            <a:off x="928482" y="5149291"/>
            <a:ext cx="5705124" cy="3413946"/>
          </a:xfrm>
          <a:prstGeom prst="rect">
            <a:avLst/>
          </a:prstGeom>
        </p:spPr>
      </p:pic>
      <p:sp>
        <p:nvSpPr>
          <p:cNvPr id="16" name="Text 11"/>
          <p:cNvSpPr txBox="1"/>
          <p:nvPr/>
        </p:nvSpPr>
        <p:spPr>
          <a:xfrm>
            <a:off x="539496" y="8618102"/>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Over 12 months the share price fell 7.9% while consensus forward EPS rose 27.9%: earnings kept rising and the multiple absorbed the whole correction. At 27.0x forward earnings the stock trades 27% above its 21.3x average since 2005, but below its one-year average of 31.7x and its five-year average of 30.0x. The multiple has fallen from 34.9x at the record high of EUR 363.6 on 12 August, and the price sits 10% below its 40-week average of EUR 317. Even a 5% cut to consensus EPS at today’s price would leave the multiple at 28.5x, still below its five-year average.</a:t>
            </a:r>
            <a:endParaRPr lang="en-US" sz="87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23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3 / 3</a:t>
            </a:r>
            <a:endParaRPr lang="en-US" sz="700" dirty="0"/>
          </a:p>
        </p:txBody>
      </p:sp>
      <p:sp>
        <p:nvSpPr>
          <p:cNvPr id="6" name="Text 2"/>
          <p:cNvSpPr txBox="1"/>
          <p:nvPr/>
        </p:nvSpPr>
        <p:spPr>
          <a:xfrm>
            <a:off x="539496" y="5881624"/>
            <a:ext cx="6483096" cy="182880"/>
          </a:xfrm>
          <a:prstGeom prst="rect">
            <a:avLst/>
          </a:prstGeom>
          <a:noFill/>
          <a:ln/>
        </p:spPr>
        <p:txBody>
          <a:bodyPr wrap="square" lIns="0" tIns="0" rIns="0" bIns="0" rtlCol="0" anchor="t"/>
          <a:lstStyle/>
          <a:p>
            <a:pPr indent="0" marL="0">
              <a:buNone/>
            </a:pPr>
            <a:r>
              <a:rPr lang="en-US" sz="680" b="1" dirty="0">
                <a:solidFill>
                  <a:srgbClr val="FF6C0E"/>
                </a:solidFill>
                <a:latin typeface="Nunito" pitchFamily="34" charset="0"/>
                <a:ea typeface="Nunito" pitchFamily="34" charset="-122"/>
                <a:cs typeface="Nunito" pitchFamily="34" charset="-120"/>
              </a:rPr>
              <a:t>SYZ</a:t>
            </a:r>
            <a:pPr indent="0" marL="0">
              <a:buNone/>
            </a:pPr>
            <a:r>
              <a:rPr lang="en-US" sz="680" b="1" dirty="0">
                <a:solidFill>
                  <a:srgbClr val="9AA0A8"/>
                </a:solidFill>
                <a:latin typeface="Nunito" pitchFamily="34" charset="0"/>
                <a:ea typeface="Nunito" pitchFamily="34" charset="-122"/>
                <a:cs typeface="Nunito" pitchFamily="34" charset="-120"/>
              </a:rPr>
              <a:t> Source: Syz Research, Bloomberg, Safran Q3 2026 revenue release of 23 October 2026, Safran H1 2026 earnings call of 28 July 2026, analyst research notes of 23 October 2026</a:t>
            </a:r>
            <a:endParaRPr lang="en-US" sz="680" dirty="0"/>
          </a:p>
        </p:txBody>
      </p:sp>
      <p:sp>
        <p:nvSpPr>
          <p:cNvPr id="7" name="Text 3"/>
          <p:cNvSpPr txBox="1"/>
          <p:nvPr/>
        </p:nvSpPr>
        <p:spPr>
          <a:xfrm>
            <a:off x="539496" y="6210808"/>
            <a:ext cx="6483096" cy="182880"/>
          </a:xfrm>
          <a:prstGeom prst="rect">
            <a:avLst/>
          </a:prstGeom>
          <a:noFill/>
          <a:ln/>
        </p:spPr>
        <p:txBody>
          <a:bodyPr wrap="square" lIns="0" tIns="0" rIns="0" bIns="0" rtlCol="0" anchor="t"/>
          <a:lstStyle/>
          <a:p>
            <a:pPr indent="0" marL="0">
              <a:buNone/>
            </a:pPr>
            <a:r>
              <a:rPr lang="en-US" sz="680" b="1" spc="120" kern="0" dirty="0">
                <a:solidFill>
                  <a:srgbClr val="FF6C0E"/>
                </a:solidFill>
                <a:latin typeface="Nunito" pitchFamily="34" charset="0"/>
                <a:ea typeface="Nunito" pitchFamily="34" charset="-122"/>
                <a:cs typeface="Nunito" pitchFamily="34" charset="-120"/>
              </a:rPr>
              <a:t>Disclaimer</a:t>
            </a:r>
            <a:endParaRPr lang="en-US" sz="680" dirty="0"/>
          </a:p>
        </p:txBody>
      </p:sp>
      <p:sp>
        <p:nvSpPr>
          <p:cNvPr id="8" name="Text 4"/>
          <p:cNvSpPr txBox="1"/>
          <p:nvPr/>
        </p:nvSpPr>
        <p:spPr>
          <a:xfrm>
            <a:off x="539496" y="6393688"/>
            <a:ext cx="6483096" cy="538480"/>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communication has been issued and made available to recipients for the purpose of advertising investment services and/or financial instruments. It has been sent for information purposes and cannot be considered as an offer or a personalised recommendation to buy or sell a financial instrument or any other investment or currency. This communication does not constitute investment research within the meaning of regulatory rules applicable in the European Economic Area, or research under the rules of the U.S. Self-Regulatory Organizations.</a:t>
            </a:r>
            <a:endParaRPr lang="en-US" sz="680" dirty="0"/>
          </a:p>
        </p:txBody>
      </p:sp>
      <p:sp>
        <p:nvSpPr>
          <p:cNvPr id="9" name="Text 5"/>
          <p:cNvSpPr txBox="1"/>
          <p:nvPr/>
        </p:nvSpPr>
        <p:spPr>
          <a:xfrm>
            <a:off x="539496" y="6932168"/>
            <a:ext cx="6483096" cy="417576"/>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information is made solely for professional and institutional clients as defined by the Swiss Financial Services Act, as well as qualified investors according to the Swiss Collective Investment Schemes Act. It is not intended for retail clients or non-qualified investors and consequently cannot be transmitted to any third party.</a:t>
            </a:r>
            <a:endParaRPr lang="en-US" sz="680" dirty="0"/>
          </a:p>
        </p:txBody>
      </p:sp>
      <p:sp>
        <p:nvSpPr>
          <p:cNvPr id="10" name="Text 6"/>
          <p:cNvSpPr txBox="1"/>
          <p:nvPr/>
        </p:nvSpPr>
        <p:spPr>
          <a:xfrm>
            <a:off x="539496" y="7349744"/>
            <a:ext cx="6483096" cy="417576"/>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a:t>
            </a:r>
            <a:endParaRPr lang="en-US" sz="680" dirty="0"/>
          </a:p>
        </p:txBody>
      </p:sp>
      <p:sp>
        <p:nvSpPr>
          <p:cNvPr id="11" name="Text 7"/>
          <p:cNvSpPr txBox="1"/>
          <p:nvPr/>
        </p:nvSpPr>
        <p:spPr>
          <a:xfrm>
            <a:off x="539496" y="7767320"/>
            <a:ext cx="6483096" cy="780288"/>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a:t>
            </a:r>
            <a:endParaRPr lang="en-US" sz="680" dirty="0"/>
          </a:p>
        </p:txBody>
      </p:sp>
      <p:sp>
        <p:nvSpPr>
          <p:cNvPr id="12" name="Text 8"/>
          <p:cNvSpPr txBox="1"/>
          <p:nvPr/>
        </p:nvSpPr>
        <p:spPr>
          <a:xfrm>
            <a:off x="539496" y="8547608"/>
            <a:ext cx="6483096" cy="296672"/>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Past performance is not a reliable indicator of current or future results. Any reference to the past performance of an investment does not guarantee its future performance. Fluctuations in exchange rates may adversely affect the value, price or income of any investment.</a:t>
            </a:r>
            <a:endParaRPr lang="en-US" sz="680" dirty="0"/>
          </a:p>
        </p:txBody>
      </p:sp>
      <p:sp>
        <p:nvSpPr>
          <p:cNvPr id="13" name="Text 9"/>
          <p:cNvSpPr txBox="1"/>
          <p:nvPr/>
        </p:nvSpPr>
        <p:spPr>
          <a:xfrm>
            <a:off x="539496" y="8844280"/>
            <a:ext cx="6483096" cy="659384"/>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a:t>
            </a:r>
            <a:endParaRPr lang="en-US" sz="680" dirty="0"/>
          </a:p>
        </p:txBody>
      </p:sp>
      <p:sp>
        <p:nvSpPr>
          <p:cNvPr id="14" name="Text 10"/>
          <p:cNvSpPr txBox="1"/>
          <p:nvPr/>
        </p:nvSpPr>
        <p:spPr>
          <a:xfrm>
            <a:off x="539496" y="9503664"/>
            <a:ext cx="6483096" cy="417576"/>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endParaRPr lang="en-US" sz="6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uni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uni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Safran Q3 2026: no upgrade, the de-rating overshoots</dc:title>
  <dc:subject>PptxGenJS Presentation</dc:subject>
  <dc:creator>Syz Research</dc:creator>
  <cp:lastModifiedBy>Syz Research</cp:lastModifiedBy>
  <cp:revision>1</cp:revision>
  <dcterms:created xsi:type="dcterms:W3CDTF">2026-10-23T08:01:40Z</dcterms:created>
  <dcterms:modified xsi:type="dcterms:W3CDTF">2026-10-23T08:01:40Z</dcterms:modified>
</cp:coreProperties>
</file>